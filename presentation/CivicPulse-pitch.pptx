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Playfair Display" pitchFamily="2" charset="0"/>
      <p:regular r:id="rId13"/>
      <p:bold r:id="rId14"/>
      <p:italic r:id="rId15"/>
    </p:embeddedFont>
    <p:embeddedFont>
      <p:font typeface="Poppins" panose="00000500000000000000" pitchFamily="2" charset="0"/>
      <p:regular r:id="rId16"/>
      <p:bold r:id="rId17"/>
      <p:italic r:id="rId18"/>
    </p:embeddedFont>
    <p:embeddedFont>
      <p:font typeface="Poppins Medium" panose="00000600000000000000" pitchFamily="2" charset="0"/>
      <p:regular r:id="rId19"/>
    </p:embeddedFont>
    <p:embeddedFont>
      <p:font typeface="Poppins SemiBold" panose="00000700000000000000" pitchFamily="2" charset="0"/>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5F6216-6876-DD23-580F-B6711C584653}">
          <p14:sldIdLst>
            <p14:sldId id="256"/>
          </p14:sldIdLst>
        </p14:section>
        <p14:section name="Problem and solution" id="{94FE1E35-6B23-BC1C-48FF-1167EC1979CA}">
          <p14:sldIdLst>
            <p14:sldId id="257"/>
            <p14:sldId id="258"/>
          </p14:sldIdLst>
        </p14:section>
        <p14:section name="How it works" id="{621442BE-1276-5524-219D-4731CBF6905D}">
          <p14:sldIdLst>
            <p14:sldId id="259"/>
            <p14:sldId id="260"/>
            <p14:sldId id="261"/>
            <p14:sldId id="262"/>
          </p14:sldIdLst>
        </p14:section>
        <p14:section name="Results and next steps" id="{6BF9F702-E63C-904F-FCFC-BB7CCFFCA9D0}">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11F"/>
                </a:solidFill>
                <a:latin typeface="+mn-lt"/>
              </a:defRPr>
            </a:pPr>
            <a:r>
              <a:rPr sz="1200" b="0" i="0" u="none" strike="noStrike">
                <a:solidFill>
                  <a:srgbClr val="14211F"/>
                </a:solidFill>
                <a:latin typeface="+mn-lt"/>
              </a:rPr>
              <a:t>Similarity threshold sweep, 144 labelled complaints (%)</a:t>
            </a:r>
          </a:p>
        </c:rich>
      </c:tx>
      <c:overlay val="0"/>
    </c:title>
    <c:autoTitleDeleted val="0"/>
    <c:plotArea>
      <c:layout/>
      <c:lineChart>
        <c:grouping val="standard"/>
        <c:varyColors val="0"/>
        <c:ser>
          <c:idx val="0"/>
          <c:order val="0"/>
          <c:tx>
            <c:strRef>
              <c:f>Sheet1!$B$1</c:f>
              <c:strCache>
                <c:ptCount val="1"/>
                <c:pt idx="0">
                  <c:v>Precision</c:v>
                </c:pt>
              </c:strCache>
            </c:strRef>
          </c:tx>
          <c:spPr>
            <a:ln w="31750" cap="flat">
              <a:solidFill>
                <a:srgbClr val="17494D"/>
              </a:solidFill>
              <a:prstDash val="solid"/>
              <a:round/>
            </a:ln>
            <a:effectLst/>
          </c:spPr>
          <c:marker>
            <c:symbol val="circle"/>
            <c:size val="7"/>
            <c:spPr>
              <a:solidFill>
                <a:srgbClr val="17494D"/>
              </a:solidFill>
              <a:ln w="9525" cap="flat">
                <a:solidFill>
                  <a:srgbClr val="17494D"/>
                </a:solidFill>
                <a:prstDash val="solid"/>
                <a:round/>
              </a:ln>
              <a:effectLst/>
            </c:spPr>
          </c:marker>
          <c:cat>
            <c:strRef>
              <c:f>Sheet1!$A$2:$A$9</c:f>
              <c:strCache>
                <c:ptCount val="8"/>
                <c:pt idx="0">
                  <c:v>0.75</c:v>
                </c:pt>
                <c:pt idx="1">
                  <c:v>0.80</c:v>
                </c:pt>
                <c:pt idx="2">
                  <c:v>0.82</c:v>
                </c:pt>
                <c:pt idx="3">
                  <c:v>0.84</c:v>
                </c:pt>
                <c:pt idx="4">
                  <c:v>0.85</c:v>
                </c:pt>
                <c:pt idx="5">
                  <c:v>0.86</c:v>
                </c:pt>
                <c:pt idx="6">
                  <c:v>0.87</c:v>
                </c:pt>
                <c:pt idx="7">
                  <c:v>0.90</c:v>
                </c:pt>
              </c:strCache>
            </c:strRef>
          </c:cat>
          <c:val>
            <c:numRef>
              <c:f>Sheet1!$B$2:$B$9</c:f>
              <c:numCache>
                <c:formatCode>General</c:formatCode>
                <c:ptCount val="8"/>
                <c:pt idx="0">
                  <c:v>27.3</c:v>
                </c:pt>
                <c:pt idx="1">
                  <c:v>32.299999999999997</c:v>
                </c:pt>
                <c:pt idx="2">
                  <c:v>40.4</c:v>
                </c:pt>
                <c:pt idx="3">
                  <c:v>61.5</c:v>
                </c:pt>
                <c:pt idx="4">
                  <c:v>71.900000000000006</c:v>
                </c:pt>
                <c:pt idx="5">
                  <c:v>79.599999999999994</c:v>
                </c:pt>
                <c:pt idx="6">
                  <c:v>89.2</c:v>
                </c:pt>
                <c:pt idx="7">
                  <c:v>97</c:v>
                </c:pt>
              </c:numCache>
            </c:numRef>
          </c:val>
          <c:smooth val="0"/>
          <c:extLst>
            <c:ext xmlns:c16="http://schemas.microsoft.com/office/drawing/2014/chart" uri="{C3380CC4-5D6E-409C-BE32-E72D297353CC}">
              <c16:uniqueId val="{00000000-B00B-40CB-941E-F7F654E445D9}"/>
            </c:ext>
          </c:extLst>
        </c:ser>
        <c:ser>
          <c:idx val="1"/>
          <c:order val="1"/>
          <c:tx>
            <c:strRef>
              <c:f>Sheet1!$C$1</c:f>
              <c:strCache>
                <c:ptCount val="1"/>
                <c:pt idx="0">
                  <c:v>Recall</c:v>
                </c:pt>
              </c:strCache>
            </c:strRef>
          </c:tx>
          <c:spPr>
            <a:ln w="31750" cap="flat">
              <a:solidFill>
                <a:srgbClr val="B8862B"/>
              </a:solidFill>
              <a:prstDash val="solid"/>
              <a:round/>
            </a:ln>
            <a:effectLst/>
          </c:spPr>
          <c:marker>
            <c:symbol val="circle"/>
            <c:size val="7"/>
            <c:spPr>
              <a:solidFill>
                <a:srgbClr val="B8862B"/>
              </a:solidFill>
              <a:ln w="9525" cap="flat">
                <a:solidFill>
                  <a:srgbClr val="B8862B"/>
                </a:solidFill>
                <a:prstDash val="solid"/>
                <a:round/>
              </a:ln>
              <a:effectLst/>
            </c:spPr>
          </c:marker>
          <c:cat>
            <c:strRef>
              <c:f>Sheet1!$A$2:$A$9</c:f>
              <c:strCache>
                <c:ptCount val="8"/>
                <c:pt idx="0">
                  <c:v>0.75</c:v>
                </c:pt>
                <c:pt idx="1">
                  <c:v>0.80</c:v>
                </c:pt>
                <c:pt idx="2">
                  <c:v>0.82</c:v>
                </c:pt>
                <c:pt idx="3">
                  <c:v>0.84</c:v>
                </c:pt>
                <c:pt idx="4">
                  <c:v>0.85</c:v>
                </c:pt>
                <c:pt idx="5">
                  <c:v>0.86</c:v>
                </c:pt>
                <c:pt idx="6">
                  <c:v>0.87</c:v>
                </c:pt>
                <c:pt idx="7">
                  <c:v>0.90</c:v>
                </c:pt>
              </c:strCache>
            </c:strRef>
          </c:cat>
          <c:val>
            <c:numRef>
              <c:f>Sheet1!$C$2:$C$9</c:f>
              <c:numCache>
                <c:formatCode>General</c:formatCode>
                <c:ptCount val="8"/>
                <c:pt idx="0">
                  <c:v>100</c:v>
                </c:pt>
                <c:pt idx="1">
                  <c:v>98.9</c:v>
                </c:pt>
                <c:pt idx="2">
                  <c:v>97</c:v>
                </c:pt>
                <c:pt idx="3">
                  <c:v>94.3</c:v>
                </c:pt>
                <c:pt idx="4">
                  <c:v>93.6</c:v>
                </c:pt>
                <c:pt idx="5">
                  <c:v>90.2</c:v>
                </c:pt>
                <c:pt idx="6">
                  <c:v>85.2</c:v>
                </c:pt>
                <c:pt idx="7">
                  <c:v>60.3</c:v>
                </c:pt>
              </c:numCache>
            </c:numRef>
          </c:val>
          <c:smooth val="0"/>
          <c:extLst>
            <c:ext xmlns:c16="http://schemas.microsoft.com/office/drawing/2014/chart" uri="{C3380CC4-5D6E-409C-BE32-E72D297353CC}">
              <c16:uniqueId val="{00000001-B00B-40CB-941E-F7F654E445D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9D1CA"/>
            </a:solidFill>
            <a:prstDash val="solid"/>
            <a:round/>
          </a:ln>
        </c:spPr>
        <c:txPr>
          <a:bodyPr/>
          <a:lstStyle/>
          <a:p>
            <a:pPr>
              <a:defRPr sz="1100" b="0" i="0" u="none" strike="noStrike">
                <a:solidFill>
                  <a:srgbClr val="4C5A56"/>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4E9E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C5A56"/>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C5A5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11F"/>
                </a:solidFill>
                <a:latin typeface="+mn-lt"/>
              </a:defRPr>
            </a:pPr>
            <a:r>
              <a:rPr sz="1200" b="0" i="0" u="none" strike="noStrike">
                <a:solidFill>
                  <a:srgbClr val="14211F"/>
                </a:solidFill>
                <a:latin typeface="+mn-lt"/>
              </a:rPr>
              <a:t>Agreement with an independent ranking of 45 incidents (Kendall τ-b)</a:t>
            </a:r>
          </a:p>
        </c:rich>
      </c:tx>
      <c:overlay val="0"/>
    </c:title>
    <c:autoTitleDeleted val="0"/>
    <c:plotArea>
      <c:layout/>
      <c:barChart>
        <c:barDir val="col"/>
        <c:grouping val="clustered"/>
        <c:varyColors val="0"/>
        <c:ser>
          <c:idx val="0"/>
          <c:order val="0"/>
          <c:tx>
            <c:strRef>
              <c:f>Sheet1!$B$1</c:f>
              <c:strCache>
                <c:ptCount val="1"/>
                <c:pt idx="0">
                  <c:v>Most reports first (baseline)</c:v>
                </c:pt>
              </c:strCache>
            </c:strRef>
          </c:tx>
          <c:spPr>
            <a:solidFill>
              <a:srgbClr val="A9B4AC"/>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Sheet1!$B$2:$B$4</c:f>
              <c:numCache>
                <c:formatCode>General</c:formatCode>
                <c:ptCount val="3"/>
                <c:pt idx="0">
                  <c:v>0.39500000000000002</c:v>
                </c:pt>
                <c:pt idx="1">
                  <c:v>0.32100000000000001</c:v>
                </c:pt>
                <c:pt idx="2">
                  <c:v>0.26800000000000002</c:v>
                </c:pt>
              </c:numCache>
            </c:numRef>
          </c:val>
          <c:extLst>
            <c:ext xmlns:c16="http://schemas.microsoft.com/office/drawing/2014/chart" uri="{C3380CC4-5D6E-409C-BE32-E72D297353CC}">
              <c16:uniqueId val="{00000000-7635-4FEC-A375-8F282B862220}"/>
            </c:ext>
          </c:extLst>
        </c:ser>
        <c:ser>
          <c:idx val="1"/>
          <c:order val="1"/>
          <c:tx>
            <c:strRef>
              <c:f>Sheet1!$C$1</c:f>
              <c:strCache>
                <c:ptCount val="1"/>
                <c:pt idx="0">
                  <c:v>Formula, age capped at 14 days</c:v>
                </c:pt>
              </c:strCache>
            </c:strRef>
          </c:tx>
          <c:spPr>
            <a:solidFill>
              <a:srgbClr val="639797"/>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Sheet1!$C$2:$C$4</c:f>
              <c:numCache>
                <c:formatCode>General</c:formatCode>
                <c:ptCount val="3"/>
                <c:pt idx="0">
                  <c:v>0.42299999999999999</c:v>
                </c:pt>
                <c:pt idx="1">
                  <c:v>0.36599999999999999</c:v>
                </c:pt>
                <c:pt idx="2">
                  <c:v>0.32</c:v>
                </c:pt>
              </c:numCache>
            </c:numRef>
          </c:val>
          <c:extLst>
            <c:ext xmlns:c16="http://schemas.microsoft.com/office/drawing/2014/chart" uri="{C3380CC4-5D6E-409C-BE32-E72D297353CC}">
              <c16:uniqueId val="{00000001-7635-4FEC-A375-8F282B862220}"/>
            </c:ext>
          </c:extLst>
        </c:ser>
        <c:ser>
          <c:idx val="2"/>
          <c:order val="2"/>
          <c:tx>
            <c:strRef>
              <c:f>Sheet1!$D$1</c:f>
              <c:strCache>
                <c:ptCount val="1"/>
                <c:pt idx="0">
                  <c:v>Formula, age capped at 30 days (live)</c:v>
                </c:pt>
              </c:strCache>
            </c:strRef>
          </c:tx>
          <c:spPr>
            <a:solidFill>
              <a:srgbClr val="17494D"/>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Sheet1!$D$2:$D$4</c:f>
              <c:numCache>
                <c:formatCode>General</c:formatCode>
                <c:ptCount val="3"/>
                <c:pt idx="0">
                  <c:v>0.55600000000000005</c:v>
                </c:pt>
                <c:pt idx="1">
                  <c:v>0.497</c:v>
                </c:pt>
                <c:pt idx="2">
                  <c:v>0.43</c:v>
                </c:pt>
              </c:numCache>
            </c:numRef>
          </c:val>
          <c:extLst>
            <c:ext xmlns:c16="http://schemas.microsoft.com/office/drawing/2014/chart" uri="{C3380CC4-5D6E-409C-BE32-E72D297353CC}">
              <c16:uniqueId val="{00000002-7635-4FEC-A375-8F282B862220}"/>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D1CA"/>
            </a:solidFill>
            <a:prstDash val="solid"/>
            <a:round/>
          </a:ln>
        </c:spPr>
        <c:txPr>
          <a:bodyPr/>
          <a:lstStyle/>
          <a:p>
            <a:pPr>
              <a:defRPr sz="1100" b="0" i="0" u="none" strike="noStrike">
                <a:solidFill>
                  <a:srgbClr val="4C5A56"/>
                </a:solidFill>
                <a:latin typeface="+mn-lt"/>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E4E9E5"/>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4C5A56"/>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4C5A5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624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35 seconds
Good morning everyone. We are team CivicPulse. I am [name], and with me are [names].
CivicPulse is a civic-complaint platform built for Bengaluru. The idea fits in one line: citizens report problems in their own words, and we turn those reports into grouped, prioritised incidents that a ward officer can act on, with a written reason for every ranking.
What you see on the right is not a mock-up. It is the live site, running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45 seconds
Let us start with the problem. Picture one pothole near a bus stop. Five people report it. One writes formally. One types five words. One is angry because it is their third complaint. One mixes Hindi and English. One describes it in completely different words.
To a city system, that is five tickets. To the officer, it is one road to fix.
That causes three problems. First, duplicates bury the queue: officers triage the same fault again and again while new problems wait. Second, grouping by category alone is too blunt: a blocked sewer and a missing drain cover share a category, but they need different repairs. Third, there is usually no stated reason why one complaint is “urgent” and another is not, so nobody can check the ranking.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50 seconds
So here is what CivicPulse does, in three steps.
One: report. A citizen picks a category, drops a pin and describes the problem. No account is needed, and it takes about a minute. That is the real form on the right. We find the ward automatically from 243 real BBMP ward boundaries.
Two: group. We turn the text into an embedding, a list of numbers that captures meaning, so reports that say the same thing in different words land close together. If they are in the same ward and category, and within 500 metres, they join one incident.
Three: prioritise and act. Every incident gets a score with written reasons, and the officer works from a ranked queue on a map.
HANDOVER: [Speaker 2] will now show you how it is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60 seconds
Thanks, [Speaker 1]. CivicPulse is three services.
The React frontend on Vercel serves both citizens and officers. At the centre is Spring Boot. It handles login, complaints, priority and the dashboards, and it is the only service allowed to write to the database. That is deliberate: with one writer, two services can never fight over the same record.
The Node.js service is our AI layer. It sends complaint text to Google’s Gemini embedding model, finds the matching incident, and asks Spring to write the result. Everything lives in PostgreSQL, with pgvector for the embeddings and PostGIS for the ward maps.
One rule shaped all of this: a citizen should never wait for the AI. So the complaint is saved and confirmed first, and matching happens a second later in the background. If the AI service is down, a circuit breaker falls back to simple ward-and-category grouping and marks it, and a sweep redoes those matches once the service is 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65 seconds
Now the heart of it: how we decide that two reports are the same problem. Three checks.
First, same ward and same category. That is a hard filter. Second, the meaning must be similar: a similarity score of at least 0.84 against the closest report already in the incident. Third, it must be within 500 metres, because the same words a few streets away usually mean a different fault.
We did not pick 0.84 by feel. We wrote 144 test complaints in which every ward and category had three different real problems, and we swept the threshold. That is the chart. At our original setting of 0.75, everything merged into one incident: recall was 100 percent, but precision only 27. At 0.84 we keep 94 percent recall, and precision more than doubles.
Then we checked real decisions from our live system. Before, 55 percent of grouping decisions were correct. With 0.84 and the distance check, it is 95 percent.
HANDOVER: [Speaker 3] will take you through how we prioritise.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60 seconds
Thanks, [Speaker 2]. Once reports are grouped, the officer needs to know what to fix first.
We chose a rule, not a black-box model, for two reasons: there is no labelled data to train a model on, and an officer must be able to check the answer.
The score has four parts. Volume, 40 percent: how many people reported it. Growth, 30 percent: new reports in the last 24 hours, so a problem that is getting worse rises fast. Age, 20 percent: how long it has been open, up to 30 days. Spread, 10 percent: how far apart the reports are, up to a kilometre. That gives a score from 0 to 10, banded as low, medium, high and critical.
The important part is on the right. This is a real incident from the live system: a pothole on 5th Cross Road, scored High, 6.1. And it says why: 14 complaints, open for 21 days, one new complaint in the last day. Every score is stored with its reasons, in plain words.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50 seconds
This is the officer console, live.
On the left is the incident queue. Our demo data has 249 reports, and CivicPulse has grouped them into 45 incidents, sorted by priority, each one placed on the map. Click a row and it opens with its member complaints and its reasons, and the officer can update its status.
On the right is the ward explorer: all 243 BBMP wards, shaded by how many active incidents each one has, next to a sortable table. An officer or a supervisor can see at a glance which wards are under pressure.
We have also built hotspot detection and a “needs attention” strip. They go live with our next backend deploy.
HANDOVER: [Speaker 4] will now show you whether any of this actually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60 seconds
Thanks, [Speaker 3]. We wanted evidence, not assumptions, so we measured both halves of the system.
For grouping, you have already seen it: 95 percent of real grouping decisions are correct, up from 55.
For priority, no officer had ranked our queue yet, so we used a stand-in. We gave Gemini the same sheet an officer would see (reports, age, spread) but never our formula or our scores, and asked it to rank 45 incidents as a ward engineer would, three separate times. Then we measured how closely each method agreed with it.
The light bars are the naive approach: most reports first. The middle bars are our formula as first shipped, and it beat the naive baseline in all three runs. The dark bars show one change: letting age count up to 30 days instead of 14. That improved agreement in every run, so we applied it, and that is what is live now.
This ranker is a proxy. A real officer ranking is our next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40 seconds
So where are we today?
Everything on the left is built and tested: complaint intake, semantic matching, explainable priority, the officer console, hotspots and attention signals, and decision support, which is a suggested next step the officer can accept or override, and every decision is logged.
Next is the Officer Copilot. An officer asks something like “what is urgent in Ward 48?” and gets an answer built only from our data, with every claim citing its source. The backend for it is already live. After that come our research paper, photo upload, and a life-safety flag, so things like open drains or exposed wiring escalate regardless of score.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20 seconds
To sum up: CivicPulse turns scattered complaints into grouped, prioritised incidents, and it can explain every decision it makes.
It is live at the address on screen, and you are welcome to try it.
Thank you. We are happy to take questions.
(Q&amp;A: each speaker takes questions on their own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marL="0" indent="0">
              <a:buNone/>
            </a:pPr>
            <a:r>
              <a:rPr lang="en-US" sz="1000" dirty="0">
                <a:solidFill>
                  <a:srgbClr val="5E6B67"/>
                </a:solidFill>
                <a:latin typeface="Poppins Medium" pitchFamily="34" charset="0"/>
                <a:ea typeface="Poppins Medium" pitchFamily="34" charset="-122"/>
                <a:cs typeface="Poppins Medium" pitchFamily="34" charset="-120"/>
              </a:rPr>
              <a:t>CivicPulse</a:t>
            </a:r>
            <a:endParaRPr lang="en-US" sz="1000" dirty="0"/>
          </a:p>
        </p:txBody>
      </p:sp>
      <p:sp>
        <p:nvSpPr>
          <p:cNvPr id="3" name="Text 1"/>
          <p:cNvSpPr>
            <a:spLocks noGrp="1"/>
          </p:cNvSpPr>
          <p:nvPr>
            <p:ph type="body" idx="101" hasCustomPrompt="1"/>
          </p:nvPr>
        </p:nvSpPr>
        <p:spPr>
          <a:xfrm>
            <a:off x="548640" y="457200"/>
            <a:ext cx="11094415" cy="292608"/>
          </a:xfrm>
          <a:prstGeom prst="rect">
            <a:avLst/>
          </a:prstGeom>
          <a:noFill/>
          <a:ln/>
        </p:spPr>
        <p:txBody>
          <a:bodyPr wrap="square" rtlCol="0"/>
          <a:lstStyle>
            <a:lvl1pPr marL="0" indent="0">
              <a:buNone/>
              <a:defRPr lang="en-US" sz="1100" kern="0" spc="200" dirty="0">
                <a:solidFill>
                  <a:srgbClr val="17494D"/>
                </a:solidFill>
                <a:latin typeface="Poppins SemiBold" pitchFamily="34" charset="0"/>
                <a:ea typeface="Poppins SemiBold" pitchFamily="34" charset="-122"/>
                <a:cs typeface="Poppins SemiBold" pitchFamily="34" charset="-120"/>
              </a:defRPr>
            </a:lvl1pPr>
          </a:lstStyle>
          <a:p>
            <a:pPr marL="0" indent="0">
              <a:buNone/>
            </a:pPr>
            <a:endParaRPr lang="en-US" sz="1100" dirty="0"/>
          </a:p>
        </p:txBody>
      </p:sp>
      <p:sp>
        <p:nvSpPr>
          <p:cNvPr id="4" name="Text 1"/>
          <p:cNvSpPr>
            <a:spLocks noGrp="1"/>
          </p:cNvSpPr>
          <p:nvPr>
            <p:ph type="title" idx="102" hasCustomPrompt="1"/>
          </p:nvPr>
        </p:nvSpPr>
        <p:spPr>
          <a:xfrm>
            <a:off x="548640" y="749808"/>
            <a:ext cx="11094415" cy="777240"/>
          </a:xfrm>
          <a:prstGeom prst="rect">
            <a:avLst/>
          </a:prstGeom>
          <a:noFill/>
          <a:ln/>
        </p:spPr>
        <p:txBody>
          <a:bodyPr wrap="square" rtlCol="0"/>
          <a:lstStyle>
            <a:lvl1pPr marL="0" indent="0" algn="l">
              <a:buNone/>
              <a:defRPr lang="en-US" sz="3400" b="1" dirty="0">
                <a:solidFill>
                  <a:srgbClr val="14211F"/>
                </a:solidFill>
                <a:latin typeface="Playfair Display" pitchFamily="34" charset="0"/>
                <a:ea typeface="Playfair Display" pitchFamily="34" charset="-122"/>
                <a:cs typeface="Playfair Display"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https://civic-pulse-gamma-ivory.vercel.ap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hyperlink" Target="https://github.com/Proj-CivicPulse/CivicPu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17320"/>
            <a:ext cx="5486400" cy="320040"/>
          </a:xfrm>
          <a:prstGeom prst="rect">
            <a:avLst/>
          </a:prstGeom>
          <a:noFill/>
          <a:ln/>
        </p:spPr>
        <p:txBody>
          <a:bodyPr wrap="square" lIns="0" tIns="0" rIns="0" bIns="0" rtlCol="0" anchor="ctr"/>
          <a:lstStyle/>
          <a:p>
            <a:pPr marL="0" indent="0">
              <a:buNone/>
            </a:pPr>
            <a:r>
              <a:rPr lang="en-US" sz="1200" kern="0" spc="200" dirty="0">
                <a:solidFill>
                  <a:srgbClr val="17494D"/>
                </a:solidFill>
                <a:latin typeface="Poppins SemiBold" pitchFamily="34" charset="0"/>
                <a:ea typeface="Poppins SemiBold" pitchFamily="34" charset="-122"/>
                <a:cs typeface="Poppins SemiBold" pitchFamily="34" charset="-120"/>
              </a:rPr>
              <a:t>TEAM PROJECT  ·  BENGALURU  ·  2026</a:t>
            </a:r>
            <a:endParaRPr lang="en-US" sz="1200" dirty="0"/>
          </a:p>
        </p:txBody>
      </p:sp>
      <p:sp>
        <p:nvSpPr>
          <p:cNvPr id="3" name="Text 1"/>
          <p:cNvSpPr txBox="1"/>
          <p:nvPr/>
        </p:nvSpPr>
        <p:spPr>
          <a:xfrm>
            <a:off x="640080" y="1828800"/>
            <a:ext cx="5852160" cy="1234440"/>
          </a:xfrm>
          <a:prstGeom prst="rect">
            <a:avLst/>
          </a:prstGeom>
          <a:noFill/>
          <a:ln/>
        </p:spPr>
        <p:txBody>
          <a:bodyPr wrap="square" lIns="0" tIns="0" rIns="0" bIns="0" rtlCol="0" anchor="ctr"/>
          <a:lstStyle/>
          <a:p>
            <a:pPr marL="0" indent="0">
              <a:buNone/>
            </a:pPr>
            <a:r>
              <a:rPr lang="en-US" sz="6800" b="1" dirty="0">
                <a:solidFill>
                  <a:srgbClr val="14211F"/>
                </a:solidFill>
                <a:latin typeface="Playfair Display" pitchFamily="34" charset="0"/>
                <a:ea typeface="Playfair Display" pitchFamily="34" charset="-122"/>
                <a:cs typeface="Playfair Display" pitchFamily="34" charset="-120"/>
              </a:rPr>
              <a:t>CivicPulse</a:t>
            </a:r>
            <a:endParaRPr lang="en-US" sz="6800" dirty="0"/>
          </a:p>
        </p:txBody>
      </p:sp>
      <p:sp>
        <p:nvSpPr>
          <p:cNvPr id="4" name="Text 2"/>
          <p:cNvSpPr txBox="1"/>
          <p:nvPr/>
        </p:nvSpPr>
        <p:spPr>
          <a:xfrm>
            <a:off x="640080" y="3108960"/>
            <a:ext cx="5394960" cy="914400"/>
          </a:xfrm>
          <a:prstGeom prst="rect">
            <a:avLst/>
          </a:prstGeom>
          <a:noFill/>
          <a:ln/>
        </p:spPr>
        <p:txBody>
          <a:bodyPr wrap="square" lIns="0" tIns="0" rIns="0" bIns="0" rtlCol="0" anchor="t"/>
          <a:lstStyle/>
          <a:p>
            <a:pPr marL="0" indent="0">
              <a:buNone/>
            </a:pPr>
            <a:r>
              <a:rPr lang="en-US" sz="2400" i="1" dirty="0">
                <a:solidFill>
                  <a:srgbClr val="4C5A56"/>
                </a:solidFill>
                <a:latin typeface="Playfair Display" pitchFamily="34" charset="0"/>
                <a:ea typeface="Playfair Display" pitchFamily="34" charset="-122"/>
                <a:cs typeface="Playfair Display" pitchFamily="34" charset="-120"/>
              </a:rPr>
              <a:t>From scattered complaints to prioritised incidents</a:t>
            </a:r>
            <a:endParaRPr lang="en-US" sz="2400" dirty="0"/>
          </a:p>
        </p:txBody>
      </p:sp>
      <p:sp>
        <p:nvSpPr>
          <p:cNvPr id="5" name="Text 3"/>
          <p:cNvSpPr txBox="1"/>
          <p:nvPr/>
        </p:nvSpPr>
        <p:spPr>
          <a:xfrm>
            <a:off x="640080" y="4114800"/>
            <a:ext cx="5120640" cy="914400"/>
          </a:xfrm>
          <a:prstGeom prst="rect">
            <a:avLst/>
          </a:prstGeom>
          <a:noFill/>
          <a:ln/>
        </p:spPr>
        <p:txBody>
          <a:bodyPr wrap="square" lIns="0" tIns="0" rIns="0" bIns="0" rtlCol="0" anchor="t"/>
          <a:lstStyle/>
          <a:p>
            <a:pPr marL="0" indent="0">
              <a:buNone/>
            </a:pPr>
            <a:r>
              <a:rPr lang="en-US" sz="1400" dirty="0">
                <a:solidFill>
                  <a:srgbClr val="4C5A56"/>
                </a:solidFill>
                <a:latin typeface="Poppins" pitchFamily="34" charset="0"/>
                <a:ea typeface="Poppins" pitchFamily="34" charset="-122"/>
                <a:cs typeface="Poppins" pitchFamily="34" charset="-120"/>
              </a:rPr>
              <a:t>Citizens report problems in their own words. CivicPulse groups the reports that describe the same fault and tells the officer which to fix first, and why.</a:t>
            </a:r>
            <a:endParaRPr lang="en-US" sz="1400" dirty="0"/>
          </a:p>
        </p:txBody>
      </p:sp>
      <p:sp>
        <p:nvSpPr>
          <p:cNvPr id="6" name="Text 4"/>
          <p:cNvSpPr txBox="1"/>
          <p:nvPr/>
        </p:nvSpPr>
        <p:spPr>
          <a:xfrm>
            <a:off x="640080" y="5440680"/>
            <a:ext cx="5120640" cy="685800"/>
          </a:xfrm>
          <a:prstGeom prst="rect">
            <a:avLst/>
          </a:prstGeom>
          <a:noFill/>
          <a:ln/>
        </p:spPr>
        <p:txBody>
          <a:bodyPr wrap="square" lIns="0" tIns="0" rIns="0" bIns="0" rtlCol="0" anchor="t"/>
          <a:lstStyle/>
          <a:p>
            <a:pPr marL="0" indent="0">
              <a:buNone/>
            </a:pPr>
            <a:r>
              <a:rPr lang="en-US" sz="1300" dirty="0">
                <a:solidFill>
                  <a:srgbClr val="14211F"/>
                </a:solidFill>
                <a:latin typeface="Poppins Medium" pitchFamily="34" charset="0"/>
                <a:ea typeface="Poppins Medium" pitchFamily="34" charset="-122"/>
                <a:cs typeface="Poppins Medium" pitchFamily="34" charset="-120"/>
              </a:rPr>
              <a:t>Suryansh  ·  Abhishek  ·  Devansh</a:t>
            </a:r>
            <a:endParaRPr lang="en-US" sz="1300" dirty="0"/>
          </a:p>
          <a:p>
            <a:pPr marL="0" indent="0">
              <a:buNone/>
            </a:pPr>
            <a:r>
              <a:rPr lang="en-US" sz="1300" dirty="0">
                <a:solidFill>
                  <a:srgbClr val="14211F"/>
                </a:solidFill>
                <a:latin typeface="Poppins Medium" pitchFamily="34" charset="0"/>
                <a:ea typeface="Poppins Medium" pitchFamily="34" charset="-122"/>
                <a:cs typeface="Poppins Medium" pitchFamily="34" charset="-120"/>
              </a:rPr>
              <a:t>Manya  ·  Ria  ·  Alaafiya</a:t>
            </a:r>
            <a:endParaRPr lang="en-US" sz="1300" dirty="0"/>
          </a:p>
        </p:txBody>
      </p:sp>
      <p:sp>
        <p:nvSpPr>
          <p:cNvPr id="7" name="frame landing"/>
          <p:cNvSpPr/>
          <p:nvPr/>
        </p:nvSpPr>
        <p:spPr>
          <a:xfrm>
            <a:off x="6446520" y="1691640"/>
            <a:ext cx="5212080" cy="3520440"/>
          </a:xfrm>
          <a:prstGeom prst="roundRect">
            <a:avLst>
              <a:gd name="adj" fmla="val 207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8" name="frame bar"/>
          <p:cNvSpPr/>
          <p:nvPr/>
        </p:nvSpPr>
        <p:spPr>
          <a:xfrm>
            <a:off x="6455664" y="1700784"/>
            <a:ext cx="5193792" cy="274320"/>
          </a:xfrm>
          <a:prstGeom prst="roundRect">
            <a:avLst>
              <a:gd name="adj" fmla="val 23333"/>
            </a:avLst>
          </a:prstGeom>
          <a:solidFill>
            <a:srgbClr val="F3F6F4"/>
          </a:solidFill>
          <a:ln w="12700">
            <a:solidFill>
              <a:srgbClr val="F3F6F4"/>
            </a:solidFill>
            <a:prstDash val="solid"/>
          </a:ln>
        </p:spPr>
      </p:sp>
      <p:sp>
        <p:nvSpPr>
          <p:cNvPr id="9" name="Shape 7"/>
          <p:cNvSpPr/>
          <p:nvPr/>
        </p:nvSpPr>
        <p:spPr>
          <a:xfrm>
            <a:off x="6592824" y="1787652"/>
            <a:ext cx="82296" cy="82296"/>
          </a:xfrm>
          <a:prstGeom prst="ellipse">
            <a:avLst/>
          </a:prstGeom>
          <a:solidFill>
            <a:srgbClr val="C9D1CA"/>
          </a:solidFill>
          <a:ln w="12700">
            <a:solidFill>
              <a:srgbClr val="C9D1CA"/>
            </a:solidFill>
            <a:prstDash val="solid"/>
          </a:ln>
        </p:spPr>
      </p:sp>
      <p:sp>
        <p:nvSpPr>
          <p:cNvPr id="10" name="Shape 8"/>
          <p:cNvSpPr/>
          <p:nvPr/>
        </p:nvSpPr>
        <p:spPr>
          <a:xfrm>
            <a:off x="6739128" y="1787652"/>
            <a:ext cx="82296" cy="82296"/>
          </a:xfrm>
          <a:prstGeom prst="ellipse">
            <a:avLst/>
          </a:prstGeom>
          <a:solidFill>
            <a:srgbClr val="C9D1CA"/>
          </a:solidFill>
          <a:ln w="12700">
            <a:solidFill>
              <a:srgbClr val="C9D1CA"/>
            </a:solidFill>
            <a:prstDash val="solid"/>
          </a:ln>
        </p:spPr>
      </p:sp>
      <p:sp>
        <p:nvSpPr>
          <p:cNvPr id="11" name="Shape 9"/>
          <p:cNvSpPr/>
          <p:nvPr/>
        </p:nvSpPr>
        <p:spPr>
          <a:xfrm>
            <a:off x="6885432" y="1787652"/>
            <a:ext cx="82296" cy="82296"/>
          </a:xfrm>
          <a:prstGeom prst="ellipse">
            <a:avLst/>
          </a:prstGeom>
          <a:solidFill>
            <a:srgbClr val="C9D1CA"/>
          </a:solidFill>
          <a:ln w="12700">
            <a:solidFill>
              <a:srgbClr val="C9D1CA"/>
            </a:solidFill>
            <a:prstDash val="solid"/>
          </a:ln>
        </p:spPr>
      </p:sp>
      <p:pic>
        <p:nvPicPr>
          <p:cNvPr id="12" name="screenshot landing" descr="CivicPulse screenshot: landing"/>
          <p:cNvPicPr>
            <a:picLocks noChangeAspect="1"/>
          </p:cNvPicPr>
          <p:nvPr/>
        </p:nvPicPr>
        <p:blipFill>
          <a:blip r:embed="rId3"/>
          <a:stretch>
            <a:fillRect/>
          </a:stretch>
        </p:blipFill>
        <p:spPr>
          <a:xfrm>
            <a:off x="6464808" y="1975104"/>
            <a:ext cx="5175504" cy="32186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01  THE PROBLEM</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One pothole, reported five different ways</a:t>
            </a:r>
            <a:endParaRPr lang="en-US" sz="3400" dirty="0"/>
          </a:p>
        </p:txBody>
      </p:sp>
      <p:sp>
        <p:nvSpPr>
          <p:cNvPr id="4" name="report card"/>
          <p:cNvSpPr/>
          <p:nvPr/>
        </p:nvSpPr>
        <p:spPr>
          <a:xfrm>
            <a:off x="548640" y="1783080"/>
            <a:ext cx="5852160" cy="676656"/>
          </a:xfrm>
          <a:prstGeom prst="roundRect">
            <a:avLst>
              <a:gd name="adj" fmla="val 10811"/>
            </a:avLst>
          </a:prstGeom>
          <a:solidFill>
            <a:srgbClr val="F3F6F4"/>
          </a:solidFill>
          <a:ln w="9525">
            <a:solidFill>
              <a:srgbClr val="C9D1CA"/>
            </a:solidFill>
            <a:prstDash val="solid"/>
          </a:ln>
        </p:spPr>
      </p:sp>
      <p:sp>
        <p:nvSpPr>
          <p:cNvPr id="5" name="Text 3"/>
          <p:cNvSpPr txBox="1"/>
          <p:nvPr/>
        </p:nvSpPr>
        <p:spPr>
          <a:xfrm>
            <a:off x="749808" y="1856232"/>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Huge pothole outside the 4th Block bus stop, very dangerous at night</a:t>
            </a:r>
            <a:endParaRPr lang="en-US" sz="1300" dirty="0"/>
          </a:p>
        </p:txBody>
      </p:sp>
      <p:sp>
        <p:nvSpPr>
          <p:cNvPr id="6" name="Text 4"/>
          <p:cNvSpPr txBox="1"/>
          <p:nvPr/>
        </p:nvSpPr>
        <p:spPr>
          <a:xfrm>
            <a:off x="5120640" y="1856232"/>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Formal</a:t>
            </a:r>
            <a:endParaRPr lang="en-US" sz="1000" dirty="0"/>
          </a:p>
        </p:txBody>
      </p:sp>
      <p:sp>
        <p:nvSpPr>
          <p:cNvPr id="7" name="report card"/>
          <p:cNvSpPr/>
          <p:nvPr/>
        </p:nvSpPr>
        <p:spPr>
          <a:xfrm>
            <a:off x="548640" y="2587752"/>
            <a:ext cx="5852160" cy="676656"/>
          </a:xfrm>
          <a:prstGeom prst="roundRect">
            <a:avLst>
              <a:gd name="adj" fmla="val 10811"/>
            </a:avLst>
          </a:prstGeom>
          <a:solidFill>
            <a:srgbClr val="F3F6F4"/>
          </a:solidFill>
          <a:ln w="9525">
            <a:solidFill>
              <a:srgbClr val="C9D1CA"/>
            </a:solidFill>
            <a:prstDash val="solid"/>
          </a:ln>
        </p:spPr>
      </p:sp>
      <p:sp>
        <p:nvSpPr>
          <p:cNvPr id="8" name="Text 6"/>
          <p:cNvSpPr txBox="1"/>
          <p:nvPr/>
        </p:nvSpPr>
        <p:spPr>
          <a:xfrm>
            <a:off x="749808" y="2660904"/>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road broken near bus stand. bike skidded</a:t>
            </a:r>
            <a:endParaRPr lang="en-US" sz="1300" dirty="0"/>
          </a:p>
        </p:txBody>
      </p:sp>
      <p:sp>
        <p:nvSpPr>
          <p:cNvPr id="9" name="Text 7"/>
          <p:cNvSpPr txBox="1"/>
          <p:nvPr/>
        </p:nvSpPr>
        <p:spPr>
          <a:xfrm>
            <a:off x="5120640" y="2660904"/>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Terse</a:t>
            </a:r>
            <a:endParaRPr lang="en-US" sz="1000" dirty="0"/>
          </a:p>
        </p:txBody>
      </p:sp>
      <p:sp>
        <p:nvSpPr>
          <p:cNvPr id="10" name="report card"/>
          <p:cNvSpPr/>
          <p:nvPr/>
        </p:nvSpPr>
        <p:spPr>
          <a:xfrm>
            <a:off x="548640" y="3392424"/>
            <a:ext cx="5852160" cy="676656"/>
          </a:xfrm>
          <a:prstGeom prst="roundRect">
            <a:avLst>
              <a:gd name="adj" fmla="val 10811"/>
            </a:avLst>
          </a:prstGeom>
          <a:solidFill>
            <a:srgbClr val="F3F6F4"/>
          </a:solidFill>
          <a:ln w="9525">
            <a:solidFill>
              <a:srgbClr val="C9D1CA"/>
            </a:solidFill>
            <a:prstDash val="solid"/>
          </a:ln>
        </p:spPr>
      </p:sp>
      <p:sp>
        <p:nvSpPr>
          <p:cNvPr id="11" name="Text 9"/>
          <p:cNvSpPr txBox="1"/>
          <p:nvPr/>
        </p:nvSpPr>
        <p:spPr>
          <a:xfrm>
            <a:off x="749808" y="3465576"/>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Third time complaining!! Nobody fixes this road</a:t>
            </a:r>
            <a:endParaRPr lang="en-US" sz="1300" dirty="0"/>
          </a:p>
        </p:txBody>
      </p:sp>
      <p:sp>
        <p:nvSpPr>
          <p:cNvPr id="12" name="Text 10"/>
          <p:cNvSpPr txBox="1"/>
          <p:nvPr/>
        </p:nvSpPr>
        <p:spPr>
          <a:xfrm>
            <a:off x="5120640" y="3465576"/>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Angry</a:t>
            </a:r>
            <a:endParaRPr lang="en-US" sz="1000" dirty="0"/>
          </a:p>
        </p:txBody>
      </p:sp>
      <p:sp>
        <p:nvSpPr>
          <p:cNvPr id="13" name="report card"/>
          <p:cNvSpPr/>
          <p:nvPr/>
        </p:nvSpPr>
        <p:spPr>
          <a:xfrm>
            <a:off x="548640" y="4197096"/>
            <a:ext cx="5852160" cy="676656"/>
          </a:xfrm>
          <a:prstGeom prst="roundRect">
            <a:avLst>
              <a:gd name="adj" fmla="val 10811"/>
            </a:avLst>
          </a:prstGeom>
          <a:solidFill>
            <a:srgbClr val="F3F6F4"/>
          </a:solidFill>
          <a:ln w="9525">
            <a:solidFill>
              <a:srgbClr val="C9D1CA"/>
            </a:solidFill>
            <a:prstDash val="solid"/>
          </a:ln>
        </p:spPr>
      </p:sp>
      <p:sp>
        <p:nvSpPr>
          <p:cNvPr id="14" name="Text 12"/>
          <p:cNvSpPr txBox="1"/>
          <p:nvPr/>
        </p:nvSpPr>
        <p:spPr>
          <a:xfrm>
            <a:off x="749808" y="4270248"/>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Bus stop ke paas bada gaddha hai, please repair</a:t>
            </a:r>
            <a:endParaRPr lang="en-US" sz="1300" dirty="0"/>
          </a:p>
        </p:txBody>
      </p:sp>
      <p:sp>
        <p:nvSpPr>
          <p:cNvPr id="15" name="Text 13"/>
          <p:cNvSpPr txBox="1"/>
          <p:nvPr/>
        </p:nvSpPr>
        <p:spPr>
          <a:xfrm>
            <a:off x="5120640" y="4270248"/>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Code-mixed</a:t>
            </a:r>
            <a:endParaRPr lang="en-US" sz="1000" dirty="0"/>
          </a:p>
        </p:txBody>
      </p:sp>
      <p:sp>
        <p:nvSpPr>
          <p:cNvPr id="16" name="report card"/>
          <p:cNvSpPr/>
          <p:nvPr/>
        </p:nvSpPr>
        <p:spPr>
          <a:xfrm>
            <a:off x="548640" y="5001768"/>
            <a:ext cx="5852160" cy="676656"/>
          </a:xfrm>
          <a:prstGeom prst="roundRect">
            <a:avLst>
              <a:gd name="adj" fmla="val 10811"/>
            </a:avLst>
          </a:prstGeom>
          <a:solidFill>
            <a:srgbClr val="F3F6F4"/>
          </a:solidFill>
          <a:ln w="9525">
            <a:solidFill>
              <a:srgbClr val="C9D1CA"/>
            </a:solidFill>
            <a:prstDash val="solid"/>
          </a:ln>
        </p:spPr>
      </p:sp>
      <p:sp>
        <p:nvSpPr>
          <p:cNvPr id="17" name="Text 15"/>
          <p:cNvSpPr txBox="1"/>
          <p:nvPr/>
        </p:nvSpPr>
        <p:spPr>
          <a:xfrm>
            <a:off x="749808" y="5074920"/>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Deep hole on the main road, Jayanagar 4th Block</a:t>
            </a:r>
            <a:endParaRPr lang="en-US" sz="1300" dirty="0"/>
          </a:p>
        </p:txBody>
      </p:sp>
      <p:sp>
        <p:nvSpPr>
          <p:cNvPr id="18" name="Text 16"/>
          <p:cNvSpPr txBox="1"/>
          <p:nvPr/>
        </p:nvSpPr>
        <p:spPr>
          <a:xfrm>
            <a:off x="5120640" y="5074920"/>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Different words</a:t>
            </a:r>
            <a:endParaRPr lang="en-US" sz="1000" dirty="0"/>
          </a:p>
        </p:txBody>
      </p:sp>
      <p:sp>
        <p:nvSpPr>
          <p:cNvPr id="19" name="Text 17"/>
          <p:cNvSpPr txBox="1"/>
          <p:nvPr/>
        </p:nvSpPr>
        <p:spPr>
          <a:xfrm>
            <a:off x="6949440" y="1783080"/>
            <a:ext cx="4663440" cy="411480"/>
          </a:xfrm>
          <a:prstGeom prst="rect">
            <a:avLst/>
          </a:prstGeom>
          <a:noFill/>
          <a:ln/>
        </p:spPr>
        <p:txBody>
          <a:bodyPr wrap="square" lIns="0" tIns="0" rIns="0" bIns="0" rtlCol="0" anchor="ctr"/>
          <a:lstStyle/>
          <a:p>
            <a:pPr marL="0" indent="0">
              <a:buNone/>
            </a:pPr>
            <a:r>
              <a:rPr lang="en-US" sz="2200" dirty="0">
                <a:solidFill>
                  <a:srgbClr val="14211F"/>
                </a:solidFill>
                <a:latin typeface="Playfair Display" pitchFamily="34" charset="0"/>
                <a:ea typeface="Playfair Display" pitchFamily="34" charset="-122"/>
                <a:cs typeface="Playfair Display" pitchFamily="34" charset="-120"/>
              </a:rPr>
              <a:t>Five tickets in the queue.</a:t>
            </a:r>
            <a:endParaRPr lang="en-US" sz="2200" dirty="0"/>
          </a:p>
        </p:txBody>
      </p:sp>
      <p:sp>
        <p:nvSpPr>
          <p:cNvPr id="20" name="Text 18"/>
          <p:cNvSpPr txBox="1"/>
          <p:nvPr/>
        </p:nvSpPr>
        <p:spPr>
          <a:xfrm>
            <a:off x="6949440" y="2194560"/>
            <a:ext cx="4663440" cy="411480"/>
          </a:xfrm>
          <a:prstGeom prst="rect">
            <a:avLst/>
          </a:prstGeom>
          <a:noFill/>
          <a:ln/>
        </p:spPr>
        <p:txBody>
          <a:bodyPr wrap="square" lIns="0" tIns="0" rIns="0" bIns="0" rtlCol="0" anchor="ctr"/>
          <a:lstStyle/>
          <a:p>
            <a:pPr marL="0" indent="0">
              <a:buNone/>
            </a:pPr>
            <a:r>
              <a:rPr lang="en-US" sz="2200" i="1" dirty="0">
                <a:solidFill>
                  <a:srgbClr val="17494D"/>
                </a:solidFill>
                <a:latin typeface="Playfair Display" pitchFamily="34" charset="0"/>
                <a:ea typeface="Playfair Display" pitchFamily="34" charset="-122"/>
                <a:cs typeface="Playfair Display" pitchFamily="34" charset="-120"/>
              </a:rPr>
              <a:t>One road to fix.</a:t>
            </a:r>
            <a:endParaRPr lang="en-US" sz="2200" dirty="0"/>
          </a:p>
        </p:txBody>
      </p:sp>
      <p:sp>
        <p:nvSpPr>
          <p:cNvPr id="21" name="icon-bg LuLayers"/>
          <p:cNvSpPr/>
          <p:nvPr/>
        </p:nvSpPr>
        <p:spPr>
          <a:xfrm>
            <a:off x="6949440" y="2971800"/>
            <a:ext cx="502920" cy="502920"/>
          </a:xfrm>
          <a:prstGeom prst="ellipse">
            <a:avLst/>
          </a:prstGeom>
          <a:solidFill>
            <a:srgbClr val="DCE8E8"/>
          </a:solidFill>
          <a:ln w="12700">
            <a:solidFill>
              <a:srgbClr val="DCE8E8"/>
            </a:solidFill>
            <a:prstDash val="solid"/>
          </a:ln>
        </p:spPr>
      </p:sp>
      <p:pic>
        <p:nvPicPr>
          <p:cNvPr id="22" name="icon LuLayers" descr="preencoded.png"/>
          <p:cNvPicPr>
            <a:picLocks noChangeAspect="1"/>
          </p:cNvPicPr>
          <p:nvPr/>
        </p:nvPicPr>
        <p:blipFill>
          <a:blip r:embed="rId3"/>
          <a:stretch>
            <a:fillRect/>
          </a:stretch>
        </p:blipFill>
        <p:spPr>
          <a:xfrm>
            <a:off x="7075170" y="3097530"/>
            <a:ext cx="251460" cy="251460"/>
          </a:xfrm>
          <a:prstGeom prst="rect">
            <a:avLst/>
          </a:prstGeom>
        </p:spPr>
      </p:pic>
      <p:sp>
        <p:nvSpPr>
          <p:cNvPr id="23" name="Text 20"/>
          <p:cNvSpPr txBox="1"/>
          <p:nvPr/>
        </p:nvSpPr>
        <p:spPr>
          <a:xfrm>
            <a:off x="7680960" y="2953512"/>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Duplicates bury the queue</a:t>
            </a:r>
            <a:endParaRPr lang="en-US" sz="1400" dirty="0"/>
          </a:p>
        </p:txBody>
      </p:sp>
      <p:sp>
        <p:nvSpPr>
          <p:cNvPr id="24" name="Text 21"/>
          <p:cNvSpPr txBox="1"/>
          <p:nvPr/>
        </p:nvSpPr>
        <p:spPr>
          <a:xfrm>
            <a:off x="7680960" y="3282696"/>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Officers triage the same fault again and again while new problems wait.</a:t>
            </a:r>
            <a:endParaRPr lang="en-US" sz="1200" dirty="0"/>
          </a:p>
        </p:txBody>
      </p:sp>
      <p:sp>
        <p:nvSpPr>
          <p:cNvPr id="25" name="icon-bg LuGitMerge"/>
          <p:cNvSpPr/>
          <p:nvPr/>
        </p:nvSpPr>
        <p:spPr>
          <a:xfrm>
            <a:off x="6949440" y="4050792"/>
            <a:ext cx="502920" cy="502920"/>
          </a:xfrm>
          <a:prstGeom prst="ellipse">
            <a:avLst/>
          </a:prstGeom>
          <a:solidFill>
            <a:srgbClr val="DCE8E8"/>
          </a:solidFill>
          <a:ln w="12700">
            <a:solidFill>
              <a:srgbClr val="DCE8E8"/>
            </a:solidFill>
            <a:prstDash val="solid"/>
          </a:ln>
        </p:spPr>
      </p:sp>
      <p:pic>
        <p:nvPicPr>
          <p:cNvPr id="26" name="icon LuGitMerge" descr="preencoded.png"/>
          <p:cNvPicPr>
            <a:picLocks noChangeAspect="1"/>
          </p:cNvPicPr>
          <p:nvPr/>
        </p:nvPicPr>
        <p:blipFill>
          <a:blip r:embed="rId4"/>
          <a:stretch>
            <a:fillRect/>
          </a:stretch>
        </p:blipFill>
        <p:spPr>
          <a:xfrm>
            <a:off x="7075170" y="4176522"/>
            <a:ext cx="251460" cy="251460"/>
          </a:xfrm>
          <a:prstGeom prst="rect">
            <a:avLst/>
          </a:prstGeom>
        </p:spPr>
      </p:pic>
      <p:sp>
        <p:nvSpPr>
          <p:cNvPr id="27" name="Text 23"/>
          <p:cNvSpPr txBox="1"/>
          <p:nvPr/>
        </p:nvSpPr>
        <p:spPr>
          <a:xfrm>
            <a:off x="7680960" y="4032504"/>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Category grouping is too blunt</a:t>
            </a:r>
            <a:endParaRPr lang="en-US" sz="1400" dirty="0"/>
          </a:p>
        </p:txBody>
      </p:sp>
      <p:sp>
        <p:nvSpPr>
          <p:cNvPr id="28" name="Text 24"/>
          <p:cNvSpPr txBox="1"/>
          <p:nvPr/>
        </p:nvSpPr>
        <p:spPr>
          <a:xfrm>
            <a:off x="7680960" y="4361688"/>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A blocked sewer and a missing drain cover share a category, but not a repair.</a:t>
            </a:r>
            <a:endParaRPr lang="en-US" sz="1200" dirty="0"/>
          </a:p>
        </p:txBody>
      </p:sp>
      <p:sp>
        <p:nvSpPr>
          <p:cNvPr id="29" name="icon-bg LuGauge"/>
          <p:cNvSpPr/>
          <p:nvPr/>
        </p:nvSpPr>
        <p:spPr>
          <a:xfrm>
            <a:off x="6949440" y="5129784"/>
            <a:ext cx="502920" cy="502920"/>
          </a:xfrm>
          <a:prstGeom prst="ellipse">
            <a:avLst/>
          </a:prstGeom>
          <a:solidFill>
            <a:srgbClr val="DCE8E8"/>
          </a:solidFill>
          <a:ln w="12700">
            <a:solidFill>
              <a:srgbClr val="DCE8E8"/>
            </a:solidFill>
            <a:prstDash val="solid"/>
          </a:ln>
        </p:spPr>
      </p:sp>
      <p:pic>
        <p:nvPicPr>
          <p:cNvPr id="30" name="icon LuGauge" descr="preencoded.png"/>
          <p:cNvPicPr>
            <a:picLocks noChangeAspect="1"/>
          </p:cNvPicPr>
          <p:nvPr/>
        </p:nvPicPr>
        <p:blipFill>
          <a:blip r:embed="rId5"/>
          <a:stretch>
            <a:fillRect/>
          </a:stretch>
        </p:blipFill>
        <p:spPr>
          <a:xfrm>
            <a:off x="7075170" y="5255514"/>
            <a:ext cx="251460" cy="251460"/>
          </a:xfrm>
          <a:prstGeom prst="rect">
            <a:avLst/>
          </a:prstGeom>
        </p:spPr>
      </p:pic>
      <p:sp>
        <p:nvSpPr>
          <p:cNvPr id="31" name="Text 26"/>
          <p:cNvSpPr txBox="1"/>
          <p:nvPr/>
        </p:nvSpPr>
        <p:spPr>
          <a:xfrm>
            <a:off x="7680960" y="5111496"/>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No reason behind "urgent"</a:t>
            </a:r>
            <a:endParaRPr lang="en-US" sz="1400" dirty="0"/>
          </a:p>
        </p:txBody>
      </p:sp>
      <p:sp>
        <p:nvSpPr>
          <p:cNvPr id="32" name="Text 27"/>
          <p:cNvSpPr txBox="1"/>
          <p:nvPr/>
        </p:nvSpPr>
        <p:spPr>
          <a:xfrm>
            <a:off x="7680960" y="5440680"/>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Without a stated rule, ranking is a guess no one can check.</a:t>
            </a:r>
            <a:endParaRPr lang="en-US" sz="12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02  THE SOLUTION</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Report once. Group by meaning. Fix what matters first</a:t>
            </a:r>
            <a:endParaRPr lang="en-US" sz="3400" dirty="0"/>
          </a:p>
        </p:txBody>
      </p:sp>
      <p:sp>
        <p:nvSpPr>
          <p:cNvPr id="4" name="icon-bg LuMapPin"/>
          <p:cNvSpPr/>
          <p:nvPr/>
        </p:nvSpPr>
        <p:spPr>
          <a:xfrm>
            <a:off x="548640" y="1828800"/>
            <a:ext cx="603504" cy="603504"/>
          </a:xfrm>
          <a:prstGeom prst="ellipse">
            <a:avLst/>
          </a:prstGeom>
          <a:solidFill>
            <a:srgbClr val="DCE8E8"/>
          </a:solidFill>
          <a:ln w="12700">
            <a:solidFill>
              <a:srgbClr val="DCE8E8"/>
            </a:solidFill>
            <a:prstDash val="solid"/>
          </a:ln>
        </p:spPr>
      </p:sp>
      <p:pic>
        <p:nvPicPr>
          <p:cNvPr id="5" name="icon LuMapPin" descr="preencoded.png"/>
          <p:cNvPicPr>
            <a:picLocks noChangeAspect="1"/>
          </p:cNvPicPr>
          <p:nvPr/>
        </p:nvPicPr>
        <p:blipFill>
          <a:blip r:embed="rId3"/>
          <a:stretch>
            <a:fillRect/>
          </a:stretch>
        </p:blipFill>
        <p:spPr>
          <a:xfrm>
            <a:off x="699516" y="1979676"/>
            <a:ext cx="301752" cy="301752"/>
          </a:xfrm>
          <a:prstGeom prst="rect">
            <a:avLst/>
          </a:prstGeom>
        </p:spPr>
      </p:pic>
      <p:sp>
        <p:nvSpPr>
          <p:cNvPr id="6" name="Text 3"/>
          <p:cNvSpPr txBox="1"/>
          <p:nvPr/>
        </p:nvSpPr>
        <p:spPr>
          <a:xfrm>
            <a:off x="1417320" y="179222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01</a:t>
            </a:r>
            <a:endParaRPr lang="en-US" sz="1800" dirty="0"/>
          </a:p>
        </p:txBody>
      </p:sp>
      <p:sp>
        <p:nvSpPr>
          <p:cNvPr id="7" name="Text 4"/>
          <p:cNvSpPr txBox="1"/>
          <p:nvPr/>
        </p:nvSpPr>
        <p:spPr>
          <a:xfrm>
            <a:off x="1874520" y="179222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Report</a:t>
            </a:r>
            <a:endParaRPr lang="en-US" sz="1600" dirty="0"/>
          </a:p>
        </p:txBody>
      </p:sp>
      <p:sp>
        <p:nvSpPr>
          <p:cNvPr id="8" name="Text 5"/>
          <p:cNvSpPr txBox="1"/>
          <p:nvPr/>
        </p:nvSpPr>
        <p:spPr>
          <a:xfrm>
            <a:off x="1417320" y="219456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A citizen picks a category, drops a pin and describes the problem. No account is needed. The ward is found from 243 real BBMP ward boundaries.</a:t>
            </a:r>
            <a:endParaRPr lang="en-US" sz="1300" dirty="0"/>
          </a:p>
        </p:txBody>
      </p:sp>
      <p:sp>
        <p:nvSpPr>
          <p:cNvPr id="9" name="icon-bg LuGitMerge"/>
          <p:cNvSpPr/>
          <p:nvPr/>
        </p:nvSpPr>
        <p:spPr>
          <a:xfrm>
            <a:off x="548640" y="3291840"/>
            <a:ext cx="603504" cy="603504"/>
          </a:xfrm>
          <a:prstGeom prst="ellipse">
            <a:avLst/>
          </a:prstGeom>
          <a:solidFill>
            <a:srgbClr val="DCE8E8"/>
          </a:solidFill>
          <a:ln w="12700">
            <a:solidFill>
              <a:srgbClr val="DCE8E8"/>
            </a:solidFill>
            <a:prstDash val="solid"/>
          </a:ln>
        </p:spPr>
      </p:sp>
      <p:pic>
        <p:nvPicPr>
          <p:cNvPr id="10" name="icon LuGitMerge" descr="preencoded.png"/>
          <p:cNvPicPr>
            <a:picLocks noChangeAspect="1"/>
          </p:cNvPicPr>
          <p:nvPr/>
        </p:nvPicPr>
        <p:blipFill>
          <a:blip r:embed="rId4"/>
          <a:stretch>
            <a:fillRect/>
          </a:stretch>
        </p:blipFill>
        <p:spPr>
          <a:xfrm>
            <a:off x="699516" y="3442716"/>
            <a:ext cx="301752" cy="301752"/>
          </a:xfrm>
          <a:prstGeom prst="rect">
            <a:avLst/>
          </a:prstGeom>
        </p:spPr>
      </p:pic>
      <p:sp>
        <p:nvSpPr>
          <p:cNvPr id="11" name="Text 7"/>
          <p:cNvSpPr txBox="1"/>
          <p:nvPr/>
        </p:nvSpPr>
        <p:spPr>
          <a:xfrm>
            <a:off x="1417320" y="325526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02</a:t>
            </a:r>
            <a:endParaRPr lang="en-US" sz="1800" dirty="0"/>
          </a:p>
        </p:txBody>
      </p:sp>
      <p:sp>
        <p:nvSpPr>
          <p:cNvPr id="12" name="Text 8"/>
          <p:cNvSpPr txBox="1"/>
          <p:nvPr/>
        </p:nvSpPr>
        <p:spPr>
          <a:xfrm>
            <a:off x="1874520" y="325526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Group</a:t>
            </a:r>
            <a:endParaRPr lang="en-US" sz="1600" dirty="0"/>
          </a:p>
        </p:txBody>
      </p:sp>
      <p:sp>
        <p:nvSpPr>
          <p:cNvPr id="13" name="Text 9"/>
          <p:cNvSpPr txBox="1"/>
          <p:nvPr/>
        </p:nvSpPr>
        <p:spPr>
          <a:xfrm>
            <a:off x="1417320" y="365760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The text is turned into an embedding. Reports that mean the same thing, in the same ward and category and within 500 m, join one incident.</a:t>
            </a:r>
            <a:endParaRPr lang="en-US" sz="1300" dirty="0"/>
          </a:p>
        </p:txBody>
      </p:sp>
      <p:sp>
        <p:nvSpPr>
          <p:cNvPr id="14" name="icon-bg LuGauge"/>
          <p:cNvSpPr/>
          <p:nvPr/>
        </p:nvSpPr>
        <p:spPr>
          <a:xfrm>
            <a:off x="548640" y="4754880"/>
            <a:ext cx="603504" cy="603504"/>
          </a:xfrm>
          <a:prstGeom prst="ellipse">
            <a:avLst/>
          </a:prstGeom>
          <a:solidFill>
            <a:srgbClr val="DCE8E8"/>
          </a:solidFill>
          <a:ln w="12700">
            <a:solidFill>
              <a:srgbClr val="DCE8E8"/>
            </a:solidFill>
            <a:prstDash val="solid"/>
          </a:ln>
        </p:spPr>
      </p:sp>
      <p:pic>
        <p:nvPicPr>
          <p:cNvPr id="15" name="icon LuGauge" descr="preencoded.png"/>
          <p:cNvPicPr>
            <a:picLocks noChangeAspect="1"/>
          </p:cNvPicPr>
          <p:nvPr/>
        </p:nvPicPr>
        <p:blipFill>
          <a:blip r:embed="rId5"/>
          <a:stretch>
            <a:fillRect/>
          </a:stretch>
        </p:blipFill>
        <p:spPr>
          <a:xfrm>
            <a:off x="699516" y="4905756"/>
            <a:ext cx="301752" cy="301752"/>
          </a:xfrm>
          <a:prstGeom prst="rect">
            <a:avLst/>
          </a:prstGeom>
        </p:spPr>
      </p:pic>
      <p:sp>
        <p:nvSpPr>
          <p:cNvPr id="16" name="Text 11"/>
          <p:cNvSpPr txBox="1"/>
          <p:nvPr/>
        </p:nvSpPr>
        <p:spPr>
          <a:xfrm>
            <a:off x="1417320" y="471830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03</a:t>
            </a:r>
            <a:endParaRPr lang="en-US" sz="1800" dirty="0"/>
          </a:p>
        </p:txBody>
      </p:sp>
      <p:sp>
        <p:nvSpPr>
          <p:cNvPr id="17" name="Text 12"/>
          <p:cNvSpPr txBox="1"/>
          <p:nvPr/>
        </p:nvSpPr>
        <p:spPr>
          <a:xfrm>
            <a:off x="1874520" y="471830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Prioritise and act</a:t>
            </a:r>
            <a:endParaRPr lang="en-US" sz="1600" dirty="0"/>
          </a:p>
        </p:txBody>
      </p:sp>
      <p:sp>
        <p:nvSpPr>
          <p:cNvPr id="18" name="Text 13"/>
          <p:cNvSpPr txBox="1"/>
          <p:nvPr/>
        </p:nvSpPr>
        <p:spPr>
          <a:xfrm>
            <a:off x="1417320" y="512064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Each incident gets a score with written reasons. Officers work a ranked queue, a map, hotspots and a suggested next step.</a:t>
            </a:r>
            <a:endParaRPr lang="en-US" sz="1300" dirty="0"/>
          </a:p>
        </p:txBody>
      </p:sp>
      <p:sp>
        <p:nvSpPr>
          <p:cNvPr id="19" name="frame submit-complaint"/>
          <p:cNvSpPr/>
          <p:nvPr/>
        </p:nvSpPr>
        <p:spPr>
          <a:xfrm>
            <a:off x="6400800" y="1783080"/>
            <a:ext cx="5239512" cy="4343400"/>
          </a:xfrm>
          <a:prstGeom prst="roundRect">
            <a:avLst>
              <a:gd name="adj" fmla="val 1684"/>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20" name="frame bar"/>
          <p:cNvSpPr/>
          <p:nvPr/>
        </p:nvSpPr>
        <p:spPr>
          <a:xfrm>
            <a:off x="6409944" y="1792224"/>
            <a:ext cx="5221224" cy="274320"/>
          </a:xfrm>
          <a:prstGeom prst="roundRect">
            <a:avLst>
              <a:gd name="adj" fmla="val 23333"/>
            </a:avLst>
          </a:prstGeom>
          <a:solidFill>
            <a:srgbClr val="F3F6F4"/>
          </a:solidFill>
          <a:ln w="12700">
            <a:solidFill>
              <a:srgbClr val="F3F6F4"/>
            </a:solidFill>
            <a:prstDash val="solid"/>
          </a:ln>
        </p:spPr>
      </p:sp>
      <p:sp>
        <p:nvSpPr>
          <p:cNvPr id="21" name="Shape 16"/>
          <p:cNvSpPr/>
          <p:nvPr/>
        </p:nvSpPr>
        <p:spPr>
          <a:xfrm>
            <a:off x="6547104" y="1879092"/>
            <a:ext cx="82296" cy="82296"/>
          </a:xfrm>
          <a:prstGeom prst="ellipse">
            <a:avLst/>
          </a:prstGeom>
          <a:solidFill>
            <a:srgbClr val="C9D1CA"/>
          </a:solidFill>
          <a:ln w="12700">
            <a:solidFill>
              <a:srgbClr val="C9D1CA"/>
            </a:solidFill>
            <a:prstDash val="solid"/>
          </a:ln>
        </p:spPr>
      </p:sp>
      <p:sp>
        <p:nvSpPr>
          <p:cNvPr id="22" name="Shape 17"/>
          <p:cNvSpPr/>
          <p:nvPr/>
        </p:nvSpPr>
        <p:spPr>
          <a:xfrm>
            <a:off x="6693408" y="1879092"/>
            <a:ext cx="82296" cy="82296"/>
          </a:xfrm>
          <a:prstGeom prst="ellipse">
            <a:avLst/>
          </a:prstGeom>
          <a:solidFill>
            <a:srgbClr val="C9D1CA"/>
          </a:solidFill>
          <a:ln w="12700">
            <a:solidFill>
              <a:srgbClr val="C9D1CA"/>
            </a:solidFill>
            <a:prstDash val="solid"/>
          </a:ln>
        </p:spPr>
      </p:sp>
      <p:sp>
        <p:nvSpPr>
          <p:cNvPr id="23" name="Shape 18"/>
          <p:cNvSpPr/>
          <p:nvPr/>
        </p:nvSpPr>
        <p:spPr>
          <a:xfrm>
            <a:off x="6839712" y="1879092"/>
            <a:ext cx="82296" cy="82296"/>
          </a:xfrm>
          <a:prstGeom prst="ellipse">
            <a:avLst/>
          </a:prstGeom>
          <a:solidFill>
            <a:srgbClr val="C9D1CA"/>
          </a:solidFill>
          <a:ln w="12700">
            <a:solidFill>
              <a:srgbClr val="C9D1CA"/>
            </a:solidFill>
            <a:prstDash val="solid"/>
          </a:ln>
        </p:spPr>
      </p:sp>
      <p:pic>
        <p:nvPicPr>
          <p:cNvPr id="24" name="screenshot submit-complaint" descr="CivicPulse screenshot: submit-complaint"/>
          <p:cNvPicPr>
            <a:picLocks noChangeAspect="1"/>
          </p:cNvPicPr>
          <p:nvPr/>
        </p:nvPicPr>
        <p:blipFill>
          <a:blip r:embed="rId6"/>
          <a:stretch>
            <a:fillRect/>
          </a:stretch>
        </p:blipFill>
        <p:spPr>
          <a:xfrm>
            <a:off x="6419088" y="2066544"/>
            <a:ext cx="5202936" cy="4041648"/>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03  ARCHITECTURE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Three services, one writer</a:t>
            </a:r>
            <a:endParaRPr lang="en-US" sz="3400" dirty="0"/>
          </a:p>
        </p:txBody>
      </p:sp>
      <p:sp>
        <p:nvSpPr>
          <p:cNvPr id="4" name="arch React frontend"/>
          <p:cNvSpPr/>
          <p:nvPr/>
        </p:nvSpPr>
        <p:spPr>
          <a:xfrm>
            <a:off x="548640" y="1783080"/>
            <a:ext cx="3291840" cy="1097280"/>
          </a:xfrm>
          <a:prstGeom prst="roundRect">
            <a:avLst>
              <a:gd name="adj" fmla="val 8333"/>
            </a:avLst>
          </a:prstGeom>
          <a:solidFill>
            <a:srgbClr val="FFFFFF"/>
          </a:solidFill>
          <a:ln w="15875">
            <a:solidFill>
              <a:srgbClr val="C9D1CA"/>
            </a:solidFill>
            <a:prstDash val="solid"/>
          </a:ln>
        </p:spPr>
      </p:sp>
      <p:sp>
        <p:nvSpPr>
          <p:cNvPr id="5" name="Text 3"/>
          <p:cNvSpPr txBox="1"/>
          <p:nvPr/>
        </p:nvSpPr>
        <p:spPr>
          <a:xfrm>
            <a:off x="731520"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React frontend</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Citizen portal and officer console · Vercel</a:t>
            </a:r>
            <a:endParaRPr lang="en-US" sz="1500" dirty="0"/>
          </a:p>
        </p:txBody>
      </p:sp>
      <p:sp>
        <p:nvSpPr>
          <p:cNvPr id="6" name="arch Spring Boot core"/>
          <p:cNvSpPr/>
          <p:nvPr/>
        </p:nvSpPr>
        <p:spPr>
          <a:xfrm>
            <a:off x="4448556" y="1783080"/>
            <a:ext cx="3291840" cy="1097280"/>
          </a:xfrm>
          <a:prstGeom prst="roundRect">
            <a:avLst>
              <a:gd name="adj" fmla="val 8333"/>
            </a:avLst>
          </a:prstGeom>
          <a:solidFill>
            <a:srgbClr val="17494D"/>
          </a:solidFill>
          <a:ln w="15875">
            <a:solidFill>
              <a:srgbClr val="17494D"/>
            </a:solidFill>
            <a:prstDash val="solid"/>
          </a:ln>
        </p:spPr>
      </p:sp>
      <p:sp>
        <p:nvSpPr>
          <p:cNvPr id="7" name="Text 5"/>
          <p:cNvSpPr txBox="1"/>
          <p:nvPr/>
        </p:nvSpPr>
        <p:spPr>
          <a:xfrm>
            <a:off x="4631436"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FFFFFF"/>
                </a:solidFill>
                <a:latin typeface="Poppins SemiBold" pitchFamily="34" charset="0"/>
                <a:ea typeface="Poppins SemiBold" pitchFamily="34" charset="-122"/>
                <a:cs typeface="Poppins SemiBold" pitchFamily="34" charset="-120"/>
              </a:rPr>
              <a:t>Spring Boot core</a:t>
            </a:r>
            <a:endParaRPr lang="en-US" sz="1500" dirty="0"/>
          </a:p>
          <a:p>
            <a:pPr marL="0" indent="0">
              <a:spcAft>
                <a:spcPts val="400"/>
              </a:spcAft>
              <a:buNone/>
            </a:pPr>
            <a:r>
              <a:rPr lang="en-US" sz="1100" dirty="0">
                <a:solidFill>
                  <a:srgbClr val="D5E3E3"/>
                </a:solidFill>
                <a:latin typeface="Poppins" pitchFamily="34" charset="0"/>
                <a:ea typeface="Poppins" pitchFamily="34" charset="-122"/>
                <a:cs typeface="Poppins" pitchFamily="34" charset="-120"/>
              </a:rPr>
              <a:t>Auth, complaints, priority, dashboards. The only writer; owns every migration</a:t>
            </a:r>
            <a:endParaRPr lang="en-US" sz="1500" dirty="0"/>
          </a:p>
        </p:txBody>
      </p:sp>
      <p:sp>
        <p:nvSpPr>
          <p:cNvPr id="8" name="arch PostgreSQL 16"/>
          <p:cNvSpPr/>
          <p:nvPr/>
        </p:nvSpPr>
        <p:spPr>
          <a:xfrm>
            <a:off x="8348472" y="1783080"/>
            <a:ext cx="3291840" cy="1097280"/>
          </a:xfrm>
          <a:prstGeom prst="roundRect">
            <a:avLst>
              <a:gd name="adj" fmla="val 8333"/>
            </a:avLst>
          </a:prstGeom>
          <a:solidFill>
            <a:srgbClr val="FFFFFF"/>
          </a:solidFill>
          <a:ln w="15875">
            <a:solidFill>
              <a:srgbClr val="C9D1CA"/>
            </a:solidFill>
            <a:prstDash val="solid"/>
          </a:ln>
        </p:spPr>
      </p:sp>
      <p:sp>
        <p:nvSpPr>
          <p:cNvPr id="9" name="Text 7"/>
          <p:cNvSpPr txBox="1"/>
          <p:nvPr/>
        </p:nvSpPr>
        <p:spPr>
          <a:xfrm>
            <a:off x="8531352"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PostgreSQL 16</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pgvector for embeddings, PostGIS for ward polygons · Railway</a:t>
            </a:r>
            <a:endParaRPr lang="en-US" sz="1500" dirty="0"/>
          </a:p>
        </p:txBody>
      </p:sp>
      <p:sp>
        <p:nvSpPr>
          <p:cNvPr id="10" name="arch Node.js AI service"/>
          <p:cNvSpPr/>
          <p:nvPr/>
        </p:nvSpPr>
        <p:spPr>
          <a:xfrm>
            <a:off x="4448556" y="3520440"/>
            <a:ext cx="3291840" cy="1097280"/>
          </a:xfrm>
          <a:prstGeom prst="roundRect">
            <a:avLst>
              <a:gd name="adj" fmla="val 8333"/>
            </a:avLst>
          </a:prstGeom>
          <a:solidFill>
            <a:srgbClr val="FFFFFF"/>
          </a:solidFill>
          <a:ln w="15875">
            <a:solidFill>
              <a:srgbClr val="C9D1CA"/>
            </a:solidFill>
            <a:prstDash val="solid"/>
          </a:ln>
        </p:spPr>
      </p:sp>
      <p:sp>
        <p:nvSpPr>
          <p:cNvPr id="11" name="Text 9"/>
          <p:cNvSpPr txBox="1"/>
          <p:nvPr/>
        </p:nvSpPr>
        <p:spPr>
          <a:xfrm>
            <a:off x="4631436" y="359359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Node.js AI service</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Embeddings and incident matching; decides what to write</a:t>
            </a:r>
            <a:endParaRPr lang="en-US" sz="1500" dirty="0"/>
          </a:p>
        </p:txBody>
      </p:sp>
      <p:sp>
        <p:nvSpPr>
          <p:cNvPr id="12" name="arch Gemini embeddings"/>
          <p:cNvSpPr/>
          <p:nvPr/>
        </p:nvSpPr>
        <p:spPr>
          <a:xfrm>
            <a:off x="8348472" y="3520440"/>
            <a:ext cx="3291840" cy="1097280"/>
          </a:xfrm>
          <a:prstGeom prst="roundRect">
            <a:avLst>
              <a:gd name="adj" fmla="val 8333"/>
            </a:avLst>
          </a:prstGeom>
          <a:solidFill>
            <a:srgbClr val="FFFFFF"/>
          </a:solidFill>
          <a:ln w="15875">
            <a:solidFill>
              <a:srgbClr val="C9D1CA"/>
            </a:solidFill>
            <a:prstDash val="solid"/>
          </a:ln>
        </p:spPr>
      </p:sp>
      <p:sp>
        <p:nvSpPr>
          <p:cNvPr id="13" name="Text 11"/>
          <p:cNvSpPr txBox="1"/>
          <p:nvPr/>
        </p:nvSpPr>
        <p:spPr>
          <a:xfrm>
            <a:off x="8531352" y="359359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Gemini embeddings</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gemini-embedding-001, 1536 dimensions, multilingual</a:t>
            </a:r>
            <a:endParaRPr lang="en-US" sz="1500" dirty="0"/>
          </a:p>
        </p:txBody>
      </p:sp>
      <p:sp>
        <p:nvSpPr>
          <p:cNvPr id="14" name="Shape 12"/>
          <p:cNvSpPr/>
          <p:nvPr/>
        </p:nvSpPr>
        <p:spPr>
          <a:xfrm>
            <a:off x="3913632" y="2331720"/>
            <a:ext cx="461772" cy="914"/>
          </a:xfrm>
          <a:prstGeom prst="line">
            <a:avLst/>
          </a:prstGeom>
          <a:noFill/>
          <a:ln w="19050">
            <a:solidFill>
              <a:srgbClr val="5E6B67"/>
            </a:solidFill>
            <a:prstDash val="solid"/>
            <a:headEnd type="triangle"/>
            <a:tailEnd type="triangle"/>
          </a:ln>
        </p:spPr>
      </p:sp>
      <p:sp>
        <p:nvSpPr>
          <p:cNvPr id="15" name="Shape 13"/>
          <p:cNvSpPr/>
          <p:nvPr/>
        </p:nvSpPr>
        <p:spPr>
          <a:xfrm>
            <a:off x="7813548" y="2331720"/>
            <a:ext cx="461772" cy="914"/>
          </a:xfrm>
          <a:prstGeom prst="line">
            <a:avLst/>
          </a:prstGeom>
          <a:noFill/>
          <a:ln w="19050">
            <a:solidFill>
              <a:srgbClr val="5E6B67"/>
            </a:solidFill>
            <a:prstDash val="solid"/>
            <a:headEnd type="triangle"/>
            <a:tailEnd type="triangle"/>
          </a:ln>
        </p:spPr>
      </p:sp>
      <p:sp>
        <p:nvSpPr>
          <p:cNvPr id="16" name="Shape 14"/>
          <p:cNvSpPr/>
          <p:nvPr/>
        </p:nvSpPr>
        <p:spPr>
          <a:xfrm>
            <a:off x="6094476" y="2953512"/>
            <a:ext cx="914" cy="493776"/>
          </a:xfrm>
          <a:prstGeom prst="line">
            <a:avLst/>
          </a:prstGeom>
          <a:noFill/>
          <a:ln w="19050">
            <a:solidFill>
              <a:srgbClr val="5E6B67"/>
            </a:solidFill>
            <a:prstDash val="solid"/>
            <a:headEnd type="triangle"/>
            <a:tailEnd type="triangle"/>
          </a:ln>
        </p:spPr>
      </p:sp>
      <p:sp>
        <p:nvSpPr>
          <p:cNvPr id="17" name="Shape 15"/>
          <p:cNvSpPr/>
          <p:nvPr/>
        </p:nvSpPr>
        <p:spPr>
          <a:xfrm>
            <a:off x="7813548" y="4069080"/>
            <a:ext cx="461772" cy="914"/>
          </a:xfrm>
          <a:prstGeom prst="line">
            <a:avLst/>
          </a:prstGeom>
          <a:noFill/>
          <a:ln w="19050">
            <a:solidFill>
              <a:srgbClr val="5E6B67"/>
            </a:solidFill>
            <a:prstDash val="solid"/>
            <a:tailEnd type="triangle"/>
          </a:ln>
        </p:spPr>
      </p:sp>
      <p:sp>
        <p:nvSpPr>
          <p:cNvPr id="18" name="Text 16"/>
          <p:cNvSpPr txBox="1"/>
          <p:nvPr/>
        </p:nvSpPr>
        <p:spPr>
          <a:xfrm>
            <a:off x="6204204" y="2990088"/>
            <a:ext cx="2194560" cy="411480"/>
          </a:xfrm>
          <a:prstGeom prst="rect">
            <a:avLst/>
          </a:prstGeom>
          <a:noFill/>
          <a:ln/>
        </p:spPr>
        <p:txBody>
          <a:bodyPr wrap="square" lIns="0" tIns="0" rIns="0" bIns="0" rtlCol="0" anchor="ctr"/>
          <a:lstStyle/>
          <a:p>
            <a:pPr marL="0" indent="0">
              <a:buNone/>
            </a:pPr>
            <a:r>
              <a:rPr lang="en-US" sz="1000" i="1" dirty="0">
                <a:solidFill>
                  <a:srgbClr val="5E6B67"/>
                </a:solidFill>
                <a:latin typeface="Poppins" pitchFamily="34" charset="0"/>
                <a:ea typeface="Poppins" pitchFamily="34" charset="-122"/>
                <a:cs typeface="Poppins" pitchFamily="34" charset="-120"/>
              </a:rPr>
              <a:t>match request / result</a:t>
            </a:r>
            <a:endParaRPr lang="en-US" sz="1000" dirty="0"/>
          </a:p>
        </p:txBody>
      </p:sp>
      <p:sp>
        <p:nvSpPr>
          <p:cNvPr id="19" name="Text 17"/>
          <p:cNvSpPr txBox="1"/>
          <p:nvPr/>
        </p:nvSpPr>
        <p:spPr>
          <a:xfrm>
            <a:off x="548640" y="3520440"/>
            <a:ext cx="3291840" cy="1097280"/>
          </a:xfrm>
          <a:prstGeom prst="rect">
            <a:avLst/>
          </a:prstGeom>
          <a:noFill/>
          <a:ln/>
        </p:spPr>
        <p:txBody>
          <a:bodyPr wrap="square" lIns="0" tIns="0" rIns="0" bIns="0" rtlCol="0" anchor="ctr"/>
          <a:lstStyle/>
          <a:p>
            <a:pPr marL="0" indent="0">
              <a:spcAft>
                <a:spcPts val="300"/>
              </a:spcAft>
              <a:buNone/>
            </a:pPr>
            <a:r>
              <a:rPr lang="en-US" sz="1100" dirty="0">
                <a:solidFill>
                  <a:srgbClr val="14211F"/>
                </a:solidFill>
                <a:latin typeface="Poppins SemiBold" pitchFamily="34" charset="0"/>
                <a:ea typeface="Poppins SemiBold" pitchFamily="34" charset="-122"/>
                <a:cs typeface="Poppins SemiBold" pitchFamily="34" charset="-120"/>
              </a:rPr>
              <a:t>Stack</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Leaflet + OpenStreetMap maps</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JWT in httpOnly cookies</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Flyway migrations, 22 so far</a:t>
            </a:r>
            <a:endParaRPr lang="en-US" sz="1100" dirty="0"/>
          </a:p>
        </p:txBody>
      </p:sp>
      <p:sp>
        <p:nvSpPr>
          <p:cNvPr id="20" name="Text 18"/>
          <p:cNvSpPr txBox="1"/>
          <p:nvPr/>
        </p:nvSpPr>
        <p:spPr>
          <a:xfrm>
            <a:off x="548640" y="5001768"/>
            <a:ext cx="11094415" cy="384048"/>
          </a:xfrm>
          <a:prstGeom prst="rect">
            <a:avLst/>
          </a:prstGeom>
          <a:noFill/>
          <a:ln/>
        </p:spPr>
        <p:txBody>
          <a:bodyPr wrap="square" lIns="0" tIns="0" rIns="0" bIns="0" rtlCol="0" anchor="t"/>
          <a:lstStyle/>
          <a:p>
            <a:pPr marL="0" indent="0">
              <a:buNone/>
            </a:pPr>
            <a:r>
              <a:rPr lang="en-US" sz="1800" b="1" dirty="0">
                <a:solidFill>
                  <a:srgbClr val="14211F"/>
                </a:solidFill>
                <a:latin typeface="Playfair Display" pitchFamily="34" charset="0"/>
                <a:ea typeface="Playfair Display" pitchFamily="34" charset="-122"/>
                <a:cs typeface="Playfair Display" pitchFamily="34" charset="-120"/>
              </a:rPr>
              <a:t>Built so a citizen never waits</a:t>
            </a:r>
            <a:endParaRPr lang="en-US" sz="1800" dirty="0"/>
          </a:p>
        </p:txBody>
      </p:sp>
      <p:sp>
        <p:nvSpPr>
          <p:cNvPr id="21" name="Text 19"/>
          <p:cNvSpPr txBox="1"/>
          <p:nvPr/>
        </p:nvSpPr>
        <p:spPr>
          <a:xfrm>
            <a:off x="548640"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Save first</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The complaint is stored and answered at once. Matching runs afterwards.</a:t>
            </a:r>
            <a:endParaRPr lang="en-US" sz="1100" dirty="0"/>
          </a:p>
        </p:txBody>
      </p:sp>
      <p:sp>
        <p:nvSpPr>
          <p:cNvPr id="22" name="Text 20"/>
          <p:cNvSpPr txBox="1"/>
          <p:nvPr/>
        </p:nvSpPr>
        <p:spPr>
          <a:xfrm>
            <a:off x="4448556"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Fall back</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If the AI service is down, a circuit breaker groups by ward and category, and marks it.</a:t>
            </a:r>
            <a:endParaRPr lang="en-US" sz="1100" dirty="0"/>
          </a:p>
        </p:txBody>
      </p:sp>
      <p:sp>
        <p:nvSpPr>
          <p:cNvPr id="23" name="Text 21"/>
          <p:cNvSpPr txBox="1"/>
          <p:nvPr/>
        </p:nvSpPr>
        <p:spPr>
          <a:xfrm>
            <a:off x="8348472"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Repair</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A sweep re-runs those matches when the AI service recovers.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04  SMART GROUPING</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Grouped by meaning, checked by distance</a:t>
            </a:r>
            <a:endParaRPr lang="en-US" sz="3400" dirty="0"/>
          </a:p>
        </p:txBody>
      </p:sp>
      <p:sp>
        <p:nvSpPr>
          <p:cNvPr id="4" name="icon-bg LuLayers"/>
          <p:cNvSpPr/>
          <p:nvPr/>
        </p:nvSpPr>
        <p:spPr>
          <a:xfrm>
            <a:off x="548640" y="1783080"/>
            <a:ext cx="548640" cy="548640"/>
          </a:xfrm>
          <a:prstGeom prst="ellipse">
            <a:avLst/>
          </a:prstGeom>
          <a:solidFill>
            <a:srgbClr val="DCE8E8"/>
          </a:solidFill>
          <a:ln w="12700">
            <a:solidFill>
              <a:srgbClr val="DCE8E8"/>
            </a:solidFill>
            <a:prstDash val="solid"/>
          </a:ln>
        </p:spPr>
      </p:sp>
      <p:pic>
        <p:nvPicPr>
          <p:cNvPr id="5" name="icon LuLayers" descr="preencoded.png"/>
          <p:cNvPicPr>
            <a:picLocks noChangeAspect="1"/>
          </p:cNvPicPr>
          <p:nvPr/>
        </p:nvPicPr>
        <p:blipFill>
          <a:blip r:embed="rId3"/>
          <a:stretch>
            <a:fillRect/>
          </a:stretch>
        </p:blipFill>
        <p:spPr>
          <a:xfrm>
            <a:off x="685800" y="1920240"/>
            <a:ext cx="274320" cy="274320"/>
          </a:xfrm>
          <a:prstGeom prst="rect">
            <a:avLst/>
          </a:prstGeom>
        </p:spPr>
      </p:pic>
      <p:sp>
        <p:nvSpPr>
          <p:cNvPr id="6" name="Text 3"/>
          <p:cNvSpPr txBox="1"/>
          <p:nvPr/>
        </p:nvSpPr>
        <p:spPr>
          <a:xfrm>
            <a:off x="1325880" y="175564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Same ward and category</a:t>
            </a:r>
            <a:endParaRPr lang="en-US" sz="1400" dirty="0"/>
          </a:p>
        </p:txBody>
      </p:sp>
      <p:sp>
        <p:nvSpPr>
          <p:cNvPr id="7" name="Text 4"/>
          <p:cNvSpPr txBox="1"/>
          <p:nvPr/>
        </p:nvSpPr>
        <p:spPr>
          <a:xfrm>
            <a:off x="1325880" y="208483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Hard filter. Meaning never crosses a category.</a:t>
            </a:r>
            <a:endParaRPr lang="en-US" sz="1200" dirty="0"/>
          </a:p>
        </p:txBody>
      </p:sp>
      <p:sp>
        <p:nvSpPr>
          <p:cNvPr id="8" name="icon-bg LuSparkles"/>
          <p:cNvSpPr/>
          <p:nvPr/>
        </p:nvSpPr>
        <p:spPr>
          <a:xfrm>
            <a:off x="548640" y="2743200"/>
            <a:ext cx="548640" cy="548640"/>
          </a:xfrm>
          <a:prstGeom prst="ellipse">
            <a:avLst/>
          </a:prstGeom>
          <a:solidFill>
            <a:srgbClr val="DCE8E8"/>
          </a:solidFill>
          <a:ln w="12700">
            <a:solidFill>
              <a:srgbClr val="DCE8E8"/>
            </a:solidFill>
            <a:prstDash val="solid"/>
          </a:ln>
        </p:spPr>
      </p:sp>
      <p:pic>
        <p:nvPicPr>
          <p:cNvPr id="9" name="icon LuSparkles" descr="preencoded.png"/>
          <p:cNvPicPr>
            <a:picLocks noChangeAspect="1"/>
          </p:cNvPicPr>
          <p:nvPr/>
        </p:nvPicPr>
        <p:blipFill>
          <a:blip r:embed="rId4"/>
          <a:stretch>
            <a:fillRect/>
          </a:stretch>
        </p:blipFill>
        <p:spPr>
          <a:xfrm>
            <a:off x="685800" y="2880360"/>
            <a:ext cx="274320" cy="274320"/>
          </a:xfrm>
          <a:prstGeom prst="rect">
            <a:avLst/>
          </a:prstGeom>
        </p:spPr>
      </p:pic>
      <p:sp>
        <p:nvSpPr>
          <p:cNvPr id="10" name="Text 6"/>
          <p:cNvSpPr txBox="1"/>
          <p:nvPr/>
        </p:nvSpPr>
        <p:spPr>
          <a:xfrm>
            <a:off x="1325880" y="271576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Similar meaning, at least 0.84</a:t>
            </a:r>
            <a:endParaRPr lang="en-US" sz="1400" dirty="0"/>
          </a:p>
        </p:txBody>
      </p:sp>
      <p:sp>
        <p:nvSpPr>
          <p:cNvPr id="11" name="Text 7"/>
          <p:cNvSpPr txBox="1"/>
          <p:nvPr/>
        </p:nvSpPr>
        <p:spPr>
          <a:xfrm>
            <a:off x="1325880" y="304495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Cosine similarity to the closest report already in the incident.</a:t>
            </a:r>
            <a:endParaRPr lang="en-US" sz="1200" dirty="0"/>
          </a:p>
        </p:txBody>
      </p:sp>
      <p:sp>
        <p:nvSpPr>
          <p:cNvPr id="12" name="icon-bg LuRuler"/>
          <p:cNvSpPr/>
          <p:nvPr/>
        </p:nvSpPr>
        <p:spPr>
          <a:xfrm>
            <a:off x="548640" y="3703320"/>
            <a:ext cx="548640" cy="548640"/>
          </a:xfrm>
          <a:prstGeom prst="ellipse">
            <a:avLst/>
          </a:prstGeom>
          <a:solidFill>
            <a:srgbClr val="DCE8E8"/>
          </a:solidFill>
          <a:ln w="12700">
            <a:solidFill>
              <a:srgbClr val="DCE8E8"/>
            </a:solidFill>
            <a:prstDash val="solid"/>
          </a:ln>
        </p:spPr>
      </p:sp>
      <p:pic>
        <p:nvPicPr>
          <p:cNvPr id="13" name="icon LuRuler" descr="preencoded.png"/>
          <p:cNvPicPr>
            <a:picLocks noChangeAspect="1"/>
          </p:cNvPicPr>
          <p:nvPr/>
        </p:nvPicPr>
        <p:blipFill>
          <a:blip r:embed="rId5"/>
          <a:stretch>
            <a:fillRect/>
          </a:stretch>
        </p:blipFill>
        <p:spPr>
          <a:xfrm>
            <a:off x="685800" y="3840480"/>
            <a:ext cx="274320" cy="274320"/>
          </a:xfrm>
          <a:prstGeom prst="rect">
            <a:avLst/>
          </a:prstGeom>
        </p:spPr>
      </p:pic>
      <p:sp>
        <p:nvSpPr>
          <p:cNvPr id="14" name="Text 9"/>
          <p:cNvSpPr txBox="1"/>
          <p:nvPr/>
        </p:nvSpPr>
        <p:spPr>
          <a:xfrm>
            <a:off x="1325880" y="367588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Within 500 m</a:t>
            </a:r>
            <a:endParaRPr lang="en-US" sz="1400" dirty="0"/>
          </a:p>
        </p:txBody>
      </p:sp>
      <p:sp>
        <p:nvSpPr>
          <p:cNvPr id="15" name="Text 10"/>
          <p:cNvSpPr txBox="1"/>
          <p:nvPr/>
        </p:nvSpPr>
        <p:spPr>
          <a:xfrm>
            <a:off x="1325880" y="400507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Same words a street away is a different fault.</a:t>
            </a:r>
            <a:endParaRPr lang="en-US" sz="1200" dirty="0"/>
          </a:p>
        </p:txBody>
      </p:sp>
      <p:sp>
        <p:nvSpPr>
          <p:cNvPr id="16" name="stat card"/>
          <p:cNvSpPr/>
          <p:nvPr/>
        </p:nvSpPr>
        <p:spPr>
          <a:xfrm>
            <a:off x="548640" y="4800600"/>
            <a:ext cx="4937760" cy="1325880"/>
          </a:xfrm>
          <a:prstGeom prst="roundRect">
            <a:avLst>
              <a:gd name="adj" fmla="val 6897"/>
            </a:avLst>
          </a:prstGeom>
          <a:solidFill>
            <a:srgbClr val="F3F6F4"/>
          </a:solidFill>
          <a:ln w="12700">
            <a:solidFill>
              <a:srgbClr val="F3F6F4"/>
            </a:solidFill>
            <a:prstDash val="solid"/>
          </a:ln>
        </p:spPr>
      </p:sp>
      <p:sp>
        <p:nvSpPr>
          <p:cNvPr id="17" name="Text 12"/>
          <p:cNvSpPr txBox="1"/>
          <p:nvPr/>
        </p:nvSpPr>
        <p:spPr>
          <a:xfrm>
            <a:off x="822960" y="4846320"/>
            <a:ext cx="4480560" cy="731520"/>
          </a:xfrm>
          <a:prstGeom prst="rect">
            <a:avLst/>
          </a:prstGeom>
          <a:noFill/>
          <a:ln/>
        </p:spPr>
        <p:txBody>
          <a:bodyPr wrap="square" lIns="0" tIns="0" rIns="0" bIns="0" rtlCol="0" anchor="ctr"/>
          <a:lstStyle/>
          <a:p>
            <a:pPr marL="0" indent="0">
              <a:buNone/>
            </a:pPr>
            <a:r>
              <a:rPr lang="en-US" sz="3000" dirty="0">
                <a:solidFill>
                  <a:srgbClr val="5E6B67"/>
                </a:solidFill>
                <a:latin typeface="Playfair Display" pitchFamily="34" charset="0"/>
                <a:ea typeface="Playfair Display" pitchFamily="34" charset="-122"/>
                <a:cs typeface="Playfair Display" pitchFamily="34" charset="-120"/>
              </a:rPr>
              <a:t>55%</a:t>
            </a:r>
            <a:r>
              <a:rPr lang="en-US" sz="2200" dirty="0">
                <a:solidFill>
                  <a:srgbClr val="5E6B67"/>
                </a:solidFill>
                <a:latin typeface="Poppins" pitchFamily="34" charset="0"/>
                <a:ea typeface="Poppins" pitchFamily="34" charset="-122"/>
                <a:cs typeface="Poppins" pitchFamily="34" charset="-120"/>
              </a:rPr>
              <a:t>  →  </a:t>
            </a:r>
            <a:r>
              <a:rPr lang="en-US" sz="4400" b="1" dirty="0">
                <a:solidFill>
                  <a:srgbClr val="17494D"/>
                </a:solidFill>
                <a:latin typeface="Playfair Display" pitchFamily="34" charset="0"/>
                <a:ea typeface="Playfair Display" pitchFamily="34" charset="-122"/>
                <a:cs typeface="Playfair Display" pitchFamily="34" charset="-120"/>
              </a:rPr>
              <a:t>95%</a:t>
            </a:r>
            <a:endParaRPr lang="en-US" sz="3000" dirty="0"/>
          </a:p>
        </p:txBody>
      </p:sp>
      <p:sp>
        <p:nvSpPr>
          <p:cNvPr id="18" name="Text 13"/>
          <p:cNvSpPr txBox="1"/>
          <p:nvPr/>
        </p:nvSpPr>
        <p:spPr>
          <a:xfrm>
            <a:off x="822960" y="5532120"/>
            <a:ext cx="448056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of real grouping decisions correct: at the old 0.75 threshold, then at 0.84 with the 500 m check</a:t>
            </a:r>
            <a:endParaRPr lang="en-US" sz="1100" dirty="0"/>
          </a:p>
        </p:txBody>
      </p:sp>
      <p:graphicFrame>
        <p:nvGraphicFramePr>
          <p:cNvPr id="19" name="Chart 0"/>
          <p:cNvGraphicFramePr/>
          <p:nvPr/>
        </p:nvGraphicFramePr>
        <p:xfrm>
          <a:off x="5943600" y="1691640"/>
          <a:ext cx="5715000" cy="402336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 14"/>
          <p:cNvSpPr txBox="1"/>
          <p:nvPr/>
        </p:nvSpPr>
        <p:spPr>
          <a:xfrm>
            <a:off x="6126480" y="5760720"/>
            <a:ext cx="5486400" cy="41148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At 0.75 every pool merged into one incident. </a:t>
            </a:r>
            <a:r>
              <a:rPr lang="en-US" sz="1100" dirty="0">
                <a:solidFill>
                  <a:srgbClr val="14211F"/>
                </a:solidFill>
                <a:latin typeface="Poppins SemiBold" pitchFamily="34" charset="0"/>
                <a:ea typeface="Poppins SemiBold" pitchFamily="34" charset="-122"/>
                <a:cs typeface="Poppins SemiBold" pitchFamily="34" charset="-120"/>
              </a:rPr>
              <a:t>0.84 keeps recall above 94% and lifts precision to 62%.</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05  EXPLAINABLE PRIORITY</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A score that shows its working</a:t>
            </a:r>
            <a:endParaRPr lang="en-US" sz="3400" dirty="0"/>
          </a:p>
        </p:txBody>
      </p:sp>
      <p:sp>
        <p:nvSpPr>
          <p:cNvPr id="4" name="weight Volume"/>
          <p:cNvSpPr/>
          <p:nvPr/>
        </p:nvSpPr>
        <p:spPr>
          <a:xfrm>
            <a:off x="548640" y="1874520"/>
            <a:ext cx="2377440" cy="640080"/>
          </a:xfrm>
          <a:prstGeom prst="rect">
            <a:avLst/>
          </a:prstGeom>
          <a:solidFill>
            <a:srgbClr val="123E42"/>
          </a:solidFill>
          <a:ln w="12700">
            <a:solidFill>
              <a:srgbClr val="123E42"/>
            </a:solidFill>
            <a:prstDash val="solid"/>
          </a:ln>
        </p:spPr>
      </p:sp>
      <p:sp>
        <p:nvSpPr>
          <p:cNvPr id="5" name="Text 3"/>
          <p:cNvSpPr txBox="1"/>
          <p:nvPr/>
        </p:nvSpPr>
        <p:spPr>
          <a:xfrm>
            <a:off x="548640" y="1874520"/>
            <a:ext cx="2377440"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40%</a:t>
            </a:r>
            <a:endParaRPr lang="en-US" sz="1500" dirty="0"/>
          </a:p>
        </p:txBody>
      </p:sp>
      <p:sp>
        <p:nvSpPr>
          <p:cNvPr id="6" name="weight Growth"/>
          <p:cNvSpPr/>
          <p:nvPr/>
        </p:nvSpPr>
        <p:spPr>
          <a:xfrm>
            <a:off x="2962656" y="1874520"/>
            <a:ext cx="1773936" cy="640080"/>
          </a:xfrm>
          <a:prstGeom prst="rect">
            <a:avLst/>
          </a:prstGeom>
          <a:solidFill>
            <a:srgbClr val="295B5E"/>
          </a:solidFill>
          <a:ln w="12700">
            <a:solidFill>
              <a:srgbClr val="295B5E"/>
            </a:solidFill>
            <a:prstDash val="solid"/>
          </a:ln>
        </p:spPr>
      </p:sp>
      <p:sp>
        <p:nvSpPr>
          <p:cNvPr id="7" name="Text 5"/>
          <p:cNvSpPr txBox="1"/>
          <p:nvPr/>
        </p:nvSpPr>
        <p:spPr>
          <a:xfrm>
            <a:off x="2962656" y="1874520"/>
            <a:ext cx="1773936"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30%</a:t>
            </a:r>
            <a:endParaRPr lang="en-US" sz="1500" dirty="0"/>
          </a:p>
        </p:txBody>
      </p:sp>
      <p:sp>
        <p:nvSpPr>
          <p:cNvPr id="8" name="weight Age"/>
          <p:cNvSpPr/>
          <p:nvPr/>
        </p:nvSpPr>
        <p:spPr>
          <a:xfrm>
            <a:off x="4773168" y="1874520"/>
            <a:ext cx="1170432" cy="640080"/>
          </a:xfrm>
          <a:prstGeom prst="rect">
            <a:avLst/>
          </a:prstGeom>
          <a:solidFill>
            <a:srgbClr val="437778"/>
          </a:solidFill>
          <a:ln w="12700">
            <a:solidFill>
              <a:srgbClr val="437778"/>
            </a:solidFill>
            <a:prstDash val="solid"/>
          </a:ln>
        </p:spPr>
      </p:sp>
      <p:sp>
        <p:nvSpPr>
          <p:cNvPr id="9" name="Text 7"/>
          <p:cNvSpPr txBox="1"/>
          <p:nvPr/>
        </p:nvSpPr>
        <p:spPr>
          <a:xfrm>
            <a:off x="4773168" y="1874520"/>
            <a:ext cx="1170432"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20%</a:t>
            </a:r>
            <a:endParaRPr lang="en-US" sz="1500" dirty="0"/>
          </a:p>
        </p:txBody>
      </p:sp>
      <p:sp>
        <p:nvSpPr>
          <p:cNvPr id="10" name="weight Spread"/>
          <p:cNvSpPr/>
          <p:nvPr/>
        </p:nvSpPr>
        <p:spPr>
          <a:xfrm>
            <a:off x="5980176" y="1874520"/>
            <a:ext cx="566928" cy="640080"/>
          </a:xfrm>
          <a:prstGeom prst="rect">
            <a:avLst/>
          </a:prstGeom>
          <a:solidFill>
            <a:srgbClr val="639797"/>
          </a:solidFill>
          <a:ln w="12700">
            <a:solidFill>
              <a:srgbClr val="639797"/>
            </a:solidFill>
            <a:prstDash val="solid"/>
          </a:ln>
        </p:spPr>
      </p:sp>
      <p:sp>
        <p:nvSpPr>
          <p:cNvPr id="11" name="Text 9"/>
          <p:cNvSpPr txBox="1"/>
          <p:nvPr/>
        </p:nvSpPr>
        <p:spPr>
          <a:xfrm>
            <a:off x="5980176" y="1874520"/>
            <a:ext cx="566928"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10%</a:t>
            </a:r>
            <a:endParaRPr lang="en-US" sz="1500" dirty="0"/>
          </a:p>
        </p:txBody>
      </p:sp>
      <p:sp>
        <p:nvSpPr>
          <p:cNvPr id="12" name="Shape 10"/>
          <p:cNvSpPr/>
          <p:nvPr/>
        </p:nvSpPr>
        <p:spPr>
          <a:xfrm>
            <a:off x="548640" y="2825496"/>
            <a:ext cx="164592" cy="164592"/>
          </a:xfrm>
          <a:prstGeom prst="rect">
            <a:avLst/>
          </a:prstGeom>
          <a:solidFill>
            <a:srgbClr val="123E42"/>
          </a:solidFill>
          <a:ln w="12700">
            <a:solidFill>
              <a:srgbClr val="123E42"/>
            </a:solidFill>
            <a:prstDash val="solid"/>
          </a:ln>
        </p:spPr>
      </p:sp>
      <p:sp>
        <p:nvSpPr>
          <p:cNvPr id="13" name="Text 11"/>
          <p:cNvSpPr txBox="1"/>
          <p:nvPr/>
        </p:nvSpPr>
        <p:spPr>
          <a:xfrm>
            <a:off x="841248" y="274320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Volume</a:t>
            </a:r>
            <a:endParaRPr lang="en-US" sz="1300" dirty="0"/>
          </a:p>
        </p:txBody>
      </p:sp>
      <p:sp>
        <p:nvSpPr>
          <p:cNvPr id="14" name="Text 12"/>
          <p:cNvSpPr txBox="1"/>
          <p:nvPr/>
        </p:nvSpPr>
        <p:spPr>
          <a:xfrm>
            <a:off x="841248" y="304495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How many reports, full at 25</a:t>
            </a:r>
            <a:endParaRPr lang="en-US" sz="1100" dirty="0"/>
          </a:p>
        </p:txBody>
      </p:sp>
      <p:sp>
        <p:nvSpPr>
          <p:cNvPr id="15" name="Shape 13"/>
          <p:cNvSpPr/>
          <p:nvPr/>
        </p:nvSpPr>
        <p:spPr>
          <a:xfrm>
            <a:off x="3611880" y="2825496"/>
            <a:ext cx="164592" cy="164592"/>
          </a:xfrm>
          <a:prstGeom prst="rect">
            <a:avLst/>
          </a:prstGeom>
          <a:solidFill>
            <a:srgbClr val="295B5E"/>
          </a:solidFill>
          <a:ln w="12700">
            <a:solidFill>
              <a:srgbClr val="295B5E"/>
            </a:solidFill>
            <a:prstDash val="solid"/>
          </a:ln>
        </p:spPr>
      </p:sp>
      <p:sp>
        <p:nvSpPr>
          <p:cNvPr id="16" name="Text 14"/>
          <p:cNvSpPr txBox="1"/>
          <p:nvPr/>
        </p:nvSpPr>
        <p:spPr>
          <a:xfrm>
            <a:off x="3904488" y="274320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Growth</a:t>
            </a:r>
            <a:endParaRPr lang="en-US" sz="1300" dirty="0"/>
          </a:p>
        </p:txBody>
      </p:sp>
      <p:sp>
        <p:nvSpPr>
          <p:cNvPr id="17" name="Text 15"/>
          <p:cNvSpPr txBox="1"/>
          <p:nvPr/>
        </p:nvSpPr>
        <p:spPr>
          <a:xfrm>
            <a:off x="3904488" y="304495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New reports in 24 h, full at 5</a:t>
            </a:r>
            <a:endParaRPr lang="en-US" sz="1100" dirty="0"/>
          </a:p>
        </p:txBody>
      </p:sp>
      <p:sp>
        <p:nvSpPr>
          <p:cNvPr id="18" name="Shape 16"/>
          <p:cNvSpPr/>
          <p:nvPr/>
        </p:nvSpPr>
        <p:spPr>
          <a:xfrm>
            <a:off x="548640" y="3602736"/>
            <a:ext cx="164592" cy="164592"/>
          </a:xfrm>
          <a:prstGeom prst="rect">
            <a:avLst/>
          </a:prstGeom>
          <a:solidFill>
            <a:srgbClr val="437778"/>
          </a:solidFill>
          <a:ln w="12700">
            <a:solidFill>
              <a:srgbClr val="437778"/>
            </a:solidFill>
            <a:prstDash val="solid"/>
          </a:ln>
        </p:spPr>
      </p:sp>
      <p:sp>
        <p:nvSpPr>
          <p:cNvPr id="19" name="Text 17"/>
          <p:cNvSpPr txBox="1"/>
          <p:nvPr/>
        </p:nvSpPr>
        <p:spPr>
          <a:xfrm>
            <a:off x="841248" y="352044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Age</a:t>
            </a:r>
            <a:endParaRPr lang="en-US" sz="1300" dirty="0"/>
          </a:p>
        </p:txBody>
      </p:sp>
      <p:sp>
        <p:nvSpPr>
          <p:cNvPr id="20" name="Text 18"/>
          <p:cNvSpPr txBox="1"/>
          <p:nvPr/>
        </p:nvSpPr>
        <p:spPr>
          <a:xfrm>
            <a:off x="841248" y="382219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Days since first report, full at 30</a:t>
            </a:r>
            <a:endParaRPr lang="en-US" sz="1100" dirty="0"/>
          </a:p>
        </p:txBody>
      </p:sp>
      <p:sp>
        <p:nvSpPr>
          <p:cNvPr id="21" name="Shape 19"/>
          <p:cNvSpPr/>
          <p:nvPr/>
        </p:nvSpPr>
        <p:spPr>
          <a:xfrm>
            <a:off x="3611880" y="3602736"/>
            <a:ext cx="164592" cy="164592"/>
          </a:xfrm>
          <a:prstGeom prst="rect">
            <a:avLst/>
          </a:prstGeom>
          <a:solidFill>
            <a:srgbClr val="639797"/>
          </a:solidFill>
          <a:ln w="12700">
            <a:solidFill>
              <a:srgbClr val="639797"/>
            </a:solidFill>
            <a:prstDash val="solid"/>
          </a:ln>
        </p:spPr>
      </p:sp>
      <p:sp>
        <p:nvSpPr>
          <p:cNvPr id="22" name="Text 20"/>
          <p:cNvSpPr txBox="1"/>
          <p:nvPr/>
        </p:nvSpPr>
        <p:spPr>
          <a:xfrm>
            <a:off x="3904488" y="352044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Spread</a:t>
            </a:r>
            <a:endParaRPr lang="en-US" sz="1300" dirty="0"/>
          </a:p>
        </p:txBody>
      </p:sp>
      <p:sp>
        <p:nvSpPr>
          <p:cNvPr id="23" name="Text 21"/>
          <p:cNvSpPr txBox="1"/>
          <p:nvPr/>
        </p:nvSpPr>
        <p:spPr>
          <a:xfrm>
            <a:off x="3904488" y="382219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Distance between reports, full at 1 km</a:t>
            </a:r>
            <a:endParaRPr lang="en-US" sz="1100" dirty="0"/>
          </a:p>
        </p:txBody>
      </p:sp>
      <p:sp>
        <p:nvSpPr>
          <p:cNvPr id="24" name="Text 22"/>
          <p:cNvSpPr txBox="1"/>
          <p:nvPr/>
        </p:nvSpPr>
        <p:spPr>
          <a:xfrm>
            <a:off x="548640" y="4434840"/>
            <a:ext cx="3657600" cy="320040"/>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Score 0–10, banded</a:t>
            </a:r>
            <a:endParaRPr lang="en-US" sz="1300" dirty="0"/>
          </a:p>
        </p:txBody>
      </p:sp>
      <p:sp>
        <p:nvSpPr>
          <p:cNvPr id="25" name="band Low"/>
          <p:cNvSpPr/>
          <p:nvPr/>
        </p:nvSpPr>
        <p:spPr>
          <a:xfrm>
            <a:off x="548640" y="4846320"/>
            <a:ext cx="1773936" cy="457200"/>
          </a:xfrm>
          <a:prstGeom prst="rect">
            <a:avLst/>
          </a:prstGeom>
          <a:solidFill>
            <a:srgbClr val="7C9A92"/>
          </a:solidFill>
          <a:ln w="12700">
            <a:solidFill>
              <a:srgbClr val="7C9A92"/>
            </a:solidFill>
            <a:prstDash val="solid"/>
          </a:ln>
        </p:spPr>
      </p:sp>
      <p:sp>
        <p:nvSpPr>
          <p:cNvPr id="26" name="Text 24"/>
          <p:cNvSpPr txBox="1"/>
          <p:nvPr/>
        </p:nvSpPr>
        <p:spPr>
          <a:xfrm>
            <a:off x="548640" y="4846320"/>
            <a:ext cx="1773936"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Low</a:t>
            </a:r>
            <a:endParaRPr lang="en-US" sz="1200" dirty="0"/>
          </a:p>
        </p:txBody>
      </p:sp>
      <p:sp>
        <p:nvSpPr>
          <p:cNvPr id="27" name="band Medium"/>
          <p:cNvSpPr/>
          <p:nvPr/>
        </p:nvSpPr>
        <p:spPr>
          <a:xfrm>
            <a:off x="2359152" y="4846320"/>
            <a:ext cx="1472184" cy="457200"/>
          </a:xfrm>
          <a:prstGeom prst="rect">
            <a:avLst/>
          </a:prstGeom>
          <a:solidFill>
            <a:srgbClr val="B8862B"/>
          </a:solidFill>
          <a:ln w="12700">
            <a:solidFill>
              <a:srgbClr val="B8862B"/>
            </a:solidFill>
            <a:prstDash val="solid"/>
          </a:ln>
        </p:spPr>
      </p:sp>
      <p:sp>
        <p:nvSpPr>
          <p:cNvPr id="28" name="Text 26"/>
          <p:cNvSpPr txBox="1"/>
          <p:nvPr/>
        </p:nvSpPr>
        <p:spPr>
          <a:xfrm>
            <a:off x="2359152" y="4846320"/>
            <a:ext cx="1472184"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Medium</a:t>
            </a:r>
            <a:endParaRPr lang="en-US" sz="1200" dirty="0"/>
          </a:p>
        </p:txBody>
      </p:sp>
      <p:sp>
        <p:nvSpPr>
          <p:cNvPr id="29" name="band High"/>
          <p:cNvSpPr/>
          <p:nvPr/>
        </p:nvSpPr>
        <p:spPr>
          <a:xfrm>
            <a:off x="3867912" y="4846320"/>
            <a:ext cx="1170432" cy="457200"/>
          </a:xfrm>
          <a:prstGeom prst="rect">
            <a:avLst/>
          </a:prstGeom>
          <a:solidFill>
            <a:srgbClr val="C0562A"/>
          </a:solidFill>
          <a:ln w="12700">
            <a:solidFill>
              <a:srgbClr val="C0562A"/>
            </a:solidFill>
            <a:prstDash val="solid"/>
          </a:ln>
        </p:spPr>
      </p:sp>
      <p:sp>
        <p:nvSpPr>
          <p:cNvPr id="30" name="Text 28"/>
          <p:cNvSpPr txBox="1"/>
          <p:nvPr/>
        </p:nvSpPr>
        <p:spPr>
          <a:xfrm>
            <a:off x="3867912" y="4846320"/>
            <a:ext cx="1170432"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High</a:t>
            </a:r>
            <a:endParaRPr lang="en-US" sz="1200" dirty="0"/>
          </a:p>
        </p:txBody>
      </p:sp>
      <p:sp>
        <p:nvSpPr>
          <p:cNvPr id="31" name="band Critical"/>
          <p:cNvSpPr/>
          <p:nvPr/>
        </p:nvSpPr>
        <p:spPr>
          <a:xfrm>
            <a:off x="5074920" y="4846320"/>
            <a:ext cx="1472184" cy="457200"/>
          </a:xfrm>
          <a:prstGeom prst="rect">
            <a:avLst/>
          </a:prstGeom>
          <a:solidFill>
            <a:srgbClr val="8E1F16"/>
          </a:solidFill>
          <a:ln w="12700">
            <a:solidFill>
              <a:srgbClr val="8E1F16"/>
            </a:solidFill>
            <a:prstDash val="solid"/>
          </a:ln>
        </p:spPr>
      </p:sp>
      <p:sp>
        <p:nvSpPr>
          <p:cNvPr id="32" name="Text 30"/>
          <p:cNvSpPr txBox="1"/>
          <p:nvPr/>
        </p:nvSpPr>
        <p:spPr>
          <a:xfrm>
            <a:off x="5074920" y="4846320"/>
            <a:ext cx="1472184"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Critical</a:t>
            </a:r>
            <a:endParaRPr lang="en-US" sz="1200" dirty="0"/>
          </a:p>
        </p:txBody>
      </p:sp>
      <p:sp>
        <p:nvSpPr>
          <p:cNvPr id="33" name="Text 31"/>
          <p:cNvSpPr txBox="1"/>
          <p:nvPr/>
        </p:nvSpPr>
        <p:spPr>
          <a:xfrm>
            <a:off x="27432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0</a:t>
            </a:r>
            <a:endParaRPr lang="en-US" sz="1000" dirty="0"/>
          </a:p>
        </p:txBody>
      </p:sp>
      <p:sp>
        <p:nvSpPr>
          <p:cNvPr id="34" name="Text 32"/>
          <p:cNvSpPr txBox="1"/>
          <p:nvPr/>
        </p:nvSpPr>
        <p:spPr>
          <a:xfrm>
            <a:off x="2084832"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3.0</a:t>
            </a:r>
            <a:endParaRPr lang="en-US" sz="1000" dirty="0"/>
          </a:p>
        </p:txBody>
      </p:sp>
      <p:sp>
        <p:nvSpPr>
          <p:cNvPr id="35" name="Text 33"/>
          <p:cNvSpPr txBox="1"/>
          <p:nvPr/>
        </p:nvSpPr>
        <p:spPr>
          <a:xfrm>
            <a:off x="3593592"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5.5</a:t>
            </a:r>
            <a:endParaRPr lang="en-US" sz="1000" dirty="0"/>
          </a:p>
        </p:txBody>
      </p:sp>
      <p:sp>
        <p:nvSpPr>
          <p:cNvPr id="36" name="Text 34"/>
          <p:cNvSpPr txBox="1"/>
          <p:nvPr/>
        </p:nvSpPr>
        <p:spPr>
          <a:xfrm>
            <a:off x="480060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7.5</a:t>
            </a:r>
            <a:endParaRPr lang="en-US" sz="1000" dirty="0"/>
          </a:p>
        </p:txBody>
      </p:sp>
      <p:sp>
        <p:nvSpPr>
          <p:cNvPr id="37" name="Text 35"/>
          <p:cNvSpPr txBox="1"/>
          <p:nvPr/>
        </p:nvSpPr>
        <p:spPr>
          <a:xfrm>
            <a:off x="630936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10</a:t>
            </a:r>
            <a:endParaRPr lang="en-US" sz="1000" dirty="0"/>
          </a:p>
        </p:txBody>
      </p:sp>
      <p:sp>
        <p:nvSpPr>
          <p:cNvPr id="38" name="Text 36"/>
          <p:cNvSpPr txBox="1"/>
          <p:nvPr/>
        </p:nvSpPr>
        <p:spPr>
          <a:xfrm>
            <a:off x="548640" y="5669280"/>
            <a:ext cx="6035040" cy="502920"/>
          </a:xfrm>
          <a:prstGeom prst="rect">
            <a:avLst/>
          </a:prstGeom>
          <a:noFill/>
          <a:ln/>
        </p:spPr>
        <p:txBody>
          <a:bodyPr wrap="square" lIns="0" tIns="0" rIns="0" bIns="0" rtlCol="0" anchor="t"/>
          <a:lstStyle/>
          <a:p>
            <a:pPr marL="0" indent="0">
              <a:buNone/>
            </a:pPr>
            <a:r>
              <a:rPr lang="en-US" sz="1200" i="1" dirty="0">
                <a:solidFill>
                  <a:srgbClr val="4C5A56"/>
                </a:solidFill>
                <a:latin typeface="Poppins" pitchFamily="34" charset="0"/>
                <a:ea typeface="Poppins" pitchFamily="34" charset="-122"/>
                <a:cs typeface="Poppins" pitchFamily="34" charset="-120"/>
              </a:rPr>
              <a:t>Every score is stored with its reasons, in plain words: "6 complaints reported", "2 new complaints in the last 24 hours", "Open for 12 days".</a:t>
            </a:r>
            <a:endParaRPr lang="en-US" sz="1200" dirty="0"/>
          </a:p>
        </p:txBody>
      </p:sp>
      <p:sp>
        <p:nvSpPr>
          <p:cNvPr id="39" name="frame incident-detail"/>
          <p:cNvSpPr/>
          <p:nvPr/>
        </p:nvSpPr>
        <p:spPr>
          <a:xfrm>
            <a:off x="8074152" y="1691640"/>
            <a:ext cx="3566160" cy="4480560"/>
          </a:xfrm>
          <a:prstGeom prst="roundRect">
            <a:avLst>
              <a:gd name="adj" fmla="val 2051"/>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40" name="frame bar"/>
          <p:cNvSpPr/>
          <p:nvPr/>
        </p:nvSpPr>
        <p:spPr>
          <a:xfrm>
            <a:off x="8083296" y="1700784"/>
            <a:ext cx="3547872" cy="274320"/>
          </a:xfrm>
          <a:prstGeom prst="roundRect">
            <a:avLst>
              <a:gd name="adj" fmla="val 23333"/>
            </a:avLst>
          </a:prstGeom>
          <a:solidFill>
            <a:srgbClr val="F3F6F4"/>
          </a:solidFill>
          <a:ln w="12700">
            <a:solidFill>
              <a:srgbClr val="F3F6F4"/>
            </a:solidFill>
            <a:prstDash val="solid"/>
          </a:ln>
        </p:spPr>
      </p:sp>
      <p:sp>
        <p:nvSpPr>
          <p:cNvPr id="41" name="Shape 39"/>
          <p:cNvSpPr/>
          <p:nvPr/>
        </p:nvSpPr>
        <p:spPr>
          <a:xfrm>
            <a:off x="8220456" y="1787652"/>
            <a:ext cx="82296" cy="82296"/>
          </a:xfrm>
          <a:prstGeom prst="ellipse">
            <a:avLst/>
          </a:prstGeom>
          <a:solidFill>
            <a:srgbClr val="C9D1CA"/>
          </a:solidFill>
          <a:ln w="12700">
            <a:solidFill>
              <a:srgbClr val="C9D1CA"/>
            </a:solidFill>
            <a:prstDash val="solid"/>
          </a:ln>
        </p:spPr>
      </p:sp>
      <p:sp>
        <p:nvSpPr>
          <p:cNvPr id="42" name="Shape 40"/>
          <p:cNvSpPr/>
          <p:nvPr/>
        </p:nvSpPr>
        <p:spPr>
          <a:xfrm>
            <a:off x="8366760" y="1787652"/>
            <a:ext cx="82296" cy="82296"/>
          </a:xfrm>
          <a:prstGeom prst="ellipse">
            <a:avLst/>
          </a:prstGeom>
          <a:solidFill>
            <a:srgbClr val="C9D1CA"/>
          </a:solidFill>
          <a:ln w="12700">
            <a:solidFill>
              <a:srgbClr val="C9D1CA"/>
            </a:solidFill>
            <a:prstDash val="solid"/>
          </a:ln>
        </p:spPr>
      </p:sp>
      <p:sp>
        <p:nvSpPr>
          <p:cNvPr id="43" name="Shape 41"/>
          <p:cNvSpPr/>
          <p:nvPr/>
        </p:nvSpPr>
        <p:spPr>
          <a:xfrm>
            <a:off x="8513064" y="1787652"/>
            <a:ext cx="82296" cy="82296"/>
          </a:xfrm>
          <a:prstGeom prst="ellipse">
            <a:avLst/>
          </a:prstGeom>
          <a:solidFill>
            <a:srgbClr val="C9D1CA"/>
          </a:solidFill>
          <a:ln w="12700">
            <a:solidFill>
              <a:srgbClr val="C9D1CA"/>
            </a:solidFill>
            <a:prstDash val="solid"/>
          </a:ln>
        </p:spPr>
      </p:sp>
      <p:pic>
        <p:nvPicPr>
          <p:cNvPr id="44" name="screenshot incident-detail" descr="CivicPulse screenshot: incident-detail"/>
          <p:cNvPicPr>
            <a:picLocks noChangeAspect="1"/>
          </p:cNvPicPr>
          <p:nvPr/>
        </p:nvPicPr>
        <p:blipFill>
          <a:blip r:embed="rId3"/>
          <a:stretch>
            <a:fillRect/>
          </a:stretch>
        </p:blipFill>
        <p:spPr>
          <a:xfrm>
            <a:off x="8092440" y="1975104"/>
            <a:ext cx="3529584" cy="4178808"/>
          </a:xfrm>
          <a:prstGeom prst="rect">
            <a:avLst/>
          </a:prstGeom>
        </p:spPr>
      </p:pic>
      <p:sp>
        <p:nvSpPr>
          <p:cNvPr id="4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06  THE OFFICER CONSOLE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Everything an officer needs on one screen</a:t>
            </a:r>
            <a:endParaRPr lang="en-US" sz="3400" dirty="0"/>
          </a:p>
        </p:txBody>
      </p:sp>
      <p:sp>
        <p:nvSpPr>
          <p:cNvPr id="4" name="frame dashboard"/>
          <p:cNvSpPr/>
          <p:nvPr/>
        </p:nvSpPr>
        <p:spPr>
          <a:xfrm>
            <a:off x="548640" y="1737360"/>
            <a:ext cx="5486400" cy="3794760"/>
          </a:xfrm>
          <a:prstGeom prst="roundRect">
            <a:avLst>
              <a:gd name="adj" fmla="val 192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5" name="frame bar"/>
          <p:cNvSpPr/>
          <p:nvPr/>
        </p:nvSpPr>
        <p:spPr>
          <a:xfrm>
            <a:off x="557784" y="1746504"/>
            <a:ext cx="5468112" cy="274320"/>
          </a:xfrm>
          <a:prstGeom prst="roundRect">
            <a:avLst>
              <a:gd name="adj" fmla="val 23333"/>
            </a:avLst>
          </a:prstGeom>
          <a:solidFill>
            <a:srgbClr val="F3F6F4"/>
          </a:solidFill>
          <a:ln w="12700">
            <a:solidFill>
              <a:srgbClr val="F3F6F4"/>
            </a:solidFill>
            <a:prstDash val="solid"/>
          </a:ln>
        </p:spPr>
      </p:sp>
      <p:sp>
        <p:nvSpPr>
          <p:cNvPr id="6" name="Shape 4"/>
          <p:cNvSpPr/>
          <p:nvPr/>
        </p:nvSpPr>
        <p:spPr>
          <a:xfrm>
            <a:off x="694944" y="1833372"/>
            <a:ext cx="82296" cy="82296"/>
          </a:xfrm>
          <a:prstGeom prst="ellipse">
            <a:avLst/>
          </a:prstGeom>
          <a:solidFill>
            <a:srgbClr val="C9D1CA"/>
          </a:solidFill>
          <a:ln w="12700">
            <a:solidFill>
              <a:srgbClr val="C9D1CA"/>
            </a:solidFill>
            <a:prstDash val="solid"/>
          </a:ln>
        </p:spPr>
      </p:sp>
      <p:sp>
        <p:nvSpPr>
          <p:cNvPr id="7" name="Shape 5"/>
          <p:cNvSpPr/>
          <p:nvPr/>
        </p:nvSpPr>
        <p:spPr>
          <a:xfrm>
            <a:off x="841248" y="1833372"/>
            <a:ext cx="82296" cy="82296"/>
          </a:xfrm>
          <a:prstGeom prst="ellipse">
            <a:avLst/>
          </a:prstGeom>
          <a:solidFill>
            <a:srgbClr val="C9D1CA"/>
          </a:solidFill>
          <a:ln w="12700">
            <a:solidFill>
              <a:srgbClr val="C9D1CA"/>
            </a:solidFill>
            <a:prstDash val="solid"/>
          </a:ln>
        </p:spPr>
      </p:sp>
      <p:sp>
        <p:nvSpPr>
          <p:cNvPr id="8" name="Shape 6"/>
          <p:cNvSpPr/>
          <p:nvPr/>
        </p:nvSpPr>
        <p:spPr>
          <a:xfrm>
            <a:off x="987552" y="1833372"/>
            <a:ext cx="82296" cy="82296"/>
          </a:xfrm>
          <a:prstGeom prst="ellipse">
            <a:avLst/>
          </a:prstGeom>
          <a:solidFill>
            <a:srgbClr val="C9D1CA"/>
          </a:solidFill>
          <a:ln w="12700">
            <a:solidFill>
              <a:srgbClr val="C9D1CA"/>
            </a:solidFill>
            <a:prstDash val="solid"/>
          </a:ln>
        </p:spPr>
      </p:sp>
      <p:pic>
        <p:nvPicPr>
          <p:cNvPr id="9" name="screenshot dashboard" descr="CivicPulse screenshot: dashboard"/>
          <p:cNvPicPr>
            <a:picLocks noChangeAspect="1"/>
          </p:cNvPicPr>
          <p:nvPr/>
        </p:nvPicPr>
        <p:blipFill>
          <a:blip r:embed="rId3"/>
          <a:stretch>
            <a:fillRect/>
          </a:stretch>
        </p:blipFill>
        <p:spPr>
          <a:xfrm>
            <a:off x="566928" y="2020824"/>
            <a:ext cx="5449824" cy="3493008"/>
          </a:xfrm>
          <a:prstGeom prst="rect">
            <a:avLst/>
          </a:prstGeom>
        </p:spPr>
      </p:pic>
      <p:sp>
        <p:nvSpPr>
          <p:cNvPr id="10" name="frame wards"/>
          <p:cNvSpPr/>
          <p:nvPr/>
        </p:nvSpPr>
        <p:spPr>
          <a:xfrm>
            <a:off x="6153912" y="1737360"/>
            <a:ext cx="5486400" cy="3794760"/>
          </a:xfrm>
          <a:prstGeom prst="roundRect">
            <a:avLst>
              <a:gd name="adj" fmla="val 192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11" name="frame bar"/>
          <p:cNvSpPr/>
          <p:nvPr/>
        </p:nvSpPr>
        <p:spPr>
          <a:xfrm>
            <a:off x="6163056" y="1746504"/>
            <a:ext cx="5468112" cy="274320"/>
          </a:xfrm>
          <a:prstGeom prst="roundRect">
            <a:avLst>
              <a:gd name="adj" fmla="val 23333"/>
            </a:avLst>
          </a:prstGeom>
          <a:solidFill>
            <a:srgbClr val="F3F6F4"/>
          </a:solidFill>
          <a:ln w="12700">
            <a:solidFill>
              <a:srgbClr val="F3F6F4"/>
            </a:solidFill>
            <a:prstDash val="solid"/>
          </a:ln>
        </p:spPr>
      </p:sp>
      <p:sp>
        <p:nvSpPr>
          <p:cNvPr id="12" name="Shape 9"/>
          <p:cNvSpPr/>
          <p:nvPr/>
        </p:nvSpPr>
        <p:spPr>
          <a:xfrm>
            <a:off x="6300216" y="1833372"/>
            <a:ext cx="82296" cy="82296"/>
          </a:xfrm>
          <a:prstGeom prst="ellipse">
            <a:avLst/>
          </a:prstGeom>
          <a:solidFill>
            <a:srgbClr val="C9D1CA"/>
          </a:solidFill>
          <a:ln w="12700">
            <a:solidFill>
              <a:srgbClr val="C9D1CA"/>
            </a:solidFill>
            <a:prstDash val="solid"/>
          </a:ln>
        </p:spPr>
      </p:sp>
      <p:sp>
        <p:nvSpPr>
          <p:cNvPr id="13" name="Shape 10"/>
          <p:cNvSpPr/>
          <p:nvPr/>
        </p:nvSpPr>
        <p:spPr>
          <a:xfrm>
            <a:off x="6446520" y="1833372"/>
            <a:ext cx="82296" cy="82296"/>
          </a:xfrm>
          <a:prstGeom prst="ellipse">
            <a:avLst/>
          </a:prstGeom>
          <a:solidFill>
            <a:srgbClr val="C9D1CA"/>
          </a:solidFill>
          <a:ln w="12700">
            <a:solidFill>
              <a:srgbClr val="C9D1CA"/>
            </a:solidFill>
            <a:prstDash val="solid"/>
          </a:ln>
        </p:spPr>
      </p:sp>
      <p:sp>
        <p:nvSpPr>
          <p:cNvPr id="14" name="Shape 11"/>
          <p:cNvSpPr/>
          <p:nvPr/>
        </p:nvSpPr>
        <p:spPr>
          <a:xfrm>
            <a:off x="6592824" y="1833372"/>
            <a:ext cx="82296" cy="82296"/>
          </a:xfrm>
          <a:prstGeom prst="ellipse">
            <a:avLst/>
          </a:prstGeom>
          <a:solidFill>
            <a:srgbClr val="C9D1CA"/>
          </a:solidFill>
          <a:ln w="12700">
            <a:solidFill>
              <a:srgbClr val="C9D1CA"/>
            </a:solidFill>
            <a:prstDash val="solid"/>
          </a:ln>
        </p:spPr>
      </p:sp>
      <p:pic>
        <p:nvPicPr>
          <p:cNvPr id="15" name="screenshot wards" descr="CivicPulse screenshot: wards"/>
          <p:cNvPicPr>
            <a:picLocks noChangeAspect="1"/>
          </p:cNvPicPr>
          <p:nvPr/>
        </p:nvPicPr>
        <p:blipFill>
          <a:blip r:embed="rId4"/>
          <a:stretch>
            <a:fillRect/>
          </a:stretch>
        </p:blipFill>
        <p:spPr>
          <a:xfrm>
            <a:off x="6172200" y="2020824"/>
            <a:ext cx="5449824" cy="3493008"/>
          </a:xfrm>
          <a:prstGeom prst="rect">
            <a:avLst/>
          </a:prstGeom>
        </p:spPr>
      </p:pic>
      <p:sp>
        <p:nvSpPr>
          <p:cNvPr id="16" name="Text 12"/>
          <p:cNvSpPr txBox="1"/>
          <p:nvPr/>
        </p:nvSpPr>
        <p:spPr>
          <a:xfrm>
            <a:off x="548640" y="5650992"/>
            <a:ext cx="5486400" cy="621792"/>
          </a:xfrm>
          <a:prstGeom prst="rect">
            <a:avLst/>
          </a:prstGeom>
          <a:noFill/>
          <a:ln/>
        </p:spPr>
        <p:txBody>
          <a:bodyPr wrap="square" lIns="0" tIns="0" rIns="0" bIns="0" rtlCol="0" anchor="t"/>
          <a:lstStyle/>
          <a:p>
            <a:pPr marL="0" indent="0">
              <a:buNone/>
            </a:pPr>
            <a:r>
              <a:rPr lang="en-US" sz="1200" dirty="0">
                <a:solidFill>
                  <a:srgbClr val="14211F"/>
                </a:solidFill>
                <a:latin typeface="Poppins SemiBold" pitchFamily="34" charset="0"/>
                <a:ea typeface="Poppins SemiBold" pitchFamily="34" charset="-122"/>
                <a:cs typeface="Poppins SemiBold" pitchFamily="34" charset="-120"/>
              </a:rPr>
              <a:t>Incident queue</a:t>
            </a:r>
            <a:endParaRPr lang="en-US" sz="1200" dirty="0"/>
          </a:p>
          <a:p>
            <a:pPr marL="0" indent="0">
              <a:buNone/>
            </a:pPr>
            <a:r>
              <a:rPr lang="en-US" sz="1200" dirty="0">
                <a:solidFill>
                  <a:srgbClr val="4C5A56"/>
                </a:solidFill>
                <a:latin typeface="Poppins" pitchFamily="34" charset="0"/>
                <a:ea typeface="Poppins" pitchFamily="34" charset="-122"/>
                <a:cs typeface="Poppins" pitchFamily="34" charset="-120"/>
              </a:rPr>
              <a:t>249 demo reports grouped into 45 incidents, ranked by priority on a live map. Each opens with its reports and reasons.</a:t>
            </a:r>
            <a:endParaRPr lang="en-US" sz="1200" dirty="0"/>
          </a:p>
        </p:txBody>
      </p:sp>
      <p:sp>
        <p:nvSpPr>
          <p:cNvPr id="17" name="Text 13"/>
          <p:cNvSpPr txBox="1"/>
          <p:nvPr/>
        </p:nvSpPr>
        <p:spPr>
          <a:xfrm>
            <a:off x="6153912" y="5650992"/>
            <a:ext cx="5486400" cy="621792"/>
          </a:xfrm>
          <a:prstGeom prst="rect">
            <a:avLst/>
          </a:prstGeom>
          <a:noFill/>
          <a:ln/>
        </p:spPr>
        <p:txBody>
          <a:bodyPr wrap="square" lIns="0" tIns="0" rIns="0" bIns="0" rtlCol="0" anchor="t"/>
          <a:lstStyle/>
          <a:p>
            <a:pPr marL="0" indent="0">
              <a:buNone/>
            </a:pPr>
            <a:r>
              <a:rPr lang="en-US" sz="1200" dirty="0">
                <a:solidFill>
                  <a:srgbClr val="14211F"/>
                </a:solidFill>
                <a:latin typeface="Poppins SemiBold" pitchFamily="34" charset="0"/>
                <a:ea typeface="Poppins SemiBold" pitchFamily="34" charset="-122"/>
                <a:cs typeface="Poppins SemiBold" pitchFamily="34" charset="-120"/>
              </a:rPr>
              <a:t>Ward explorer</a:t>
            </a:r>
            <a:endParaRPr lang="en-US" sz="1200" dirty="0"/>
          </a:p>
          <a:p>
            <a:pPr marL="0" indent="0">
              <a:buNone/>
            </a:pPr>
            <a:r>
              <a:rPr lang="en-US" sz="1200" dirty="0">
                <a:solidFill>
                  <a:srgbClr val="4C5A56"/>
                </a:solidFill>
                <a:latin typeface="Poppins" pitchFamily="34" charset="0"/>
                <a:ea typeface="Poppins" pitchFamily="34" charset="-122"/>
                <a:cs typeface="Poppins" pitchFamily="34" charset="-120"/>
              </a:rPr>
              <a:t>Active incidents across 243 BBMP wards as a map, with a sortable table of complaints, incidents and the main category.</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07  RESULTS</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We measured it instead of assuming it</a:t>
            </a:r>
            <a:endParaRPr lang="en-US" sz="3400" dirty="0"/>
          </a:p>
        </p:txBody>
      </p:sp>
      <p:sp>
        <p:nvSpPr>
          <p:cNvPr id="4" name="Text 2"/>
          <p:cNvSpPr txBox="1"/>
          <p:nvPr/>
        </p:nvSpPr>
        <p:spPr>
          <a:xfrm>
            <a:off x="548640" y="178308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95%</a:t>
            </a:r>
            <a:endParaRPr lang="en-US" sz="4400" dirty="0"/>
          </a:p>
        </p:txBody>
      </p:sp>
      <p:sp>
        <p:nvSpPr>
          <p:cNvPr id="5" name="Text 3"/>
          <p:cNvSpPr txBox="1"/>
          <p:nvPr/>
        </p:nvSpPr>
        <p:spPr>
          <a:xfrm>
            <a:off x="548640" y="258775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of real grouping decisions correct (was 55%)</a:t>
            </a:r>
            <a:endParaRPr lang="en-US" sz="1200" dirty="0"/>
          </a:p>
        </p:txBody>
      </p:sp>
      <p:sp>
        <p:nvSpPr>
          <p:cNvPr id="6" name="Text 4"/>
          <p:cNvSpPr txBox="1"/>
          <p:nvPr/>
        </p:nvSpPr>
        <p:spPr>
          <a:xfrm>
            <a:off x="548640" y="324612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3 of 3</a:t>
            </a:r>
            <a:endParaRPr lang="en-US" sz="4400" dirty="0"/>
          </a:p>
        </p:txBody>
      </p:sp>
      <p:sp>
        <p:nvSpPr>
          <p:cNvPr id="7" name="Text 5"/>
          <p:cNvSpPr txBox="1"/>
          <p:nvPr/>
        </p:nvSpPr>
        <p:spPr>
          <a:xfrm>
            <a:off x="548640" y="405079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ranking runs where the formula beat the "most reports first" baseline</a:t>
            </a:r>
            <a:endParaRPr lang="en-US" sz="1200" dirty="0"/>
          </a:p>
        </p:txBody>
      </p:sp>
      <p:sp>
        <p:nvSpPr>
          <p:cNvPr id="8" name="Text 6"/>
          <p:cNvSpPr txBox="1"/>
          <p:nvPr/>
        </p:nvSpPr>
        <p:spPr>
          <a:xfrm>
            <a:off x="548640" y="470916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243</a:t>
            </a:r>
            <a:endParaRPr lang="en-US" sz="4400" dirty="0"/>
          </a:p>
        </p:txBody>
      </p:sp>
      <p:sp>
        <p:nvSpPr>
          <p:cNvPr id="9" name="Text 7"/>
          <p:cNvSpPr txBox="1"/>
          <p:nvPr/>
        </p:nvSpPr>
        <p:spPr>
          <a:xfrm>
            <a:off x="548640" y="551383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real BBMP ward boundaries, matched with PostGIS</a:t>
            </a:r>
            <a:endParaRPr lang="en-US" sz="1200" dirty="0"/>
          </a:p>
        </p:txBody>
      </p:sp>
      <p:graphicFrame>
        <p:nvGraphicFramePr>
          <p:cNvPr id="10" name="Chart 0"/>
          <p:cNvGraphicFramePr/>
          <p:nvPr/>
        </p:nvGraphicFramePr>
        <p:xfrm>
          <a:off x="4846320" y="1691640"/>
          <a:ext cx="68122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5029200" y="5715000"/>
            <a:ext cx="6583680" cy="45720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Ranker: Gemini, briefed as a ward engineer and never shown the formula. A human officer ranking is the next check.</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08  WHERE WE ARE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Live today, and what comes next</a:t>
            </a:r>
            <a:endParaRPr lang="en-US" sz="3400" dirty="0"/>
          </a:p>
        </p:txBody>
      </p:sp>
      <p:sp>
        <p:nvSpPr>
          <p:cNvPr id="4" name="done Complaint intake"/>
          <p:cNvSpPr/>
          <p:nvPr/>
        </p:nvSpPr>
        <p:spPr>
          <a:xfrm>
            <a:off x="548640" y="1783080"/>
            <a:ext cx="3246120" cy="1188720"/>
          </a:xfrm>
          <a:prstGeom prst="roundRect">
            <a:avLst>
              <a:gd name="adj" fmla="val 7692"/>
            </a:avLst>
          </a:prstGeom>
          <a:solidFill>
            <a:srgbClr val="F3F6F4"/>
          </a:solidFill>
          <a:ln w="9525">
            <a:solidFill>
              <a:srgbClr val="C9D1CA"/>
            </a:solidFill>
            <a:prstDash val="solid"/>
          </a:ln>
        </p:spPr>
      </p:sp>
      <p:pic>
        <p:nvPicPr>
          <p:cNvPr id="5" name="Image 0" descr="preencoded.png"/>
          <p:cNvPicPr>
            <a:picLocks noChangeAspect="1"/>
          </p:cNvPicPr>
          <p:nvPr/>
        </p:nvPicPr>
        <p:blipFill>
          <a:blip r:embed="rId3"/>
          <a:stretch>
            <a:fillRect/>
          </a:stretch>
        </p:blipFill>
        <p:spPr>
          <a:xfrm>
            <a:off x="749808" y="2002536"/>
            <a:ext cx="237744" cy="237744"/>
          </a:xfrm>
          <a:prstGeom prst="rect">
            <a:avLst/>
          </a:prstGeom>
        </p:spPr>
      </p:pic>
      <p:sp>
        <p:nvSpPr>
          <p:cNvPr id="6" name="Text 3"/>
          <p:cNvSpPr txBox="1"/>
          <p:nvPr/>
        </p:nvSpPr>
        <p:spPr>
          <a:xfrm>
            <a:off x="1097280" y="1947672"/>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Complaint intake</a:t>
            </a:r>
            <a:endParaRPr lang="en-US" sz="1300" dirty="0"/>
          </a:p>
        </p:txBody>
      </p:sp>
      <p:sp>
        <p:nvSpPr>
          <p:cNvPr id="7" name="Text 4"/>
          <p:cNvSpPr txBox="1"/>
          <p:nvPr/>
        </p:nvSpPr>
        <p:spPr>
          <a:xfrm>
            <a:off x="1097280" y="2313432"/>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Anonymous reports, ward lookup, reference numbers</a:t>
            </a:r>
            <a:endParaRPr lang="en-US" sz="1100" dirty="0"/>
          </a:p>
        </p:txBody>
      </p:sp>
      <p:sp>
        <p:nvSpPr>
          <p:cNvPr id="8" name="done Semantic matching"/>
          <p:cNvSpPr/>
          <p:nvPr/>
        </p:nvSpPr>
        <p:spPr>
          <a:xfrm>
            <a:off x="4023360" y="1783080"/>
            <a:ext cx="3246120" cy="1188720"/>
          </a:xfrm>
          <a:prstGeom prst="roundRect">
            <a:avLst>
              <a:gd name="adj" fmla="val 7692"/>
            </a:avLst>
          </a:prstGeom>
          <a:solidFill>
            <a:srgbClr val="F3F6F4"/>
          </a:solidFill>
          <a:ln w="9525">
            <a:solidFill>
              <a:srgbClr val="C9D1CA"/>
            </a:solidFill>
            <a:prstDash val="solid"/>
          </a:ln>
        </p:spPr>
      </p:sp>
      <p:pic>
        <p:nvPicPr>
          <p:cNvPr id="9" name="Image 1" descr="preencoded.png"/>
          <p:cNvPicPr>
            <a:picLocks noChangeAspect="1"/>
          </p:cNvPicPr>
          <p:nvPr/>
        </p:nvPicPr>
        <p:blipFill>
          <a:blip r:embed="rId3"/>
          <a:stretch>
            <a:fillRect/>
          </a:stretch>
        </p:blipFill>
        <p:spPr>
          <a:xfrm>
            <a:off x="4224528" y="2002536"/>
            <a:ext cx="237744" cy="237744"/>
          </a:xfrm>
          <a:prstGeom prst="rect">
            <a:avLst/>
          </a:prstGeom>
        </p:spPr>
      </p:pic>
      <p:sp>
        <p:nvSpPr>
          <p:cNvPr id="10" name="Text 6"/>
          <p:cNvSpPr txBox="1"/>
          <p:nvPr/>
        </p:nvSpPr>
        <p:spPr>
          <a:xfrm>
            <a:off x="4572000" y="1947672"/>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Semantic matching</a:t>
            </a:r>
            <a:endParaRPr lang="en-US" sz="1300" dirty="0"/>
          </a:p>
        </p:txBody>
      </p:sp>
      <p:sp>
        <p:nvSpPr>
          <p:cNvPr id="11" name="Text 7"/>
          <p:cNvSpPr txBox="1"/>
          <p:nvPr/>
        </p:nvSpPr>
        <p:spPr>
          <a:xfrm>
            <a:off x="4572000" y="2313432"/>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Embeddings, 0.84 threshold, 500 m check</a:t>
            </a:r>
            <a:endParaRPr lang="en-US" sz="1100" dirty="0"/>
          </a:p>
        </p:txBody>
      </p:sp>
      <p:sp>
        <p:nvSpPr>
          <p:cNvPr id="12" name="done Explainable priority"/>
          <p:cNvSpPr/>
          <p:nvPr/>
        </p:nvSpPr>
        <p:spPr>
          <a:xfrm>
            <a:off x="548640" y="3172968"/>
            <a:ext cx="3246120" cy="1188720"/>
          </a:xfrm>
          <a:prstGeom prst="roundRect">
            <a:avLst>
              <a:gd name="adj" fmla="val 7692"/>
            </a:avLst>
          </a:prstGeom>
          <a:solidFill>
            <a:srgbClr val="F3F6F4"/>
          </a:solidFill>
          <a:ln w="9525">
            <a:solidFill>
              <a:srgbClr val="C9D1CA"/>
            </a:solidFill>
            <a:prstDash val="solid"/>
          </a:ln>
        </p:spPr>
      </p:sp>
      <p:pic>
        <p:nvPicPr>
          <p:cNvPr id="13" name="Image 2" descr="preencoded.png"/>
          <p:cNvPicPr>
            <a:picLocks noChangeAspect="1"/>
          </p:cNvPicPr>
          <p:nvPr/>
        </p:nvPicPr>
        <p:blipFill>
          <a:blip r:embed="rId3"/>
          <a:stretch>
            <a:fillRect/>
          </a:stretch>
        </p:blipFill>
        <p:spPr>
          <a:xfrm>
            <a:off x="749808" y="3392424"/>
            <a:ext cx="237744" cy="237744"/>
          </a:xfrm>
          <a:prstGeom prst="rect">
            <a:avLst/>
          </a:prstGeom>
        </p:spPr>
      </p:pic>
      <p:sp>
        <p:nvSpPr>
          <p:cNvPr id="14" name="Text 9"/>
          <p:cNvSpPr txBox="1"/>
          <p:nvPr/>
        </p:nvSpPr>
        <p:spPr>
          <a:xfrm>
            <a:off x="1097280" y="3337560"/>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Explainable priority</a:t>
            </a:r>
            <a:endParaRPr lang="en-US" sz="1300" dirty="0"/>
          </a:p>
        </p:txBody>
      </p:sp>
      <p:sp>
        <p:nvSpPr>
          <p:cNvPr id="15" name="Text 10"/>
          <p:cNvSpPr txBox="1"/>
          <p:nvPr/>
        </p:nvSpPr>
        <p:spPr>
          <a:xfrm>
            <a:off x="1097280" y="3703320"/>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Four terms, stored reasons, refreshed every 5 min</a:t>
            </a:r>
            <a:endParaRPr lang="en-US" sz="1100" dirty="0"/>
          </a:p>
        </p:txBody>
      </p:sp>
      <p:sp>
        <p:nvSpPr>
          <p:cNvPr id="16" name="done Officer console"/>
          <p:cNvSpPr/>
          <p:nvPr/>
        </p:nvSpPr>
        <p:spPr>
          <a:xfrm>
            <a:off x="4023360" y="3172968"/>
            <a:ext cx="3246120" cy="1188720"/>
          </a:xfrm>
          <a:prstGeom prst="roundRect">
            <a:avLst>
              <a:gd name="adj" fmla="val 7692"/>
            </a:avLst>
          </a:prstGeom>
          <a:solidFill>
            <a:srgbClr val="F3F6F4"/>
          </a:solidFill>
          <a:ln w="9525">
            <a:solidFill>
              <a:srgbClr val="C9D1CA"/>
            </a:solidFill>
            <a:prstDash val="solid"/>
          </a:ln>
        </p:spPr>
      </p:sp>
      <p:pic>
        <p:nvPicPr>
          <p:cNvPr id="17" name="Image 3" descr="preencoded.png"/>
          <p:cNvPicPr>
            <a:picLocks noChangeAspect="1"/>
          </p:cNvPicPr>
          <p:nvPr/>
        </p:nvPicPr>
        <p:blipFill>
          <a:blip r:embed="rId3"/>
          <a:stretch>
            <a:fillRect/>
          </a:stretch>
        </p:blipFill>
        <p:spPr>
          <a:xfrm>
            <a:off x="4224528" y="3392424"/>
            <a:ext cx="237744" cy="237744"/>
          </a:xfrm>
          <a:prstGeom prst="rect">
            <a:avLst/>
          </a:prstGeom>
        </p:spPr>
      </p:pic>
      <p:sp>
        <p:nvSpPr>
          <p:cNvPr id="18" name="Text 12"/>
          <p:cNvSpPr txBox="1"/>
          <p:nvPr/>
        </p:nvSpPr>
        <p:spPr>
          <a:xfrm>
            <a:off x="4572000" y="3337560"/>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Officer console</a:t>
            </a:r>
            <a:endParaRPr lang="en-US" sz="1300" dirty="0"/>
          </a:p>
        </p:txBody>
      </p:sp>
      <p:sp>
        <p:nvSpPr>
          <p:cNvPr id="19" name="Text 13"/>
          <p:cNvSpPr txBox="1"/>
          <p:nvPr/>
        </p:nvSpPr>
        <p:spPr>
          <a:xfrm>
            <a:off x="4572000" y="3703320"/>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Queue, map, incident detail, status changes</a:t>
            </a:r>
            <a:endParaRPr lang="en-US" sz="1100" dirty="0"/>
          </a:p>
        </p:txBody>
      </p:sp>
      <p:sp>
        <p:nvSpPr>
          <p:cNvPr id="20" name="done Hotspots and attention"/>
          <p:cNvSpPr/>
          <p:nvPr/>
        </p:nvSpPr>
        <p:spPr>
          <a:xfrm>
            <a:off x="548640" y="4562856"/>
            <a:ext cx="3246120" cy="1188720"/>
          </a:xfrm>
          <a:prstGeom prst="roundRect">
            <a:avLst>
              <a:gd name="adj" fmla="val 7692"/>
            </a:avLst>
          </a:prstGeom>
          <a:solidFill>
            <a:srgbClr val="F3F6F4"/>
          </a:solidFill>
          <a:ln w="9525">
            <a:solidFill>
              <a:srgbClr val="C9D1CA"/>
            </a:solidFill>
            <a:prstDash val="solid"/>
          </a:ln>
        </p:spPr>
      </p:sp>
      <p:pic>
        <p:nvPicPr>
          <p:cNvPr id="21" name="Image 4" descr="preencoded.png"/>
          <p:cNvPicPr>
            <a:picLocks noChangeAspect="1"/>
          </p:cNvPicPr>
          <p:nvPr/>
        </p:nvPicPr>
        <p:blipFill>
          <a:blip r:embed="rId3"/>
          <a:stretch>
            <a:fillRect/>
          </a:stretch>
        </p:blipFill>
        <p:spPr>
          <a:xfrm>
            <a:off x="749808" y="4782312"/>
            <a:ext cx="237744" cy="237744"/>
          </a:xfrm>
          <a:prstGeom prst="rect">
            <a:avLst/>
          </a:prstGeom>
        </p:spPr>
      </p:pic>
      <p:sp>
        <p:nvSpPr>
          <p:cNvPr id="22" name="Text 15"/>
          <p:cNvSpPr txBox="1"/>
          <p:nvPr/>
        </p:nvSpPr>
        <p:spPr>
          <a:xfrm>
            <a:off x="1097280" y="4727448"/>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Hotspots and attention</a:t>
            </a:r>
            <a:endParaRPr lang="en-US" sz="1300" dirty="0"/>
          </a:p>
        </p:txBody>
      </p:sp>
      <p:sp>
        <p:nvSpPr>
          <p:cNvPr id="23" name="Text 16"/>
          <p:cNvSpPr txBox="1"/>
          <p:nvPr/>
        </p:nvSpPr>
        <p:spPr>
          <a:xfrm>
            <a:off x="1097280" y="5093208"/>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Clusters, worsening and spiking signals</a:t>
            </a:r>
            <a:endParaRPr lang="en-US" sz="1100" dirty="0"/>
          </a:p>
        </p:txBody>
      </p:sp>
      <p:sp>
        <p:nvSpPr>
          <p:cNvPr id="24" name="done Decision support"/>
          <p:cNvSpPr/>
          <p:nvPr/>
        </p:nvSpPr>
        <p:spPr>
          <a:xfrm>
            <a:off x="4023360" y="4562856"/>
            <a:ext cx="3246120" cy="1188720"/>
          </a:xfrm>
          <a:prstGeom prst="roundRect">
            <a:avLst>
              <a:gd name="adj" fmla="val 7692"/>
            </a:avLst>
          </a:prstGeom>
          <a:solidFill>
            <a:srgbClr val="F3F6F4"/>
          </a:solidFill>
          <a:ln w="9525">
            <a:solidFill>
              <a:srgbClr val="C9D1CA"/>
            </a:solidFill>
            <a:prstDash val="solid"/>
          </a:ln>
        </p:spPr>
      </p:sp>
      <p:pic>
        <p:nvPicPr>
          <p:cNvPr id="25" name="Image 5" descr="preencoded.png"/>
          <p:cNvPicPr>
            <a:picLocks noChangeAspect="1"/>
          </p:cNvPicPr>
          <p:nvPr/>
        </p:nvPicPr>
        <p:blipFill>
          <a:blip r:embed="rId3"/>
          <a:stretch>
            <a:fillRect/>
          </a:stretch>
        </p:blipFill>
        <p:spPr>
          <a:xfrm>
            <a:off x="4224528" y="4782312"/>
            <a:ext cx="237744" cy="237744"/>
          </a:xfrm>
          <a:prstGeom prst="rect">
            <a:avLst/>
          </a:prstGeom>
        </p:spPr>
      </p:pic>
      <p:sp>
        <p:nvSpPr>
          <p:cNvPr id="26" name="Text 18"/>
          <p:cNvSpPr txBox="1"/>
          <p:nvPr/>
        </p:nvSpPr>
        <p:spPr>
          <a:xfrm>
            <a:off x="4572000" y="4727448"/>
            <a:ext cx="251460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Decision support</a:t>
            </a:r>
            <a:endParaRPr lang="en-US" sz="1300" dirty="0"/>
          </a:p>
        </p:txBody>
      </p:sp>
      <p:sp>
        <p:nvSpPr>
          <p:cNvPr id="27" name="Text 19"/>
          <p:cNvSpPr txBox="1"/>
          <p:nvPr/>
        </p:nvSpPr>
        <p:spPr>
          <a:xfrm>
            <a:off x="4572000" y="5093208"/>
            <a:ext cx="251460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Suggested next step, accept or override, logged</a:t>
            </a:r>
            <a:endParaRPr lang="en-US" sz="1100" dirty="0"/>
          </a:p>
        </p:txBody>
      </p:sp>
      <p:sp>
        <p:nvSpPr>
          <p:cNvPr id="28" name="Text 20"/>
          <p:cNvSpPr txBox="1"/>
          <p:nvPr/>
        </p:nvSpPr>
        <p:spPr>
          <a:xfrm>
            <a:off x="7635240" y="1737360"/>
            <a:ext cx="4007815" cy="457200"/>
          </a:xfrm>
          <a:prstGeom prst="rect">
            <a:avLst/>
          </a:prstGeom>
          <a:noFill/>
          <a:ln/>
        </p:spPr>
        <p:txBody>
          <a:bodyPr wrap="square" lIns="0" tIns="0" rIns="0" bIns="0" rtlCol="0" anchor="ctr"/>
          <a:lstStyle/>
          <a:p>
            <a:pPr marL="0" indent="0">
              <a:buNone/>
            </a:pPr>
            <a:r>
              <a:rPr lang="en-US" sz="2400" b="1" dirty="0">
                <a:solidFill>
                  <a:srgbClr val="14211F"/>
                </a:solidFill>
                <a:latin typeface="Playfair Display" pitchFamily="34" charset="0"/>
                <a:ea typeface="Playfair Display" pitchFamily="34" charset="-122"/>
                <a:cs typeface="Playfair Display" pitchFamily="34" charset="-120"/>
              </a:rPr>
              <a:t>Next</a:t>
            </a:r>
            <a:endParaRPr lang="en-US" sz="2400" dirty="0"/>
          </a:p>
        </p:txBody>
      </p:sp>
      <p:sp>
        <p:nvSpPr>
          <p:cNvPr id="29" name="icon-bg LuBot"/>
          <p:cNvSpPr/>
          <p:nvPr/>
        </p:nvSpPr>
        <p:spPr>
          <a:xfrm>
            <a:off x="7635240" y="2377440"/>
            <a:ext cx="457200" cy="457200"/>
          </a:xfrm>
          <a:prstGeom prst="ellipse">
            <a:avLst/>
          </a:prstGeom>
          <a:solidFill>
            <a:srgbClr val="DCE8E8"/>
          </a:solidFill>
          <a:ln w="12700">
            <a:solidFill>
              <a:srgbClr val="DCE8E8"/>
            </a:solidFill>
            <a:prstDash val="solid"/>
          </a:ln>
        </p:spPr>
      </p:sp>
      <p:pic>
        <p:nvPicPr>
          <p:cNvPr id="30" name="icon LuBot" descr="preencoded.png"/>
          <p:cNvPicPr>
            <a:picLocks noChangeAspect="1"/>
          </p:cNvPicPr>
          <p:nvPr/>
        </p:nvPicPr>
        <p:blipFill>
          <a:blip r:embed="rId4"/>
          <a:stretch>
            <a:fillRect/>
          </a:stretch>
        </p:blipFill>
        <p:spPr>
          <a:xfrm>
            <a:off x="7749540" y="2491740"/>
            <a:ext cx="228600" cy="228600"/>
          </a:xfrm>
          <a:prstGeom prst="rect">
            <a:avLst/>
          </a:prstGeom>
        </p:spPr>
      </p:pic>
      <p:sp>
        <p:nvSpPr>
          <p:cNvPr id="31" name="Text 22"/>
          <p:cNvSpPr txBox="1"/>
          <p:nvPr/>
        </p:nvSpPr>
        <p:spPr>
          <a:xfrm>
            <a:off x="8275320" y="234086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Officer Copilot</a:t>
            </a:r>
            <a:endParaRPr lang="en-US" sz="1300" dirty="0"/>
          </a:p>
        </p:txBody>
      </p:sp>
      <p:sp>
        <p:nvSpPr>
          <p:cNvPr id="32" name="Text 23"/>
          <p:cNvSpPr txBox="1"/>
          <p:nvPr/>
        </p:nvSpPr>
        <p:spPr>
          <a:xfrm>
            <a:off x="8275320" y="264261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Ask "what is urgent in Ward 48?" and get an answer that cites its incidents. Backend live; panel in progress.</a:t>
            </a:r>
            <a:endParaRPr lang="en-US" sz="1100" dirty="0"/>
          </a:p>
        </p:txBody>
      </p:sp>
      <p:sp>
        <p:nvSpPr>
          <p:cNvPr id="33" name="icon-bg LuFileText"/>
          <p:cNvSpPr/>
          <p:nvPr/>
        </p:nvSpPr>
        <p:spPr>
          <a:xfrm>
            <a:off x="7635240" y="3337560"/>
            <a:ext cx="457200" cy="457200"/>
          </a:xfrm>
          <a:prstGeom prst="ellipse">
            <a:avLst/>
          </a:prstGeom>
          <a:solidFill>
            <a:srgbClr val="DCE8E8"/>
          </a:solidFill>
          <a:ln w="12700">
            <a:solidFill>
              <a:srgbClr val="DCE8E8"/>
            </a:solidFill>
            <a:prstDash val="solid"/>
          </a:ln>
        </p:spPr>
      </p:sp>
      <p:pic>
        <p:nvPicPr>
          <p:cNvPr id="34" name="icon LuFileText" descr="preencoded.png"/>
          <p:cNvPicPr>
            <a:picLocks noChangeAspect="1"/>
          </p:cNvPicPr>
          <p:nvPr/>
        </p:nvPicPr>
        <p:blipFill>
          <a:blip r:embed="rId5"/>
          <a:stretch>
            <a:fillRect/>
          </a:stretch>
        </p:blipFill>
        <p:spPr>
          <a:xfrm>
            <a:off x="7749540" y="3451860"/>
            <a:ext cx="228600" cy="228600"/>
          </a:xfrm>
          <a:prstGeom prst="rect">
            <a:avLst/>
          </a:prstGeom>
        </p:spPr>
      </p:pic>
      <p:sp>
        <p:nvSpPr>
          <p:cNvPr id="35" name="Text 25"/>
          <p:cNvSpPr txBox="1"/>
          <p:nvPr/>
        </p:nvSpPr>
        <p:spPr>
          <a:xfrm>
            <a:off x="8275320" y="330098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Research paper</a:t>
            </a:r>
            <a:endParaRPr lang="en-US" sz="1300" dirty="0"/>
          </a:p>
        </p:txBody>
      </p:sp>
      <p:sp>
        <p:nvSpPr>
          <p:cNvPr id="36" name="Text 26"/>
          <p:cNvSpPr txBox="1"/>
          <p:nvPr/>
        </p:nvSpPr>
        <p:spPr>
          <a:xfrm>
            <a:off x="8275320" y="360273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Matching and priority evaluation, written up.</a:t>
            </a:r>
            <a:endParaRPr lang="en-US" sz="1100" dirty="0"/>
          </a:p>
        </p:txBody>
      </p:sp>
      <p:sp>
        <p:nvSpPr>
          <p:cNvPr id="37" name="icon-bg LuCamera"/>
          <p:cNvSpPr/>
          <p:nvPr/>
        </p:nvSpPr>
        <p:spPr>
          <a:xfrm>
            <a:off x="7635240" y="4297680"/>
            <a:ext cx="457200" cy="457200"/>
          </a:xfrm>
          <a:prstGeom prst="ellipse">
            <a:avLst/>
          </a:prstGeom>
          <a:solidFill>
            <a:srgbClr val="DCE8E8"/>
          </a:solidFill>
          <a:ln w="12700">
            <a:solidFill>
              <a:srgbClr val="DCE8E8"/>
            </a:solidFill>
            <a:prstDash val="solid"/>
          </a:ln>
        </p:spPr>
      </p:sp>
      <p:pic>
        <p:nvPicPr>
          <p:cNvPr id="38" name="icon LuCamera" descr="preencoded.png"/>
          <p:cNvPicPr>
            <a:picLocks noChangeAspect="1"/>
          </p:cNvPicPr>
          <p:nvPr/>
        </p:nvPicPr>
        <p:blipFill>
          <a:blip r:embed="rId6"/>
          <a:stretch>
            <a:fillRect/>
          </a:stretch>
        </p:blipFill>
        <p:spPr>
          <a:xfrm>
            <a:off x="7749540" y="4411980"/>
            <a:ext cx="228600" cy="228600"/>
          </a:xfrm>
          <a:prstGeom prst="rect">
            <a:avLst/>
          </a:prstGeom>
        </p:spPr>
      </p:pic>
      <p:sp>
        <p:nvSpPr>
          <p:cNvPr id="39" name="Text 28"/>
          <p:cNvSpPr txBox="1"/>
          <p:nvPr/>
        </p:nvSpPr>
        <p:spPr>
          <a:xfrm>
            <a:off x="8275320" y="426110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Photo upload</a:t>
            </a:r>
            <a:endParaRPr lang="en-US" sz="1300" dirty="0"/>
          </a:p>
        </p:txBody>
      </p:sp>
      <p:sp>
        <p:nvSpPr>
          <p:cNvPr id="40" name="Text 29"/>
          <p:cNvSpPr txBox="1"/>
          <p:nvPr/>
        </p:nvSpPr>
        <p:spPr>
          <a:xfrm>
            <a:off x="8275320" y="456285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Contract approved, not built.</a:t>
            </a:r>
            <a:endParaRPr lang="en-US" sz="1100" dirty="0"/>
          </a:p>
        </p:txBody>
      </p:sp>
      <p:sp>
        <p:nvSpPr>
          <p:cNvPr id="41" name="icon-bg LuTriangleAlert"/>
          <p:cNvSpPr/>
          <p:nvPr/>
        </p:nvSpPr>
        <p:spPr>
          <a:xfrm>
            <a:off x="7635240" y="5257800"/>
            <a:ext cx="457200" cy="457200"/>
          </a:xfrm>
          <a:prstGeom prst="ellipse">
            <a:avLst/>
          </a:prstGeom>
          <a:solidFill>
            <a:srgbClr val="DCE8E8"/>
          </a:solidFill>
          <a:ln w="12700">
            <a:solidFill>
              <a:srgbClr val="DCE8E8"/>
            </a:solidFill>
            <a:prstDash val="solid"/>
          </a:ln>
        </p:spPr>
      </p:sp>
      <p:pic>
        <p:nvPicPr>
          <p:cNvPr id="42" name="icon LuTriangleAlert" descr="preencoded.png"/>
          <p:cNvPicPr>
            <a:picLocks noChangeAspect="1"/>
          </p:cNvPicPr>
          <p:nvPr/>
        </p:nvPicPr>
        <p:blipFill>
          <a:blip r:embed="rId7"/>
          <a:stretch>
            <a:fillRect/>
          </a:stretch>
        </p:blipFill>
        <p:spPr>
          <a:xfrm>
            <a:off x="7749540" y="5372100"/>
            <a:ext cx="228600" cy="228600"/>
          </a:xfrm>
          <a:prstGeom prst="rect">
            <a:avLst/>
          </a:prstGeom>
        </p:spPr>
      </p:pic>
      <p:sp>
        <p:nvSpPr>
          <p:cNvPr id="43" name="Text 31"/>
          <p:cNvSpPr txBox="1"/>
          <p:nvPr/>
        </p:nvSpPr>
        <p:spPr>
          <a:xfrm>
            <a:off x="8275320" y="522122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Life-safety flag</a:t>
            </a:r>
            <a:endParaRPr lang="en-US" sz="1300" dirty="0"/>
          </a:p>
        </p:txBody>
      </p:sp>
      <p:sp>
        <p:nvSpPr>
          <p:cNvPr id="44" name="Text 32"/>
          <p:cNvSpPr txBox="1"/>
          <p:nvPr/>
        </p:nvSpPr>
        <p:spPr>
          <a:xfrm>
            <a:off x="8275320" y="552297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Open drains, exposed wiring: escalate regardless of score.</a:t>
            </a:r>
            <a:endParaRPr lang="en-US" sz="1100" dirty="0"/>
          </a:p>
        </p:txBody>
      </p:sp>
      <p:sp>
        <p:nvSpPr>
          <p:cNvPr id="4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828800"/>
            <a:ext cx="5669280" cy="1188720"/>
          </a:xfrm>
          <a:prstGeom prst="rect">
            <a:avLst/>
          </a:prstGeom>
          <a:noFill/>
          <a:ln/>
        </p:spPr>
        <p:txBody>
          <a:bodyPr wrap="square" lIns="0" tIns="0" rIns="0" bIns="0" rtlCol="0" anchor="ctr"/>
          <a:lstStyle/>
          <a:p>
            <a:pPr marL="0" indent="0">
              <a:buNone/>
            </a:pPr>
            <a:r>
              <a:rPr lang="en-US" sz="6600" b="1" dirty="0">
                <a:solidFill>
                  <a:srgbClr val="14211F"/>
                </a:solidFill>
                <a:latin typeface="Playfair Display" pitchFamily="34" charset="0"/>
                <a:ea typeface="Playfair Display" pitchFamily="34" charset="-122"/>
                <a:cs typeface="Playfair Display" pitchFamily="34" charset="-120"/>
              </a:rPr>
              <a:t>Thank you</a:t>
            </a:r>
            <a:endParaRPr lang="en-US" sz="6600" dirty="0"/>
          </a:p>
        </p:txBody>
      </p:sp>
      <p:sp>
        <p:nvSpPr>
          <p:cNvPr id="3" name="Text 1"/>
          <p:cNvSpPr txBox="1"/>
          <p:nvPr/>
        </p:nvSpPr>
        <p:spPr>
          <a:xfrm>
            <a:off x="640080" y="3017520"/>
            <a:ext cx="5486400" cy="548640"/>
          </a:xfrm>
          <a:prstGeom prst="rect">
            <a:avLst/>
          </a:prstGeom>
          <a:noFill/>
          <a:ln/>
        </p:spPr>
        <p:txBody>
          <a:bodyPr wrap="square" lIns="0" tIns="0" rIns="0" bIns="0" rtlCol="0" anchor="ctr"/>
          <a:lstStyle/>
          <a:p>
            <a:pPr marL="0" indent="0">
              <a:buNone/>
            </a:pPr>
            <a:r>
              <a:rPr lang="en-US" sz="2400" i="1" dirty="0">
                <a:solidFill>
                  <a:srgbClr val="4C5A56"/>
                </a:solidFill>
                <a:latin typeface="Playfair Display" pitchFamily="34" charset="0"/>
                <a:ea typeface="Playfair Display" pitchFamily="34" charset="-122"/>
                <a:cs typeface="Playfair Display" pitchFamily="34" charset="-120"/>
              </a:rPr>
              <a:t>Questions welcome</a:t>
            </a:r>
            <a:endParaRPr lang="en-US" sz="2400" dirty="0"/>
          </a:p>
        </p:txBody>
      </p:sp>
      <p:sp>
        <p:nvSpPr>
          <p:cNvPr id="4" name="Text 2"/>
          <p:cNvSpPr txBox="1"/>
          <p:nvPr/>
        </p:nvSpPr>
        <p:spPr>
          <a:xfrm>
            <a:off x="640080" y="4069080"/>
            <a:ext cx="5486400" cy="1554480"/>
          </a:xfrm>
          <a:prstGeom prst="rect">
            <a:avLst/>
          </a:prstGeom>
          <a:noFill/>
          <a:ln/>
        </p:spPr>
        <p:txBody>
          <a:bodyPr wrap="square" lIns="0" tIns="0" rIns="0" bIns="0" rtlCol="0" anchor="t"/>
          <a:lstStyle/>
          <a:p>
            <a:pPr marL="0" indent="0">
              <a:buNone/>
            </a:pPr>
            <a:r>
              <a:rPr lang="en-US" sz="1400" dirty="0">
                <a:solidFill>
                  <a:srgbClr val="17494D"/>
                </a:solidFill>
                <a:latin typeface="Poppins SemiBold" pitchFamily="34" charset="0"/>
                <a:ea typeface="Poppins SemiBold" pitchFamily="34" charset="-122"/>
                <a:cs typeface="Poppins SemiBold" pitchFamily="34" charset="-120"/>
              </a:rPr>
              <a:t>Try it live</a:t>
            </a:r>
            <a:endParaRPr lang="en-US" sz="1400" dirty="0"/>
          </a:p>
          <a:p>
            <a:pPr marL="0" indent="0">
              <a:buNone/>
            </a:pPr>
            <a:r>
              <a:rPr lang="en-US" sz="1400" u="sng" dirty="0">
                <a:solidFill>
                  <a:srgbClr val="14211F"/>
                </a:solidFill>
                <a:latin typeface="Poppins" pitchFamily="34" charset="0"/>
                <a:ea typeface="Poppins" pitchFamily="34" charset="-122"/>
                <a:cs typeface="Poppins" pitchFamily="34" charset="-120"/>
                <a:hlinkClick r:id="rId3">
                  <a:extLst>
                    <a:ext uri="{A12FA001-AC4F-418D-AE19-62706E023703}">
                      <ahyp:hlinkClr xmlns:ahyp="http://schemas.microsoft.com/office/drawing/2018/hyperlinkcolor" val="tx"/>
                    </a:ext>
                  </a:extLst>
                </a:hlinkClick>
              </a:rPr>
              <a:t>civic-pulse-gamma-ivory.vercel.app</a:t>
            </a:r>
            <a:endParaRPr lang="en-US" sz="1400" dirty="0"/>
          </a:p>
          <a:p>
            <a:pPr marL="0" indent="0">
              <a:buNone/>
            </a:pPr>
            <a:r>
              <a:rPr lang="en-US" sz="800" dirty="0">
                <a:solidFill>
                  <a:srgbClr val="000000"/>
                </a:solidFill>
                <a:latin typeface="Poppins" pitchFamily="34" charset="0"/>
                <a:ea typeface="Poppins" pitchFamily="34" charset="-122"/>
                <a:cs typeface="Poppins" pitchFamily="34" charset="-120"/>
              </a:rPr>
              <a:t> </a:t>
            </a:r>
            <a:endParaRPr lang="en-US" sz="1400" dirty="0"/>
          </a:p>
          <a:p>
            <a:pPr marL="0" indent="0">
              <a:buNone/>
            </a:pPr>
            <a:r>
              <a:rPr lang="en-US" sz="1400" dirty="0">
                <a:solidFill>
                  <a:srgbClr val="17494D"/>
                </a:solidFill>
                <a:latin typeface="Poppins SemiBold" pitchFamily="34" charset="0"/>
                <a:ea typeface="Poppins SemiBold" pitchFamily="34" charset="-122"/>
                <a:cs typeface="Poppins SemiBold" pitchFamily="34" charset="-120"/>
              </a:rPr>
              <a:t>Source</a:t>
            </a:r>
            <a:endParaRPr lang="en-US" sz="1400" dirty="0"/>
          </a:p>
          <a:p>
            <a:pPr marL="0" indent="0">
              <a:buNone/>
            </a:pPr>
            <a:r>
              <a:rPr lang="en-US" sz="1400" u="sng" dirty="0">
                <a:solidFill>
                  <a:srgbClr val="14211F"/>
                </a:solidFill>
                <a:latin typeface="Poppins" pitchFamily="34" charset="0"/>
                <a:ea typeface="Poppins" pitchFamily="34" charset="-122"/>
                <a:cs typeface="Poppins" pitchFamily="34" charset="-120"/>
                <a:hlinkClick r:id="rId4">
                  <a:extLst>
                    <a:ext uri="{A12FA001-AC4F-418D-AE19-62706E023703}">
                      <ahyp:hlinkClr xmlns:ahyp="http://schemas.microsoft.com/office/drawing/2018/hyperlinkcolor" val="tx"/>
                    </a:ext>
                  </a:extLst>
                </a:hlinkClick>
              </a:rPr>
              <a:t>github.com/Proj-CivicPulse/CivicPulse</a:t>
            </a:r>
            <a:endParaRPr lang="en-US" sz="1400" dirty="0"/>
          </a:p>
        </p:txBody>
      </p:sp>
      <p:sp>
        <p:nvSpPr>
          <p:cNvPr id="5" name="frame wards"/>
          <p:cNvSpPr/>
          <p:nvPr/>
        </p:nvSpPr>
        <p:spPr>
          <a:xfrm>
            <a:off x="7360920" y="1097280"/>
            <a:ext cx="4279392" cy="4663440"/>
          </a:xfrm>
          <a:prstGeom prst="roundRect">
            <a:avLst>
              <a:gd name="adj" fmla="val 1709"/>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6" name="frame bar"/>
          <p:cNvSpPr/>
          <p:nvPr/>
        </p:nvSpPr>
        <p:spPr>
          <a:xfrm>
            <a:off x="7370064" y="1106424"/>
            <a:ext cx="4261104" cy="274320"/>
          </a:xfrm>
          <a:prstGeom prst="roundRect">
            <a:avLst>
              <a:gd name="adj" fmla="val 23333"/>
            </a:avLst>
          </a:prstGeom>
          <a:solidFill>
            <a:srgbClr val="F3F6F4"/>
          </a:solidFill>
          <a:ln w="12700">
            <a:solidFill>
              <a:srgbClr val="F3F6F4"/>
            </a:solidFill>
            <a:prstDash val="solid"/>
          </a:ln>
        </p:spPr>
      </p:sp>
      <p:sp>
        <p:nvSpPr>
          <p:cNvPr id="7" name="Shape 5"/>
          <p:cNvSpPr/>
          <p:nvPr/>
        </p:nvSpPr>
        <p:spPr>
          <a:xfrm>
            <a:off x="7507224" y="1193292"/>
            <a:ext cx="82296" cy="82296"/>
          </a:xfrm>
          <a:prstGeom prst="ellipse">
            <a:avLst/>
          </a:prstGeom>
          <a:solidFill>
            <a:srgbClr val="C9D1CA"/>
          </a:solidFill>
          <a:ln w="12700">
            <a:solidFill>
              <a:srgbClr val="C9D1CA"/>
            </a:solidFill>
            <a:prstDash val="solid"/>
          </a:ln>
        </p:spPr>
      </p:sp>
      <p:sp>
        <p:nvSpPr>
          <p:cNvPr id="8" name="Shape 6"/>
          <p:cNvSpPr/>
          <p:nvPr/>
        </p:nvSpPr>
        <p:spPr>
          <a:xfrm>
            <a:off x="7653528" y="1193292"/>
            <a:ext cx="82296" cy="82296"/>
          </a:xfrm>
          <a:prstGeom prst="ellipse">
            <a:avLst/>
          </a:prstGeom>
          <a:solidFill>
            <a:srgbClr val="C9D1CA"/>
          </a:solidFill>
          <a:ln w="12700">
            <a:solidFill>
              <a:srgbClr val="C9D1CA"/>
            </a:solidFill>
            <a:prstDash val="solid"/>
          </a:ln>
        </p:spPr>
      </p:sp>
      <p:sp>
        <p:nvSpPr>
          <p:cNvPr id="9" name="Shape 7"/>
          <p:cNvSpPr/>
          <p:nvPr/>
        </p:nvSpPr>
        <p:spPr>
          <a:xfrm>
            <a:off x="7799832" y="1193292"/>
            <a:ext cx="82296" cy="82296"/>
          </a:xfrm>
          <a:prstGeom prst="ellipse">
            <a:avLst/>
          </a:prstGeom>
          <a:solidFill>
            <a:srgbClr val="C9D1CA"/>
          </a:solidFill>
          <a:ln w="12700">
            <a:solidFill>
              <a:srgbClr val="C9D1CA"/>
            </a:solidFill>
            <a:prstDash val="solid"/>
          </a:ln>
        </p:spPr>
      </p:sp>
      <p:pic>
        <p:nvPicPr>
          <p:cNvPr id="10" name="screenshot wards" descr="CivicPulse screenshot: wards"/>
          <p:cNvPicPr>
            <a:picLocks noChangeAspect="1"/>
          </p:cNvPicPr>
          <p:nvPr/>
        </p:nvPicPr>
        <p:blipFill>
          <a:blip r:embed="rId5"/>
          <a:stretch>
            <a:fillRect/>
          </a:stretch>
        </p:blipFill>
        <p:spPr>
          <a:xfrm>
            <a:off x="7379208" y="1380744"/>
            <a:ext cx="4242816" cy="4361688"/>
          </a:xfrm>
          <a:prstGeom prst="rect">
            <a:avLst/>
          </a:prstGeom>
        </p:spPr>
      </p:pic>
    </p:spTree>
  </p:cSld>
  <p:clrMapOvr>
    <a:masterClrMapping/>
  </p:clrMapOvr>
</p:sld>
</file>

<file path=ppt/theme/theme1.xml><?xml version="1.0" encoding="utf-8"?>
<a:theme xmlns:a="http://schemas.openxmlformats.org/drawingml/2006/main" name="CivicPulse">
  <a:themeElements>
    <a:clrScheme name="CivicPulse">
      <a:dk1>
        <a:srgbClr val="14211F"/>
      </a:dk1>
      <a:lt1>
        <a:srgbClr val="FFFFFF"/>
      </a:lt1>
      <a:dk2>
        <a:srgbClr val="17494D"/>
      </a:dk2>
      <a:lt2>
        <a:srgbClr val="F3F6F4"/>
      </a:lt2>
      <a:accent1>
        <a:srgbClr val="17494D"/>
      </a:accent1>
      <a:accent2>
        <a:srgbClr val="C0562A"/>
      </a:accent2>
      <a:accent3>
        <a:srgbClr val="B8862B"/>
      </a:accent3>
      <a:accent4>
        <a:srgbClr val="7C9A92"/>
      </a:accent4>
      <a:accent5>
        <a:srgbClr val="8E1F16"/>
      </a:accent5>
      <a:accent6>
        <a:srgbClr val="4A7A5C"/>
      </a:accent6>
      <a:hlink>
        <a:srgbClr val="17494D"/>
      </a:hlink>
      <a:folHlink>
        <a:srgbClr val="4C5A56"/>
      </a:folHlink>
    </a:clrScheme>
    <a:fontScheme name="CivicPuls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2645</Words>
  <Application>Microsoft Office PowerPoint</Application>
  <PresentationFormat>Widescreen</PresentationFormat>
  <Paragraphs>172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 Medium</vt:lpstr>
      <vt:lpstr>Arial</vt:lpstr>
      <vt:lpstr>Poppins</vt:lpstr>
      <vt:lpstr>Poppins SemiBold</vt:lpstr>
      <vt:lpstr>Playfair Display</vt:lpstr>
      <vt:lpstr>CivicPulse</vt:lpstr>
      <vt:lpstr>PowerPoint Presentation</vt:lpstr>
      <vt:lpstr>One pothole, reported five different ways</vt:lpstr>
      <vt:lpstr>Report once. Group by meaning. Fix what matters first</vt:lpstr>
      <vt:lpstr>Three services, one writer</vt:lpstr>
      <vt:lpstr>Grouped by meaning, checked by distance</vt:lpstr>
      <vt:lpstr>A score that shows its working</vt:lpstr>
      <vt:lpstr>Everything an officer needs on one screen</vt:lpstr>
      <vt:lpstr>We measured it instead of assuming it</vt:lpstr>
      <vt:lpstr>Live today, and what comes next</vt:lpstr>
      <vt:lpstr>PowerPoint Presentation</vt:lpstr>
    </vt:vector>
  </TitlesOfParts>
  <Company>CivicPulse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CivicPulse</dc:title>
  <dc:subject>From scattered complaints to prioritised incidents</dc:subject>
  <dc:creator>CivicPulse team</dc:creator>
  <cp:lastModifiedBy>Abhishek Ghosh</cp:lastModifiedBy>
  <cp:revision>2</cp:revision>
  <dcterms:created xsi:type="dcterms:W3CDTF">2026-10-22T07:40:35Z</dcterms:created>
  <dcterms:modified xsi:type="dcterms:W3CDTF">2026-10-22T07:41:01Z</dcterms:modified>
</cp:coreProperties>
</file>