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embeddedFontLst>
    <p:embeddedFont>
      <p:font typeface="Playfair Display" pitchFamily="2" charset="0"/>
      <p:regular r:id="rId15"/>
      <p:bold r:id="rId16"/>
      <p:italic r:id="rId17"/>
    </p:embeddedFont>
    <p:embeddedFont>
      <p:font typeface="Poppins" panose="00000500000000000000" pitchFamily="2" charset="0"/>
      <p:regular r:id="rId18"/>
      <p:bold r:id="rId19"/>
      <p:italic r:id="rId20"/>
    </p:embeddedFont>
    <p:embeddedFont>
      <p:font typeface="Poppins Medium" panose="00000600000000000000" pitchFamily="2" charset="0"/>
      <p:regular r:id="rId21"/>
    </p:embeddedFont>
    <p:embeddedFont>
      <p:font typeface="Poppins SemiBold" panose="00000700000000000000" pitchFamily="2" charset="0"/>
      <p:bold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7540DBC-49BA-86B7-8FA2-4D0AB066A748}">
          <p14:sldIdLst>
            <p14:sldId id="256"/>
          </p14:sldIdLst>
        </p14:section>
        <p14:section name="Problem and solution" id="{52F2CB7A-CBC8-CF9F-3362-97B0D70CD879}">
          <p14:sldIdLst>
            <p14:sldId id="257"/>
            <p14:sldId id="258"/>
          </p14:sldIdLst>
        </p14:section>
        <p14:section name="How it works" id="{C5C92DD5-0771-8101-C2FB-492C1E8A75AF}">
          <p14:sldIdLst>
            <p14:sldId id="259"/>
            <p14:sldId id="260"/>
            <p14:sldId id="261"/>
            <p14:sldId id="262"/>
            <p14:sldId id="263"/>
            <p14:sldId id="264"/>
          </p14:sldIdLst>
        </p14:section>
        <p14:section name="Results and next steps" id="{CE7A5C93-7566-20BC-15D0-DC20367153FA}">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4211F"/>
                </a:solidFill>
                <a:latin typeface="+mn-lt"/>
              </a:defRPr>
            </a:pPr>
            <a:r>
              <a:rPr sz="1200" b="0" i="0" u="none" strike="noStrike">
                <a:solidFill>
                  <a:srgbClr val="14211F"/>
                </a:solidFill>
                <a:latin typeface="+mn-lt"/>
              </a:rPr>
              <a:t>Similarity threshold sweep, 144 labelled complaints (%)</a:t>
            </a:r>
          </a:p>
        </c:rich>
      </c:tx>
      <c:overlay val="0"/>
    </c:title>
    <c:autoTitleDeleted val="0"/>
    <c:plotArea>
      <c:layout/>
      <c:lineChart>
        <c:grouping val="standard"/>
        <c:varyColors val="0"/>
        <c:ser>
          <c:idx val="0"/>
          <c:order val="0"/>
          <c:tx>
            <c:strRef>
              <c:f>Sheet1!$B$1</c:f>
              <c:strCache>
                <c:ptCount val="1"/>
                <c:pt idx="0">
                  <c:v>Precision</c:v>
                </c:pt>
              </c:strCache>
            </c:strRef>
          </c:tx>
          <c:spPr>
            <a:ln w="31750" cap="flat">
              <a:solidFill>
                <a:srgbClr val="17494D"/>
              </a:solidFill>
              <a:prstDash val="solid"/>
              <a:round/>
            </a:ln>
            <a:effectLst/>
          </c:spPr>
          <c:marker>
            <c:symbol val="circle"/>
            <c:size val="7"/>
            <c:spPr>
              <a:solidFill>
                <a:srgbClr val="17494D"/>
              </a:solidFill>
              <a:ln w="9525" cap="flat">
                <a:solidFill>
                  <a:srgbClr val="17494D"/>
                </a:solidFill>
                <a:prstDash val="solid"/>
                <a:round/>
              </a:ln>
              <a:effectLst/>
            </c:spPr>
          </c:marker>
          <c:cat>
            <c:strRef>
              <c:f>Sheet1!$A$2:$A$9</c:f>
              <c:strCache>
                <c:ptCount val="8"/>
                <c:pt idx="0">
                  <c:v>0.75</c:v>
                </c:pt>
                <c:pt idx="1">
                  <c:v>0.80</c:v>
                </c:pt>
                <c:pt idx="2">
                  <c:v>0.82</c:v>
                </c:pt>
                <c:pt idx="3">
                  <c:v>0.84</c:v>
                </c:pt>
                <c:pt idx="4">
                  <c:v>0.85</c:v>
                </c:pt>
                <c:pt idx="5">
                  <c:v>0.86</c:v>
                </c:pt>
                <c:pt idx="6">
                  <c:v>0.87</c:v>
                </c:pt>
                <c:pt idx="7">
                  <c:v>0.90</c:v>
                </c:pt>
              </c:strCache>
            </c:strRef>
          </c:cat>
          <c:val>
            <c:numRef>
              <c:f>Sheet1!$B$2:$B$9</c:f>
              <c:numCache>
                <c:formatCode>General</c:formatCode>
                <c:ptCount val="8"/>
                <c:pt idx="0">
                  <c:v>27.3</c:v>
                </c:pt>
                <c:pt idx="1">
                  <c:v>32.299999999999997</c:v>
                </c:pt>
                <c:pt idx="2">
                  <c:v>40.4</c:v>
                </c:pt>
                <c:pt idx="3">
                  <c:v>61.5</c:v>
                </c:pt>
                <c:pt idx="4">
                  <c:v>71.900000000000006</c:v>
                </c:pt>
                <c:pt idx="5">
                  <c:v>79.599999999999994</c:v>
                </c:pt>
                <c:pt idx="6">
                  <c:v>89.2</c:v>
                </c:pt>
                <c:pt idx="7">
                  <c:v>97</c:v>
                </c:pt>
              </c:numCache>
            </c:numRef>
          </c:val>
          <c:smooth val="0"/>
          <c:extLst>
            <c:ext xmlns:c16="http://schemas.microsoft.com/office/drawing/2014/chart" uri="{C3380CC4-5D6E-409C-BE32-E72D297353CC}">
              <c16:uniqueId val="{00000000-0CA2-4CD6-8954-0BA42BE0C260}"/>
            </c:ext>
          </c:extLst>
        </c:ser>
        <c:ser>
          <c:idx val="1"/>
          <c:order val="1"/>
          <c:tx>
            <c:strRef>
              <c:f>Sheet1!$C$1</c:f>
              <c:strCache>
                <c:ptCount val="1"/>
                <c:pt idx="0">
                  <c:v>Recall</c:v>
                </c:pt>
              </c:strCache>
            </c:strRef>
          </c:tx>
          <c:spPr>
            <a:ln w="31750" cap="flat">
              <a:solidFill>
                <a:srgbClr val="B8862B"/>
              </a:solidFill>
              <a:prstDash val="solid"/>
              <a:round/>
            </a:ln>
            <a:effectLst/>
          </c:spPr>
          <c:marker>
            <c:symbol val="circle"/>
            <c:size val="7"/>
            <c:spPr>
              <a:solidFill>
                <a:srgbClr val="B8862B"/>
              </a:solidFill>
              <a:ln w="9525" cap="flat">
                <a:solidFill>
                  <a:srgbClr val="B8862B"/>
                </a:solidFill>
                <a:prstDash val="solid"/>
                <a:round/>
              </a:ln>
              <a:effectLst/>
            </c:spPr>
          </c:marker>
          <c:cat>
            <c:strRef>
              <c:f>Sheet1!$A$2:$A$9</c:f>
              <c:strCache>
                <c:ptCount val="8"/>
                <c:pt idx="0">
                  <c:v>0.75</c:v>
                </c:pt>
                <c:pt idx="1">
                  <c:v>0.80</c:v>
                </c:pt>
                <c:pt idx="2">
                  <c:v>0.82</c:v>
                </c:pt>
                <c:pt idx="3">
                  <c:v>0.84</c:v>
                </c:pt>
                <c:pt idx="4">
                  <c:v>0.85</c:v>
                </c:pt>
                <c:pt idx="5">
                  <c:v>0.86</c:v>
                </c:pt>
                <c:pt idx="6">
                  <c:v>0.87</c:v>
                </c:pt>
                <c:pt idx="7">
                  <c:v>0.90</c:v>
                </c:pt>
              </c:strCache>
            </c:strRef>
          </c:cat>
          <c:val>
            <c:numRef>
              <c:f>Sheet1!$C$2:$C$9</c:f>
              <c:numCache>
                <c:formatCode>General</c:formatCode>
                <c:ptCount val="8"/>
                <c:pt idx="0">
                  <c:v>100</c:v>
                </c:pt>
                <c:pt idx="1">
                  <c:v>98.9</c:v>
                </c:pt>
                <c:pt idx="2">
                  <c:v>97</c:v>
                </c:pt>
                <c:pt idx="3">
                  <c:v>94.3</c:v>
                </c:pt>
                <c:pt idx="4">
                  <c:v>93.6</c:v>
                </c:pt>
                <c:pt idx="5">
                  <c:v>90.2</c:v>
                </c:pt>
                <c:pt idx="6">
                  <c:v>85.2</c:v>
                </c:pt>
                <c:pt idx="7">
                  <c:v>60.3</c:v>
                </c:pt>
              </c:numCache>
            </c:numRef>
          </c:val>
          <c:smooth val="0"/>
          <c:extLst>
            <c:ext xmlns:c16="http://schemas.microsoft.com/office/drawing/2014/chart" uri="{C3380CC4-5D6E-409C-BE32-E72D297353CC}">
              <c16:uniqueId val="{00000001-0CA2-4CD6-8954-0BA42BE0C26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C9D1CA"/>
            </a:solidFill>
            <a:prstDash val="solid"/>
            <a:round/>
          </a:ln>
        </c:spPr>
        <c:txPr>
          <a:bodyPr/>
          <a:lstStyle/>
          <a:p>
            <a:pPr>
              <a:defRPr sz="1100" b="0" i="0" u="none" strike="noStrike">
                <a:solidFill>
                  <a:srgbClr val="4C5A56"/>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4E9E5"/>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4C5A56"/>
                </a:solidFill>
                <a:latin typeface="+mn-lt"/>
              </a:defRPr>
            </a:pPr>
            <a:endParaRPr lang="en-US"/>
          </a:p>
        </c:txPr>
        <c:crossAx val="2094734554"/>
        <c:crosses val="autoZero"/>
        <c:crossBetween val="between"/>
        <c:majorUnit val="25"/>
      </c:valAx>
      <c:spPr>
        <a:noFill/>
        <a:ln>
          <a:noFill/>
        </a:ln>
        <a:effectLst/>
      </c:spPr>
    </c:plotArea>
    <c:legend>
      <c:legendPos val="t"/>
      <c:overlay val="0"/>
      <c:txPr>
        <a:bodyPr/>
        <a:lstStyle/>
        <a:p>
          <a:pPr>
            <a:defRPr sz="1100">
              <a:solidFill>
                <a:srgbClr val="4C5A56"/>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4211F"/>
                </a:solidFill>
                <a:latin typeface="+mn-lt"/>
              </a:defRPr>
            </a:pPr>
            <a:r>
              <a:rPr sz="1200" b="0" i="0" u="none" strike="noStrike">
                <a:solidFill>
                  <a:srgbClr val="14211F"/>
                </a:solidFill>
                <a:latin typeface="+mn-lt"/>
              </a:rPr>
              <a:t>Agreement with an independent ranking of 45 incidents (Kendall τ-b)</a:t>
            </a:r>
          </a:p>
        </c:rich>
      </c:tx>
      <c:overlay val="0"/>
    </c:title>
    <c:autoTitleDeleted val="0"/>
    <c:plotArea>
      <c:layout/>
      <c:barChart>
        <c:barDir val="col"/>
        <c:grouping val="clustered"/>
        <c:varyColors val="0"/>
        <c:ser>
          <c:idx val="0"/>
          <c:order val="0"/>
          <c:tx>
            <c:strRef>
              <c:f>Sheet1!$B$1</c:f>
              <c:strCache>
                <c:ptCount val="1"/>
                <c:pt idx="0">
                  <c:v>Most reports first (baseline)</c:v>
                </c:pt>
              </c:strCache>
            </c:strRef>
          </c:tx>
          <c:spPr>
            <a:solidFill>
              <a:srgbClr val="A9B4AC"/>
            </a:solidFill>
            <a:effectLst/>
          </c:spPr>
          <c:invertIfNegative val="0"/>
          <c:dLbls>
            <c:numFmt formatCode="0.00" sourceLinked="0"/>
            <c:spPr>
              <a:noFill/>
              <a:ln>
                <a:noFill/>
              </a:ln>
              <a:effectLst/>
            </c:spPr>
            <c:txPr>
              <a:bodyPr/>
              <a:lstStyle/>
              <a:p>
                <a:pPr>
                  <a:defRPr sz="1000" b="0" i="0" u="none" strike="noStrike">
                    <a:solidFill>
                      <a:srgbClr val="4C5A5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Run 1</c:v>
                </c:pt>
                <c:pt idx="1">
                  <c:v>Run 2</c:v>
                </c:pt>
                <c:pt idx="2">
                  <c:v>Run 3</c:v>
                </c:pt>
              </c:strCache>
            </c:strRef>
          </c:cat>
          <c:val>
            <c:numRef>
              <c:f>Sheet1!$B$2:$B$4</c:f>
              <c:numCache>
                <c:formatCode>General</c:formatCode>
                <c:ptCount val="3"/>
                <c:pt idx="0">
                  <c:v>0.39500000000000002</c:v>
                </c:pt>
                <c:pt idx="1">
                  <c:v>0.32100000000000001</c:v>
                </c:pt>
                <c:pt idx="2">
                  <c:v>0.26800000000000002</c:v>
                </c:pt>
              </c:numCache>
            </c:numRef>
          </c:val>
          <c:extLst>
            <c:ext xmlns:c16="http://schemas.microsoft.com/office/drawing/2014/chart" uri="{C3380CC4-5D6E-409C-BE32-E72D297353CC}">
              <c16:uniqueId val="{00000000-CE83-4AEF-BD7E-8ECC9722D61D}"/>
            </c:ext>
          </c:extLst>
        </c:ser>
        <c:ser>
          <c:idx val="1"/>
          <c:order val="1"/>
          <c:tx>
            <c:strRef>
              <c:f>Sheet1!$C$1</c:f>
              <c:strCache>
                <c:ptCount val="1"/>
                <c:pt idx="0">
                  <c:v>Formula, age capped at 14 days</c:v>
                </c:pt>
              </c:strCache>
            </c:strRef>
          </c:tx>
          <c:spPr>
            <a:solidFill>
              <a:srgbClr val="639797"/>
            </a:solidFill>
            <a:effectLst/>
          </c:spPr>
          <c:invertIfNegative val="0"/>
          <c:dLbls>
            <c:numFmt formatCode="0.00" sourceLinked="0"/>
            <c:spPr>
              <a:noFill/>
              <a:ln>
                <a:noFill/>
              </a:ln>
              <a:effectLst/>
            </c:spPr>
            <c:txPr>
              <a:bodyPr/>
              <a:lstStyle/>
              <a:p>
                <a:pPr>
                  <a:defRPr sz="1000" b="0" i="0" u="none" strike="noStrike">
                    <a:solidFill>
                      <a:srgbClr val="4C5A5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Run 1</c:v>
                </c:pt>
                <c:pt idx="1">
                  <c:v>Run 2</c:v>
                </c:pt>
                <c:pt idx="2">
                  <c:v>Run 3</c:v>
                </c:pt>
              </c:strCache>
            </c:strRef>
          </c:cat>
          <c:val>
            <c:numRef>
              <c:f>Sheet1!$C$2:$C$4</c:f>
              <c:numCache>
                <c:formatCode>General</c:formatCode>
                <c:ptCount val="3"/>
                <c:pt idx="0">
                  <c:v>0.42299999999999999</c:v>
                </c:pt>
                <c:pt idx="1">
                  <c:v>0.36599999999999999</c:v>
                </c:pt>
                <c:pt idx="2">
                  <c:v>0.32</c:v>
                </c:pt>
              </c:numCache>
            </c:numRef>
          </c:val>
          <c:extLst>
            <c:ext xmlns:c16="http://schemas.microsoft.com/office/drawing/2014/chart" uri="{C3380CC4-5D6E-409C-BE32-E72D297353CC}">
              <c16:uniqueId val="{00000001-CE83-4AEF-BD7E-8ECC9722D61D}"/>
            </c:ext>
          </c:extLst>
        </c:ser>
        <c:ser>
          <c:idx val="2"/>
          <c:order val="2"/>
          <c:tx>
            <c:strRef>
              <c:f>Sheet1!$D$1</c:f>
              <c:strCache>
                <c:ptCount val="1"/>
                <c:pt idx="0">
                  <c:v>Formula, age capped at 30 days (live)</c:v>
                </c:pt>
              </c:strCache>
            </c:strRef>
          </c:tx>
          <c:spPr>
            <a:solidFill>
              <a:srgbClr val="17494D"/>
            </a:solidFill>
            <a:effectLst/>
          </c:spPr>
          <c:invertIfNegative val="0"/>
          <c:dLbls>
            <c:numFmt formatCode="0.00" sourceLinked="0"/>
            <c:spPr>
              <a:noFill/>
              <a:ln>
                <a:noFill/>
              </a:ln>
              <a:effectLst/>
            </c:spPr>
            <c:txPr>
              <a:bodyPr/>
              <a:lstStyle/>
              <a:p>
                <a:pPr>
                  <a:defRPr sz="1000" b="0" i="0" u="none" strike="noStrike">
                    <a:solidFill>
                      <a:srgbClr val="4C5A5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Run 1</c:v>
                </c:pt>
                <c:pt idx="1">
                  <c:v>Run 2</c:v>
                </c:pt>
                <c:pt idx="2">
                  <c:v>Run 3</c:v>
                </c:pt>
              </c:strCache>
            </c:strRef>
          </c:cat>
          <c:val>
            <c:numRef>
              <c:f>Sheet1!$D$2:$D$4</c:f>
              <c:numCache>
                <c:formatCode>General</c:formatCode>
                <c:ptCount val="3"/>
                <c:pt idx="0">
                  <c:v>0.55600000000000005</c:v>
                </c:pt>
                <c:pt idx="1">
                  <c:v>0.497</c:v>
                </c:pt>
                <c:pt idx="2">
                  <c:v>0.43</c:v>
                </c:pt>
              </c:numCache>
            </c:numRef>
          </c:val>
          <c:extLst>
            <c:ext xmlns:c16="http://schemas.microsoft.com/office/drawing/2014/chart" uri="{C3380CC4-5D6E-409C-BE32-E72D297353CC}">
              <c16:uniqueId val="{00000002-CE83-4AEF-BD7E-8ECC9722D61D}"/>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C9D1CA"/>
            </a:solidFill>
            <a:prstDash val="solid"/>
            <a:round/>
          </a:ln>
        </c:spPr>
        <c:txPr>
          <a:bodyPr/>
          <a:lstStyle/>
          <a:p>
            <a:pPr>
              <a:defRPr sz="1100" b="0" i="0" u="none" strike="noStrike">
                <a:solidFill>
                  <a:srgbClr val="4C5A56"/>
                </a:solidFill>
                <a:latin typeface="+mn-lt"/>
              </a:defRPr>
            </a:pPr>
            <a:endParaRPr lang="en-US"/>
          </a:p>
        </c:txPr>
        <c:crossAx val="2094734552"/>
        <c:crosses val="autoZero"/>
        <c:auto val="1"/>
        <c:lblAlgn val="ctr"/>
        <c:lblOffset val="100"/>
        <c:noMultiLvlLbl val="1"/>
      </c:catAx>
      <c:valAx>
        <c:axId val="2094734552"/>
        <c:scaling>
          <c:orientation val="minMax"/>
          <c:max val="0.6"/>
          <c:min val="0"/>
        </c:scaling>
        <c:delete val="0"/>
        <c:axPos val="l"/>
        <c:majorGridlines>
          <c:spPr>
            <a:ln w="9525" cap="flat">
              <a:solidFill>
                <a:srgbClr val="E4E9E5"/>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4C5A56"/>
                </a:solidFill>
                <a:latin typeface="+mn-lt"/>
              </a:defRPr>
            </a:pPr>
            <a:endParaRPr lang="en-US"/>
          </a:p>
        </c:txPr>
        <c:crossAx val="2094734554"/>
        <c:crosses val="autoZero"/>
        <c:crossBetween val="between"/>
        <c:majorUnit val="0.2"/>
      </c:valAx>
      <c:spPr>
        <a:noFill/>
        <a:ln>
          <a:noFill/>
        </a:ln>
        <a:effectLst/>
      </c:spPr>
    </c:plotArea>
    <c:legend>
      <c:legendPos val="t"/>
      <c:overlay val="0"/>
      <c:txPr>
        <a:bodyPr/>
        <a:lstStyle/>
        <a:p>
          <a:pPr>
            <a:defRPr sz="1100">
              <a:solidFill>
                <a:srgbClr val="4C5A56"/>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2473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about 35 seconds
Good morning everyone. We are team CivicPulse. I am [name], and with me are [names].
CivicPulse is a civic-complaint platform built for Bengaluru. The idea fits in one line: citizens report problems in their own words, and we turn those reports into grouped, prioritised incidents that a ward officer can act on, with a written reason for every decision.
What you see on the right is the live site, running today.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about 45 seconds
Let us start with the problem. Picture one pothole near a bus stop. Five people report it. One writes formally. One types five words. One is angry because it is their third complaint. One mixes Hindi and English. One describes it in completely different words.
To a city system, that is five tickets. To the officer, it is one road to fix.
That causes three problems. Duplicates bury the queue. Grouping by category alone is too blunt: a blocked sewer and a missing drain cover share a category, but they need different repairs. And there is usually no stated reason why one complaint is “urgent” and another is not, so nobody can check the ranking.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about 45 seconds
So CivicPulse works in three steps.
One: report. A citizen picks a category, drops a pin and describes the problem, with no account needed. We find the ward from 243 real BBMP ward boundaries.
Two: group. We turn the text into an embedding, a list of numbers that captures meaning, so reports that say the same thing in different words land together. Same ward, same category, within 500 metres: one incident.
Three: prioritise and act. Every incident gets a score with written reasons, and the officer works from a ranked queue with a map, hotspots and a suggested next step.
HANDOVER: [Speaker 2] will show you how it is built.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about 55 seconds
Thanks, [Speaker 1]. CivicPulse is three services.
The React frontend serves citizens and officers. At the centre is Spring Boot: login, complaints, priority and dashboards. It is the only service allowed to write to the database, so two services can never fight over the same record.
The Node.js service is our AI layer. It uses Google’s Gemini models twice: embeddings to match complaints, and the language model behind the Copilot you will see later. Everything lives in PostgreSQL, with pgvector for embeddings and PostGIS for ward maps.
One rule shaped all of this: a citizen never waits for the AI. The complaint is saved first, and matching happens a second later. If the AI service is down, a circuit breaker falls back to simple grouping, and a sweep redoes those matches when it recovers.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about 60 seconds
Now the heart of it: how we decide two reports are the same problem. Three checks: same ward and category; a similarity score of at least 0.84 against the closest report already in the incident; and within 500 metres, because the same words a few streets away usually mean a different fault.
We did not pick 0.84 by feel. We wrote 144 test complaints with three different real problems per ward and category, and swept the threshold: that is the chart. At our original 0.75, everything merged: recall 100 percent, precision only 27. At 0.84, recall stays at 94 percent and precision more than doubles.
On real decisions from the live system, correct grouping went from 55 percent to 95. And a second, blind labeller re-checked our labels and came to the same choice.
HANDOVER: [Speaker 3] will take you through prioritisation and what the officer does next.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about 50 seconds
Thanks, [Speaker 2]. Once reports are grouped, the officer needs to know what to fix first.
We chose a rule, not a black-box model: there is no labelled data to train one, and an officer must be able to check the answer. Four parts: volume, 40 percent, how many people reported it; growth, 30, new reports in the last day; age, 20, up to 30 days; spread, 10, up to a kilometre. That gives a score from 0 to 10, in four bands.
On the right is a real incident: a road that has caved in, scored High, 5.5. And it says why: 14 complaints, open 36 days, 3 more in the last week. Every score is stored with its reasons.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about 45 seconds
This is the officer console.
On the left, the queue: 249 reports grouped into 45 incidents, ranked, on a map. Above it, the “needs attention” strip: life-safety hazards, high priority, getting worse, in a hotspot, and categories spiking. Each one opens the incidents behind it.
On the right, all 243 wards, shaded by active incidents, and below them the hotspots: three or more incidents of the same kind within 500 metres. Here we have three: street lights, solid waste and water supply.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about 55 seconds
The system suggests; the officer decides. Four tools make that real.
The life-safety flag reads the reports’ own words. Here they say “road sunk”, so the incident is flagged as a possible hazard. It never changes the score; it escalates, and the officer confirms or clears it.
The suggested next step names one action, here “Escalate”, with the rule that fired and the facts it read. The officer agrees or disagrees, and we log both, so we can check our rules.
Under each report, CivicPulse explains why it was grouped, in plain words: “nearly the same wording, 140 metres away”. And if the matcher gets it wrong, the officer can merge or split incidents, with a reason, and the system never undoes it.
HANDOVER: [Speaker 4] will show you the Copilot and our results.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  about 60 seconds
Thanks, [Speaker 3]. The Officer Copilot lets an officer ask in plain words, “which incidents are most urgent, and why?”, and get an answer built only from CivicPulse data. Every claim cites an incident, ward or category, and residents’ complaint text is never sent to the model.
We tested it with 22 questions, including ones it should refuse: the weather, the mayor, a resident’s phone number, and “ignore your instructions”. It passed 21. Across 37 citations and 81 numbers, not one was made up: everything came from the data. It declined 8 of the 9 out-of-scope questions.
The one miss is honest and useful: asked for hotspots, it named the busiest wards, because hotspots are not in its data yet. That is our first next step.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  about 45 seconds
Overall, we measured instead of assuming.
Grouping: 95 percent of real decisions correct. Priority: we had an AI ranker, which never saw our formula, rank 45 incidents three times. Our formula beat the naive “most reports first” baseline every time. Letting age count up to 30 days instead of 14 improved agreement in every run, so we applied it, and that is what is live.
This ranker is a stand-in. A real officer’s ranking is our next check.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  about 30 seconds
Today, all of this is built, tested and deployed: intake, matching, priority, the console, hotspots, decision support, officer controls and the Copilot.
Next: give the Copilot hotspots and life-safety flags, confirm the priority weights with a real officer, connect a real data feed, and add photo upload.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  about 15 seconds
To sum up: CivicPulse turns scattered complaints into grouped, prioritised incidents, and it can explain every decision it makes.
It is live at the address on screen. Thank you; we are happy to take questions.
(Q&amp;A: each speaker takes questions on their own slides.)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355080"/>
            <a:ext cx="2743200" cy="274320"/>
          </a:xfrm>
          <a:prstGeom prst="rect">
            <a:avLst/>
          </a:prstGeom>
          <a:noFill/>
          <a:ln/>
        </p:spPr>
        <p:txBody>
          <a:bodyPr wrap="square" lIns="0" tIns="0" rIns="0" bIns="0" rtlCol="0" anchor="ctr"/>
          <a:lstStyle/>
          <a:p>
            <a:pPr marL="0" indent="0">
              <a:buNone/>
            </a:pPr>
            <a:r>
              <a:rPr lang="en-US" sz="1000" dirty="0">
                <a:solidFill>
                  <a:srgbClr val="5E6B67"/>
                </a:solidFill>
                <a:latin typeface="Poppins Medium" pitchFamily="34" charset="0"/>
                <a:ea typeface="Poppins Medium" pitchFamily="34" charset="-122"/>
                <a:cs typeface="Poppins Medium" pitchFamily="34" charset="-120"/>
              </a:rPr>
              <a:t>CivicPulse</a:t>
            </a:r>
            <a:endParaRPr lang="en-US" sz="1000" dirty="0"/>
          </a:p>
        </p:txBody>
      </p:sp>
      <p:sp>
        <p:nvSpPr>
          <p:cNvPr id="3" name="Text 1"/>
          <p:cNvSpPr>
            <a:spLocks noGrp="1"/>
          </p:cNvSpPr>
          <p:nvPr>
            <p:ph type="body" idx="101" hasCustomPrompt="1"/>
          </p:nvPr>
        </p:nvSpPr>
        <p:spPr>
          <a:xfrm>
            <a:off x="548640" y="457200"/>
            <a:ext cx="11094415" cy="292608"/>
          </a:xfrm>
          <a:prstGeom prst="rect">
            <a:avLst/>
          </a:prstGeom>
          <a:noFill/>
          <a:ln/>
        </p:spPr>
        <p:txBody>
          <a:bodyPr wrap="square" rtlCol="0"/>
          <a:lstStyle>
            <a:lvl1pPr marL="0" indent="0">
              <a:buNone/>
              <a:defRPr lang="en-US" sz="1100" kern="0" spc="200" dirty="0">
                <a:solidFill>
                  <a:srgbClr val="17494D"/>
                </a:solidFill>
                <a:latin typeface="Poppins SemiBold" pitchFamily="34" charset="0"/>
                <a:ea typeface="Poppins SemiBold" pitchFamily="34" charset="-122"/>
                <a:cs typeface="Poppins SemiBold" pitchFamily="34" charset="-120"/>
              </a:defRPr>
            </a:lvl1pPr>
          </a:lstStyle>
          <a:p>
            <a:pPr marL="0" indent="0">
              <a:buNone/>
            </a:pPr>
            <a:endParaRPr lang="en-US" sz="1100" dirty="0"/>
          </a:p>
        </p:txBody>
      </p:sp>
      <p:sp>
        <p:nvSpPr>
          <p:cNvPr id="4" name="Text 1"/>
          <p:cNvSpPr>
            <a:spLocks noGrp="1"/>
          </p:cNvSpPr>
          <p:nvPr>
            <p:ph type="title" idx="102" hasCustomPrompt="1"/>
          </p:nvPr>
        </p:nvSpPr>
        <p:spPr>
          <a:xfrm>
            <a:off x="548640" y="749808"/>
            <a:ext cx="11094415" cy="777240"/>
          </a:xfrm>
          <a:prstGeom prst="rect">
            <a:avLst/>
          </a:prstGeom>
          <a:noFill/>
          <a:ln/>
        </p:spPr>
        <p:txBody>
          <a:bodyPr wrap="square" rtlCol="0"/>
          <a:lstStyle>
            <a:lvl1pPr marL="0" indent="0" algn="l">
              <a:buNone/>
              <a:defRPr lang="en-US" sz="3400" b="1" dirty="0">
                <a:solidFill>
                  <a:srgbClr val="14211F"/>
                </a:solidFill>
                <a:latin typeface="Playfair Display" pitchFamily="34" charset="0"/>
                <a:ea typeface="Playfair Display" pitchFamily="34" charset="-122"/>
                <a:cs typeface="Playfair Display" pitchFamily="34" charset="-120"/>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B67"/>
                </a:solidFill>
                <a:latin typeface="Poppins Medium"/>
                <a:ea typeface="Poppins Medium"/>
                <a:cs typeface="Poppins Medium"/>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B67"/>
                </a:solidFill>
                <a:latin typeface="Poppins Medium"/>
                <a:ea typeface="Poppins Medium"/>
                <a:cs typeface="Poppins Medium"/>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chart" Target="../charts/chart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5.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hyperlink" Target="https://civic-pulse-gamma-ivory.vercel.app"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hyperlink" Target="https://github.com/Proj-CivicPulse/CivicPulse"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417320"/>
            <a:ext cx="5486400" cy="320040"/>
          </a:xfrm>
          <a:prstGeom prst="rect">
            <a:avLst/>
          </a:prstGeom>
          <a:noFill/>
          <a:ln/>
        </p:spPr>
        <p:txBody>
          <a:bodyPr wrap="square" lIns="0" tIns="0" rIns="0" bIns="0" rtlCol="0" anchor="ctr"/>
          <a:lstStyle/>
          <a:p>
            <a:pPr marL="0" indent="0">
              <a:buNone/>
            </a:pPr>
            <a:r>
              <a:rPr lang="en-US" sz="1200" kern="0" spc="200" dirty="0">
                <a:solidFill>
                  <a:srgbClr val="17494D"/>
                </a:solidFill>
                <a:latin typeface="Poppins SemiBold" pitchFamily="34" charset="0"/>
                <a:ea typeface="Poppins SemiBold" pitchFamily="34" charset="-122"/>
                <a:cs typeface="Poppins SemiBold" pitchFamily="34" charset="-120"/>
              </a:rPr>
              <a:t>CPI PROJECT EVALUATION</a:t>
            </a:r>
            <a:endParaRPr lang="en-US" sz="1200" dirty="0"/>
          </a:p>
        </p:txBody>
      </p:sp>
      <p:sp>
        <p:nvSpPr>
          <p:cNvPr id="3" name="Text 1"/>
          <p:cNvSpPr txBox="1"/>
          <p:nvPr/>
        </p:nvSpPr>
        <p:spPr>
          <a:xfrm>
            <a:off x="640080" y="1828800"/>
            <a:ext cx="5852160" cy="1234440"/>
          </a:xfrm>
          <a:prstGeom prst="rect">
            <a:avLst/>
          </a:prstGeom>
          <a:noFill/>
          <a:ln/>
        </p:spPr>
        <p:txBody>
          <a:bodyPr wrap="square" lIns="0" tIns="0" rIns="0" bIns="0" rtlCol="0" anchor="ctr"/>
          <a:lstStyle/>
          <a:p>
            <a:pPr marL="0" indent="0">
              <a:buNone/>
            </a:pPr>
            <a:r>
              <a:rPr lang="en-US" sz="6800" b="1" dirty="0">
                <a:solidFill>
                  <a:srgbClr val="14211F"/>
                </a:solidFill>
                <a:latin typeface="Playfair Display" pitchFamily="34" charset="0"/>
                <a:ea typeface="Playfair Display" pitchFamily="34" charset="-122"/>
                <a:cs typeface="Playfair Display" pitchFamily="34" charset="-120"/>
              </a:rPr>
              <a:t>CivicPulse</a:t>
            </a:r>
            <a:endParaRPr lang="en-US" sz="6800" dirty="0"/>
          </a:p>
        </p:txBody>
      </p:sp>
      <p:sp>
        <p:nvSpPr>
          <p:cNvPr id="4" name="Text 2"/>
          <p:cNvSpPr txBox="1"/>
          <p:nvPr/>
        </p:nvSpPr>
        <p:spPr>
          <a:xfrm>
            <a:off x="640080" y="3108960"/>
            <a:ext cx="5394960" cy="914400"/>
          </a:xfrm>
          <a:prstGeom prst="rect">
            <a:avLst/>
          </a:prstGeom>
          <a:noFill/>
          <a:ln/>
        </p:spPr>
        <p:txBody>
          <a:bodyPr wrap="square" lIns="0" tIns="0" rIns="0" bIns="0" rtlCol="0" anchor="t"/>
          <a:lstStyle/>
          <a:p>
            <a:pPr marL="0" indent="0">
              <a:buNone/>
            </a:pPr>
            <a:r>
              <a:rPr lang="en-US" sz="2400" i="1" dirty="0">
                <a:solidFill>
                  <a:srgbClr val="4C5A56"/>
                </a:solidFill>
                <a:latin typeface="Playfair Display" pitchFamily="34" charset="0"/>
                <a:ea typeface="Playfair Display" pitchFamily="34" charset="-122"/>
                <a:cs typeface="Playfair Display" pitchFamily="34" charset="-120"/>
              </a:rPr>
              <a:t>From scattered complaints to prioritised incidents</a:t>
            </a:r>
            <a:endParaRPr lang="en-US" sz="2400" dirty="0"/>
          </a:p>
        </p:txBody>
      </p:sp>
      <p:sp>
        <p:nvSpPr>
          <p:cNvPr id="5" name="Text 3"/>
          <p:cNvSpPr txBox="1"/>
          <p:nvPr/>
        </p:nvSpPr>
        <p:spPr>
          <a:xfrm>
            <a:off x="640080" y="4114800"/>
            <a:ext cx="5120640" cy="914400"/>
          </a:xfrm>
          <a:prstGeom prst="rect">
            <a:avLst/>
          </a:prstGeom>
          <a:noFill/>
          <a:ln/>
        </p:spPr>
        <p:txBody>
          <a:bodyPr wrap="square" lIns="0" tIns="0" rIns="0" bIns="0" rtlCol="0" anchor="t"/>
          <a:lstStyle/>
          <a:p>
            <a:pPr marL="0" indent="0">
              <a:buNone/>
            </a:pPr>
            <a:r>
              <a:rPr lang="en-US" sz="1400" dirty="0">
                <a:solidFill>
                  <a:srgbClr val="4C5A56"/>
                </a:solidFill>
                <a:latin typeface="Poppins" pitchFamily="34" charset="0"/>
                <a:ea typeface="Poppins" pitchFamily="34" charset="-122"/>
                <a:cs typeface="Poppins" pitchFamily="34" charset="-120"/>
              </a:rPr>
              <a:t>Citizens report problems in their own words. CivicPulse groups the reports that describe the same fault and tells the officer which to fix first, and why.</a:t>
            </a:r>
            <a:endParaRPr lang="en-US" sz="1400" dirty="0"/>
          </a:p>
        </p:txBody>
      </p:sp>
      <p:sp>
        <p:nvSpPr>
          <p:cNvPr id="6" name="Text 4"/>
          <p:cNvSpPr txBox="1"/>
          <p:nvPr/>
        </p:nvSpPr>
        <p:spPr>
          <a:xfrm>
            <a:off x="640080" y="5440680"/>
            <a:ext cx="5120640" cy="685800"/>
          </a:xfrm>
          <a:prstGeom prst="rect">
            <a:avLst/>
          </a:prstGeom>
          <a:noFill/>
          <a:ln/>
        </p:spPr>
        <p:txBody>
          <a:bodyPr wrap="square" lIns="0" tIns="0" rIns="0" bIns="0" rtlCol="0" anchor="t"/>
          <a:lstStyle/>
          <a:p>
            <a:pPr marL="0" indent="0">
              <a:buNone/>
            </a:pPr>
            <a:r>
              <a:rPr lang="en-US" sz="1300" dirty="0">
                <a:solidFill>
                  <a:srgbClr val="14211F"/>
                </a:solidFill>
                <a:latin typeface="Poppins Medium" pitchFamily="34" charset="0"/>
                <a:ea typeface="Poppins Medium" pitchFamily="34" charset="-122"/>
                <a:cs typeface="Poppins Medium" pitchFamily="34" charset="-120"/>
              </a:rPr>
              <a:t>Suryansh  ·  Abhishek  ·  Devansh</a:t>
            </a:r>
            <a:endParaRPr lang="en-US" sz="1300" dirty="0"/>
          </a:p>
          <a:p>
            <a:pPr marL="0" indent="0">
              <a:buNone/>
            </a:pPr>
            <a:r>
              <a:rPr lang="en-US" sz="1300" dirty="0">
                <a:solidFill>
                  <a:srgbClr val="14211F"/>
                </a:solidFill>
                <a:latin typeface="Poppins Medium" pitchFamily="34" charset="0"/>
                <a:ea typeface="Poppins Medium" pitchFamily="34" charset="-122"/>
                <a:cs typeface="Poppins Medium" pitchFamily="34" charset="-120"/>
              </a:rPr>
              <a:t>Manya  ·  Ria  ·  Alaafiya</a:t>
            </a:r>
            <a:endParaRPr lang="en-US" sz="1300" dirty="0"/>
          </a:p>
        </p:txBody>
      </p:sp>
      <p:sp>
        <p:nvSpPr>
          <p:cNvPr id="7" name="frame landing"/>
          <p:cNvSpPr/>
          <p:nvPr/>
        </p:nvSpPr>
        <p:spPr>
          <a:xfrm>
            <a:off x="6446520" y="1691640"/>
            <a:ext cx="5212080" cy="3520440"/>
          </a:xfrm>
          <a:prstGeom prst="roundRect">
            <a:avLst>
              <a:gd name="adj" fmla="val 2078"/>
            </a:avLst>
          </a:prstGeom>
          <a:solidFill>
            <a:srgbClr val="FFFFFF"/>
          </a:solidFill>
          <a:ln w="12700">
            <a:solidFill>
              <a:srgbClr val="C9D1CA"/>
            </a:solidFill>
            <a:prstDash val="solid"/>
          </a:ln>
          <a:effectLst>
            <a:outerShdw blurRad="177800" dist="38100" dir="5400000" algn="bl" rotWithShape="0">
              <a:srgbClr val="14211F">
                <a:alpha val="12000"/>
              </a:srgbClr>
            </a:outerShdw>
          </a:effectLst>
        </p:spPr>
      </p:sp>
      <p:sp>
        <p:nvSpPr>
          <p:cNvPr id="8" name="frame bar"/>
          <p:cNvSpPr/>
          <p:nvPr/>
        </p:nvSpPr>
        <p:spPr>
          <a:xfrm>
            <a:off x="6455664" y="1700784"/>
            <a:ext cx="5193792" cy="274320"/>
          </a:xfrm>
          <a:prstGeom prst="roundRect">
            <a:avLst>
              <a:gd name="adj" fmla="val 23333"/>
            </a:avLst>
          </a:prstGeom>
          <a:solidFill>
            <a:srgbClr val="F3F6F4"/>
          </a:solidFill>
          <a:ln w="12700">
            <a:solidFill>
              <a:srgbClr val="F3F6F4"/>
            </a:solidFill>
            <a:prstDash val="solid"/>
          </a:ln>
        </p:spPr>
      </p:sp>
      <p:sp>
        <p:nvSpPr>
          <p:cNvPr id="9" name="Shape 7"/>
          <p:cNvSpPr/>
          <p:nvPr/>
        </p:nvSpPr>
        <p:spPr>
          <a:xfrm>
            <a:off x="6592824" y="1787652"/>
            <a:ext cx="82296" cy="82296"/>
          </a:xfrm>
          <a:prstGeom prst="ellipse">
            <a:avLst/>
          </a:prstGeom>
          <a:solidFill>
            <a:srgbClr val="C9D1CA"/>
          </a:solidFill>
          <a:ln w="12700">
            <a:solidFill>
              <a:srgbClr val="C9D1CA"/>
            </a:solidFill>
            <a:prstDash val="solid"/>
          </a:ln>
        </p:spPr>
      </p:sp>
      <p:sp>
        <p:nvSpPr>
          <p:cNvPr id="10" name="Shape 8"/>
          <p:cNvSpPr/>
          <p:nvPr/>
        </p:nvSpPr>
        <p:spPr>
          <a:xfrm>
            <a:off x="6739128" y="1787652"/>
            <a:ext cx="82296" cy="82296"/>
          </a:xfrm>
          <a:prstGeom prst="ellipse">
            <a:avLst/>
          </a:prstGeom>
          <a:solidFill>
            <a:srgbClr val="C9D1CA"/>
          </a:solidFill>
          <a:ln w="12700">
            <a:solidFill>
              <a:srgbClr val="C9D1CA"/>
            </a:solidFill>
            <a:prstDash val="solid"/>
          </a:ln>
        </p:spPr>
      </p:sp>
      <p:sp>
        <p:nvSpPr>
          <p:cNvPr id="11" name="Shape 9"/>
          <p:cNvSpPr/>
          <p:nvPr/>
        </p:nvSpPr>
        <p:spPr>
          <a:xfrm>
            <a:off x="6885432" y="1787652"/>
            <a:ext cx="82296" cy="82296"/>
          </a:xfrm>
          <a:prstGeom prst="ellipse">
            <a:avLst/>
          </a:prstGeom>
          <a:solidFill>
            <a:srgbClr val="C9D1CA"/>
          </a:solidFill>
          <a:ln w="12700">
            <a:solidFill>
              <a:srgbClr val="C9D1CA"/>
            </a:solidFill>
            <a:prstDash val="solid"/>
          </a:ln>
        </p:spPr>
      </p:sp>
      <p:pic>
        <p:nvPicPr>
          <p:cNvPr id="12" name="screenshot landing" descr="CivicPulse screenshot: landing"/>
          <p:cNvPicPr>
            <a:picLocks noChangeAspect="1"/>
          </p:cNvPicPr>
          <p:nvPr/>
        </p:nvPicPr>
        <p:blipFill>
          <a:blip r:embed="rId3"/>
          <a:stretch>
            <a:fillRect/>
          </a:stretch>
        </p:blipFill>
        <p:spPr>
          <a:xfrm>
            <a:off x="6464808" y="1975104"/>
            <a:ext cx="5175504" cy="32186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457200"/>
            <a:ext cx="11094415" cy="292608"/>
          </a:xfrm>
          <a:prstGeom prst="rect">
            <a:avLst/>
          </a:prstGeom>
          <a:noFill/>
          <a:ln/>
        </p:spPr>
        <p:txBody>
          <a:bodyPr wrap="square" lIns="0" tIns="0" rIns="0" bIns="0" rtlCol="0" anchor="t"/>
          <a:lstStyle/>
          <a:p>
            <a:pPr marL="0" indent="0">
              <a:buNone/>
            </a:pPr>
            <a:r>
              <a:rPr lang="en-US" sz="1100" kern="0" spc="200" dirty="0">
                <a:solidFill>
                  <a:srgbClr val="17494D"/>
                </a:solidFill>
                <a:latin typeface="Poppins SemiBold" pitchFamily="34" charset="0"/>
                <a:ea typeface="Poppins SemiBold" pitchFamily="34" charset="-122"/>
                <a:cs typeface="Poppins SemiBold" pitchFamily="34" charset="-120"/>
              </a:rPr>
              <a:t>01  THE PROBLEM</a:t>
            </a:r>
            <a:endParaRPr lang="en-US" sz="1100" dirty="0"/>
          </a:p>
        </p:txBody>
      </p:sp>
      <p:sp>
        <p:nvSpPr>
          <p:cNvPr id="3" name="Text 1"/>
          <p:cNvSpPr>
            <a:spLocks noGrp="1"/>
          </p:cNvSpPr>
          <p:nvPr>
            <p:ph type="title" idx="102" hasCustomPrompt="1"/>
          </p:nvPr>
        </p:nvSpPr>
        <p:spPr>
          <a:xfrm>
            <a:off x="548640" y="749808"/>
            <a:ext cx="11094415" cy="777240"/>
          </a:xfrm>
          <a:prstGeom prst="rect">
            <a:avLst/>
          </a:prstGeom>
          <a:noFill/>
          <a:ln/>
        </p:spPr>
        <p:txBody>
          <a:bodyPr wrap="square" lIns="0" tIns="0" rIns="0" bIns="0" rtlCol="0" anchor="t"/>
          <a:lstStyle/>
          <a:p>
            <a:pPr marL="0" indent="0" algn="l">
              <a:buNone/>
            </a:pPr>
            <a:r>
              <a:rPr lang="en-US" sz="3400" b="1" dirty="0">
                <a:solidFill>
                  <a:srgbClr val="14211F"/>
                </a:solidFill>
                <a:latin typeface="Playfair Display" pitchFamily="34" charset="0"/>
                <a:ea typeface="Playfair Display" pitchFamily="34" charset="-122"/>
                <a:cs typeface="Playfair Display" pitchFamily="34" charset="-120"/>
              </a:rPr>
              <a:t>One pothole, reported five different ways</a:t>
            </a:r>
            <a:endParaRPr lang="en-US" sz="3400" dirty="0"/>
          </a:p>
        </p:txBody>
      </p:sp>
      <p:sp>
        <p:nvSpPr>
          <p:cNvPr id="4" name="report card"/>
          <p:cNvSpPr/>
          <p:nvPr/>
        </p:nvSpPr>
        <p:spPr>
          <a:xfrm>
            <a:off x="548640" y="1783080"/>
            <a:ext cx="5852160" cy="676656"/>
          </a:xfrm>
          <a:prstGeom prst="roundRect">
            <a:avLst>
              <a:gd name="adj" fmla="val 10811"/>
            </a:avLst>
          </a:prstGeom>
          <a:solidFill>
            <a:srgbClr val="F3F6F4"/>
          </a:solidFill>
          <a:ln w="9525">
            <a:solidFill>
              <a:srgbClr val="C9D1CA"/>
            </a:solidFill>
            <a:prstDash val="solid"/>
          </a:ln>
        </p:spPr>
      </p:sp>
      <p:sp>
        <p:nvSpPr>
          <p:cNvPr id="5" name="Text 3"/>
          <p:cNvSpPr txBox="1"/>
          <p:nvPr/>
        </p:nvSpPr>
        <p:spPr>
          <a:xfrm>
            <a:off x="749808" y="1856232"/>
            <a:ext cx="4343400" cy="530352"/>
          </a:xfrm>
          <a:prstGeom prst="rect">
            <a:avLst/>
          </a:prstGeom>
          <a:noFill/>
          <a:ln/>
        </p:spPr>
        <p:txBody>
          <a:bodyPr wrap="square" lIns="0" tIns="0" rIns="0" bIns="0" rtlCol="0" anchor="ctr"/>
          <a:lstStyle/>
          <a:p>
            <a:pPr marL="0" indent="0">
              <a:buNone/>
            </a:pPr>
            <a:r>
              <a:rPr lang="en-US" sz="1300" dirty="0">
                <a:solidFill>
                  <a:srgbClr val="14211F"/>
                </a:solidFill>
                <a:latin typeface="Poppins" pitchFamily="34" charset="0"/>
                <a:ea typeface="Poppins" pitchFamily="34" charset="-122"/>
                <a:cs typeface="Poppins" pitchFamily="34" charset="-120"/>
              </a:rPr>
              <a:t>Huge pothole outside the 4th Block bus stop, very dangerous at night</a:t>
            </a:r>
            <a:endParaRPr lang="en-US" sz="1300" dirty="0"/>
          </a:p>
        </p:txBody>
      </p:sp>
      <p:sp>
        <p:nvSpPr>
          <p:cNvPr id="6" name="Text 4"/>
          <p:cNvSpPr txBox="1"/>
          <p:nvPr/>
        </p:nvSpPr>
        <p:spPr>
          <a:xfrm>
            <a:off x="5120640" y="1856232"/>
            <a:ext cx="1097280" cy="530352"/>
          </a:xfrm>
          <a:prstGeom prst="rect">
            <a:avLst/>
          </a:prstGeom>
          <a:noFill/>
          <a:ln/>
        </p:spPr>
        <p:txBody>
          <a:bodyPr wrap="square" lIns="0" tIns="0" rIns="0" bIns="0" rtlCol="0" anchor="ctr"/>
          <a:lstStyle/>
          <a:p>
            <a:pPr marL="0" indent="0" algn="r">
              <a:buNone/>
            </a:pPr>
            <a:r>
              <a:rPr lang="en-US" sz="1000" dirty="0">
                <a:solidFill>
                  <a:srgbClr val="5E6B67"/>
                </a:solidFill>
                <a:latin typeface="Poppins Medium" pitchFamily="34" charset="0"/>
                <a:ea typeface="Poppins Medium" pitchFamily="34" charset="-122"/>
                <a:cs typeface="Poppins Medium" pitchFamily="34" charset="-120"/>
              </a:rPr>
              <a:t>Formal</a:t>
            </a:r>
            <a:endParaRPr lang="en-US" sz="1000" dirty="0"/>
          </a:p>
        </p:txBody>
      </p:sp>
      <p:sp>
        <p:nvSpPr>
          <p:cNvPr id="7" name="report card"/>
          <p:cNvSpPr/>
          <p:nvPr/>
        </p:nvSpPr>
        <p:spPr>
          <a:xfrm>
            <a:off x="548640" y="2587752"/>
            <a:ext cx="5852160" cy="676656"/>
          </a:xfrm>
          <a:prstGeom prst="roundRect">
            <a:avLst>
              <a:gd name="adj" fmla="val 10811"/>
            </a:avLst>
          </a:prstGeom>
          <a:solidFill>
            <a:srgbClr val="F3F6F4"/>
          </a:solidFill>
          <a:ln w="9525">
            <a:solidFill>
              <a:srgbClr val="C9D1CA"/>
            </a:solidFill>
            <a:prstDash val="solid"/>
          </a:ln>
        </p:spPr>
      </p:sp>
      <p:sp>
        <p:nvSpPr>
          <p:cNvPr id="8" name="Text 6"/>
          <p:cNvSpPr txBox="1"/>
          <p:nvPr/>
        </p:nvSpPr>
        <p:spPr>
          <a:xfrm>
            <a:off x="749808" y="2660904"/>
            <a:ext cx="4343400" cy="530352"/>
          </a:xfrm>
          <a:prstGeom prst="rect">
            <a:avLst/>
          </a:prstGeom>
          <a:noFill/>
          <a:ln/>
        </p:spPr>
        <p:txBody>
          <a:bodyPr wrap="square" lIns="0" tIns="0" rIns="0" bIns="0" rtlCol="0" anchor="ctr"/>
          <a:lstStyle/>
          <a:p>
            <a:pPr marL="0" indent="0">
              <a:buNone/>
            </a:pPr>
            <a:r>
              <a:rPr lang="en-US" sz="1300" dirty="0">
                <a:solidFill>
                  <a:srgbClr val="14211F"/>
                </a:solidFill>
                <a:latin typeface="Poppins" pitchFamily="34" charset="0"/>
                <a:ea typeface="Poppins" pitchFamily="34" charset="-122"/>
                <a:cs typeface="Poppins" pitchFamily="34" charset="-120"/>
              </a:rPr>
              <a:t>road broken near bus stand. bike skidded</a:t>
            </a:r>
            <a:endParaRPr lang="en-US" sz="1300" dirty="0"/>
          </a:p>
        </p:txBody>
      </p:sp>
      <p:sp>
        <p:nvSpPr>
          <p:cNvPr id="9" name="Text 7"/>
          <p:cNvSpPr txBox="1"/>
          <p:nvPr/>
        </p:nvSpPr>
        <p:spPr>
          <a:xfrm>
            <a:off x="5120640" y="2660904"/>
            <a:ext cx="1097280" cy="530352"/>
          </a:xfrm>
          <a:prstGeom prst="rect">
            <a:avLst/>
          </a:prstGeom>
          <a:noFill/>
          <a:ln/>
        </p:spPr>
        <p:txBody>
          <a:bodyPr wrap="square" lIns="0" tIns="0" rIns="0" bIns="0" rtlCol="0" anchor="ctr"/>
          <a:lstStyle/>
          <a:p>
            <a:pPr marL="0" indent="0" algn="r">
              <a:buNone/>
            </a:pPr>
            <a:r>
              <a:rPr lang="en-US" sz="1000" dirty="0">
                <a:solidFill>
                  <a:srgbClr val="5E6B67"/>
                </a:solidFill>
                <a:latin typeface="Poppins Medium" pitchFamily="34" charset="0"/>
                <a:ea typeface="Poppins Medium" pitchFamily="34" charset="-122"/>
                <a:cs typeface="Poppins Medium" pitchFamily="34" charset="-120"/>
              </a:rPr>
              <a:t>Terse</a:t>
            </a:r>
            <a:endParaRPr lang="en-US" sz="1000" dirty="0"/>
          </a:p>
        </p:txBody>
      </p:sp>
      <p:sp>
        <p:nvSpPr>
          <p:cNvPr id="10" name="report card"/>
          <p:cNvSpPr/>
          <p:nvPr/>
        </p:nvSpPr>
        <p:spPr>
          <a:xfrm>
            <a:off x="548640" y="3392424"/>
            <a:ext cx="5852160" cy="676656"/>
          </a:xfrm>
          <a:prstGeom prst="roundRect">
            <a:avLst>
              <a:gd name="adj" fmla="val 10811"/>
            </a:avLst>
          </a:prstGeom>
          <a:solidFill>
            <a:srgbClr val="F3F6F4"/>
          </a:solidFill>
          <a:ln w="9525">
            <a:solidFill>
              <a:srgbClr val="C9D1CA"/>
            </a:solidFill>
            <a:prstDash val="solid"/>
          </a:ln>
        </p:spPr>
      </p:sp>
      <p:sp>
        <p:nvSpPr>
          <p:cNvPr id="11" name="Text 9"/>
          <p:cNvSpPr txBox="1"/>
          <p:nvPr/>
        </p:nvSpPr>
        <p:spPr>
          <a:xfrm>
            <a:off x="749808" y="3465576"/>
            <a:ext cx="4343400" cy="530352"/>
          </a:xfrm>
          <a:prstGeom prst="rect">
            <a:avLst/>
          </a:prstGeom>
          <a:noFill/>
          <a:ln/>
        </p:spPr>
        <p:txBody>
          <a:bodyPr wrap="square" lIns="0" tIns="0" rIns="0" bIns="0" rtlCol="0" anchor="ctr"/>
          <a:lstStyle/>
          <a:p>
            <a:pPr marL="0" indent="0">
              <a:buNone/>
            </a:pPr>
            <a:r>
              <a:rPr lang="en-US" sz="1300" dirty="0">
                <a:solidFill>
                  <a:srgbClr val="14211F"/>
                </a:solidFill>
                <a:latin typeface="Poppins" pitchFamily="34" charset="0"/>
                <a:ea typeface="Poppins" pitchFamily="34" charset="-122"/>
                <a:cs typeface="Poppins" pitchFamily="34" charset="-120"/>
              </a:rPr>
              <a:t>Third time complaining!! Nobody fixes this road</a:t>
            </a:r>
            <a:endParaRPr lang="en-US" sz="1300" dirty="0"/>
          </a:p>
        </p:txBody>
      </p:sp>
      <p:sp>
        <p:nvSpPr>
          <p:cNvPr id="12" name="Text 10"/>
          <p:cNvSpPr txBox="1"/>
          <p:nvPr/>
        </p:nvSpPr>
        <p:spPr>
          <a:xfrm>
            <a:off x="5120640" y="3465576"/>
            <a:ext cx="1097280" cy="530352"/>
          </a:xfrm>
          <a:prstGeom prst="rect">
            <a:avLst/>
          </a:prstGeom>
          <a:noFill/>
          <a:ln/>
        </p:spPr>
        <p:txBody>
          <a:bodyPr wrap="square" lIns="0" tIns="0" rIns="0" bIns="0" rtlCol="0" anchor="ctr"/>
          <a:lstStyle/>
          <a:p>
            <a:pPr marL="0" indent="0" algn="r">
              <a:buNone/>
            </a:pPr>
            <a:r>
              <a:rPr lang="en-US" sz="1000" dirty="0">
                <a:solidFill>
                  <a:srgbClr val="5E6B67"/>
                </a:solidFill>
                <a:latin typeface="Poppins Medium" pitchFamily="34" charset="0"/>
                <a:ea typeface="Poppins Medium" pitchFamily="34" charset="-122"/>
                <a:cs typeface="Poppins Medium" pitchFamily="34" charset="-120"/>
              </a:rPr>
              <a:t>Angry</a:t>
            </a:r>
            <a:endParaRPr lang="en-US" sz="1000" dirty="0"/>
          </a:p>
        </p:txBody>
      </p:sp>
      <p:sp>
        <p:nvSpPr>
          <p:cNvPr id="13" name="report card"/>
          <p:cNvSpPr/>
          <p:nvPr/>
        </p:nvSpPr>
        <p:spPr>
          <a:xfrm>
            <a:off x="548640" y="4197096"/>
            <a:ext cx="5852160" cy="676656"/>
          </a:xfrm>
          <a:prstGeom prst="roundRect">
            <a:avLst>
              <a:gd name="adj" fmla="val 10811"/>
            </a:avLst>
          </a:prstGeom>
          <a:solidFill>
            <a:srgbClr val="F3F6F4"/>
          </a:solidFill>
          <a:ln w="9525">
            <a:solidFill>
              <a:srgbClr val="C9D1CA"/>
            </a:solidFill>
            <a:prstDash val="solid"/>
          </a:ln>
        </p:spPr>
      </p:sp>
      <p:sp>
        <p:nvSpPr>
          <p:cNvPr id="14" name="Text 12"/>
          <p:cNvSpPr txBox="1"/>
          <p:nvPr/>
        </p:nvSpPr>
        <p:spPr>
          <a:xfrm>
            <a:off x="749808" y="4270248"/>
            <a:ext cx="4343400" cy="530352"/>
          </a:xfrm>
          <a:prstGeom prst="rect">
            <a:avLst/>
          </a:prstGeom>
          <a:noFill/>
          <a:ln/>
        </p:spPr>
        <p:txBody>
          <a:bodyPr wrap="square" lIns="0" tIns="0" rIns="0" bIns="0" rtlCol="0" anchor="ctr"/>
          <a:lstStyle/>
          <a:p>
            <a:pPr marL="0" indent="0">
              <a:buNone/>
            </a:pPr>
            <a:r>
              <a:rPr lang="en-US" sz="1300" dirty="0">
                <a:solidFill>
                  <a:srgbClr val="14211F"/>
                </a:solidFill>
                <a:latin typeface="Poppins" pitchFamily="34" charset="0"/>
                <a:ea typeface="Poppins" pitchFamily="34" charset="-122"/>
                <a:cs typeface="Poppins" pitchFamily="34" charset="-120"/>
              </a:rPr>
              <a:t>Bus stop ke paas bada gaddha hai, please repair</a:t>
            </a:r>
            <a:endParaRPr lang="en-US" sz="1300" dirty="0"/>
          </a:p>
        </p:txBody>
      </p:sp>
      <p:sp>
        <p:nvSpPr>
          <p:cNvPr id="15" name="Text 13"/>
          <p:cNvSpPr txBox="1"/>
          <p:nvPr/>
        </p:nvSpPr>
        <p:spPr>
          <a:xfrm>
            <a:off x="5120640" y="4270248"/>
            <a:ext cx="1097280" cy="530352"/>
          </a:xfrm>
          <a:prstGeom prst="rect">
            <a:avLst/>
          </a:prstGeom>
          <a:noFill/>
          <a:ln/>
        </p:spPr>
        <p:txBody>
          <a:bodyPr wrap="square" lIns="0" tIns="0" rIns="0" bIns="0" rtlCol="0" anchor="ctr"/>
          <a:lstStyle/>
          <a:p>
            <a:pPr marL="0" indent="0" algn="r">
              <a:buNone/>
            </a:pPr>
            <a:r>
              <a:rPr lang="en-US" sz="1000" dirty="0">
                <a:solidFill>
                  <a:srgbClr val="5E6B67"/>
                </a:solidFill>
                <a:latin typeface="Poppins Medium" pitchFamily="34" charset="0"/>
                <a:ea typeface="Poppins Medium" pitchFamily="34" charset="-122"/>
                <a:cs typeface="Poppins Medium" pitchFamily="34" charset="-120"/>
              </a:rPr>
              <a:t>Code-mixed</a:t>
            </a:r>
            <a:endParaRPr lang="en-US" sz="1000" dirty="0"/>
          </a:p>
        </p:txBody>
      </p:sp>
      <p:sp>
        <p:nvSpPr>
          <p:cNvPr id="16" name="report card"/>
          <p:cNvSpPr/>
          <p:nvPr/>
        </p:nvSpPr>
        <p:spPr>
          <a:xfrm>
            <a:off x="548640" y="5001768"/>
            <a:ext cx="5852160" cy="676656"/>
          </a:xfrm>
          <a:prstGeom prst="roundRect">
            <a:avLst>
              <a:gd name="adj" fmla="val 10811"/>
            </a:avLst>
          </a:prstGeom>
          <a:solidFill>
            <a:srgbClr val="F3F6F4"/>
          </a:solidFill>
          <a:ln w="9525">
            <a:solidFill>
              <a:srgbClr val="C9D1CA"/>
            </a:solidFill>
            <a:prstDash val="solid"/>
          </a:ln>
        </p:spPr>
      </p:sp>
      <p:sp>
        <p:nvSpPr>
          <p:cNvPr id="17" name="Text 15"/>
          <p:cNvSpPr txBox="1"/>
          <p:nvPr/>
        </p:nvSpPr>
        <p:spPr>
          <a:xfrm>
            <a:off x="749808" y="5074920"/>
            <a:ext cx="4343400" cy="530352"/>
          </a:xfrm>
          <a:prstGeom prst="rect">
            <a:avLst/>
          </a:prstGeom>
          <a:noFill/>
          <a:ln/>
        </p:spPr>
        <p:txBody>
          <a:bodyPr wrap="square" lIns="0" tIns="0" rIns="0" bIns="0" rtlCol="0" anchor="ctr"/>
          <a:lstStyle/>
          <a:p>
            <a:pPr marL="0" indent="0">
              <a:buNone/>
            </a:pPr>
            <a:r>
              <a:rPr lang="en-US" sz="1300" dirty="0">
                <a:solidFill>
                  <a:srgbClr val="14211F"/>
                </a:solidFill>
                <a:latin typeface="Poppins" pitchFamily="34" charset="0"/>
                <a:ea typeface="Poppins" pitchFamily="34" charset="-122"/>
                <a:cs typeface="Poppins" pitchFamily="34" charset="-120"/>
              </a:rPr>
              <a:t>Deep hole on the main road, Jayanagar 4th Block</a:t>
            </a:r>
            <a:endParaRPr lang="en-US" sz="1300" dirty="0"/>
          </a:p>
        </p:txBody>
      </p:sp>
      <p:sp>
        <p:nvSpPr>
          <p:cNvPr id="18" name="Text 16"/>
          <p:cNvSpPr txBox="1"/>
          <p:nvPr/>
        </p:nvSpPr>
        <p:spPr>
          <a:xfrm>
            <a:off x="5120640" y="5074920"/>
            <a:ext cx="1097280" cy="530352"/>
          </a:xfrm>
          <a:prstGeom prst="rect">
            <a:avLst/>
          </a:prstGeom>
          <a:noFill/>
          <a:ln/>
        </p:spPr>
        <p:txBody>
          <a:bodyPr wrap="square" lIns="0" tIns="0" rIns="0" bIns="0" rtlCol="0" anchor="ctr"/>
          <a:lstStyle/>
          <a:p>
            <a:pPr marL="0" indent="0" algn="r">
              <a:buNone/>
            </a:pPr>
            <a:r>
              <a:rPr lang="en-US" sz="1000" dirty="0">
                <a:solidFill>
                  <a:srgbClr val="5E6B67"/>
                </a:solidFill>
                <a:latin typeface="Poppins Medium" pitchFamily="34" charset="0"/>
                <a:ea typeface="Poppins Medium" pitchFamily="34" charset="-122"/>
                <a:cs typeface="Poppins Medium" pitchFamily="34" charset="-120"/>
              </a:rPr>
              <a:t>Different words</a:t>
            </a:r>
            <a:endParaRPr lang="en-US" sz="1000" dirty="0"/>
          </a:p>
        </p:txBody>
      </p:sp>
      <p:sp>
        <p:nvSpPr>
          <p:cNvPr id="19" name="Text 17"/>
          <p:cNvSpPr txBox="1"/>
          <p:nvPr/>
        </p:nvSpPr>
        <p:spPr>
          <a:xfrm>
            <a:off x="6949440" y="1783080"/>
            <a:ext cx="4663440" cy="411480"/>
          </a:xfrm>
          <a:prstGeom prst="rect">
            <a:avLst/>
          </a:prstGeom>
          <a:noFill/>
          <a:ln/>
        </p:spPr>
        <p:txBody>
          <a:bodyPr wrap="square" lIns="0" tIns="0" rIns="0" bIns="0" rtlCol="0" anchor="ctr"/>
          <a:lstStyle/>
          <a:p>
            <a:pPr marL="0" indent="0">
              <a:buNone/>
            </a:pPr>
            <a:r>
              <a:rPr lang="en-US" sz="2200" dirty="0">
                <a:solidFill>
                  <a:srgbClr val="14211F"/>
                </a:solidFill>
                <a:latin typeface="Playfair Display" pitchFamily="34" charset="0"/>
                <a:ea typeface="Playfair Display" pitchFamily="34" charset="-122"/>
                <a:cs typeface="Playfair Display" pitchFamily="34" charset="-120"/>
              </a:rPr>
              <a:t>Five tickets in the queue.</a:t>
            </a:r>
            <a:endParaRPr lang="en-US" sz="2200" dirty="0"/>
          </a:p>
        </p:txBody>
      </p:sp>
      <p:sp>
        <p:nvSpPr>
          <p:cNvPr id="20" name="Text 18"/>
          <p:cNvSpPr txBox="1"/>
          <p:nvPr/>
        </p:nvSpPr>
        <p:spPr>
          <a:xfrm>
            <a:off x="6949440" y="2194560"/>
            <a:ext cx="4663440" cy="411480"/>
          </a:xfrm>
          <a:prstGeom prst="rect">
            <a:avLst/>
          </a:prstGeom>
          <a:noFill/>
          <a:ln/>
        </p:spPr>
        <p:txBody>
          <a:bodyPr wrap="square" lIns="0" tIns="0" rIns="0" bIns="0" rtlCol="0" anchor="ctr"/>
          <a:lstStyle/>
          <a:p>
            <a:pPr marL="0" indent="0">
              <a:buNone/>
            </a:pPr>
            <a:r>
              <a:rPr lang="en-US" sz="2200" i="1" dirty="0">
                <a:solidFill>
                  <a:srgbClr val="17494D"/>
                </a:solidFill>
                <a:latin typeface="Playfair Display" pitchFamily="34" charset="0"/>
                <a:ea typeface="Playfair Display" pitchFamily="34" charset="-122"/>
                <a:cs typeface="Playfair Display" pitchFamily="34" charset="-120"/>
              </a:rPr>
              <a:t>One road to fix.</a:t>
            </a:r>
            <a:endParaRPr lang="en-US" sz="2200" dirty="0"/>
          </a:p>
        </p:txBody>
      </p:sp>
      <p:sp>
        <p:nvSpPr>
          <p:cNvPr id="21" name="icon-bg LuLayers"/>
          <p:cNvSpPr/>
          <p:nvPr/>
        </p:nvSpPr>
        <p:spPr>
          <a:xfrm>
            <a:off x="6949440" y="2971800"/>
            <a:ext cx="502920" cy="502920"/>
          </a:xfrm>
          <a:prstGeom prst="ellipse">
            <a:avLst/>
          </a:prstGeom>
          <a:solidFill>
            <a:srgbClr val="DCE8E8"/>
          </a:solidFill>
          <a:ln w="12700">
            <a:solidFill>
              <a:srgbClr val="DCE8E8"/>
            </a:solidFill>
            <a:prstDash val="solid"/>
          </a:ln>
        </p:spPr>
      </p:sp>
      <p:pic>
        <p:nvPicPr>
          <p:cNvPr id="22" name="icon LuLayers" descr="preencoded.png"/>
          <p:cNvPicPr>
            <a:picLocks noChangeAspect="1"/>
          </p:cNvPicPr>
          <p:nvPr/>
        </p:nvPicPr>
        <p:blipFill>
          <a:blip r:embed="rId3"/>
          <a:stretch>
            <a:fillRect/>
          </a:stretch>
        </p:blipFill>
        <p:spPr>
          <a:xfrm>
            <a:off x="7075170" y="3097530"/>
            <a:ext cx="251460" cy="251460"/>
          </a:xfrm>
          <a:prstGeom prst="rect">
            <a:avLst/>
          </a:prstGeom>
        </p:spPr>
      </p:pic>
      <p:sp>
        <p:nvSpPr>
          <p:cNvPr id="23" name="Text 20"/>
          <p:cNvSpPr txBox="1"/>
          <p:nvPr/>
        </p:nvSpPr>
        <p:spPr>
          <a:xfrm>
            <a:off x="7680960" y="2953512"/>
            <a:ext cx="3931920" cy="329184"/>
          </a:xfrm>
          <a:prstGeom prst="rect">
            <a:avLst/>
          </a:prstGeom>
          <a:noFill/>
          <a:ln/>
        </p:spPr>
        <p:txBody>
          <a:bodyPr wrap="square" lIns="0" tIns="0" rIns="0" bIns="0" rtlCol="0" anchor="ctr"/>
          <a:lstStyle/>
          <a:p>
            <a:pPr marL="0" indent="0">
              <a:buNone/>
            </a:pPr>
            <a:r>
              <a:rPr lang="en-US" sz="1400" dirty="0">
                <a:solidFill>
                  <a:srgbClr val="14211F"/>
                </a:solidFill>
                <a:latin typeface="Poppins SemiBold" pitchFamily="34" charset="0"/>
                <a:ea typeface="Poppins SemiBold" pitchFamily="34" charset="-122"/>
                <a:cs typeface="Poppins SemiBold" pitchFamily="34" charset="-120"/>
              </a:rPr>
              <a:t>Duplicates bury the queue</a:t>
            </a:r>
            <a:endParaRPr lang="en-US" sz="1400" dirty="0"/>
          </a:p>
        </p:txBody>
      </p:sp>
      <p:sp>
        <p:nvSpPr>
          <p:cNvPr id="24" name="Text 21"/>
          <p:cNvSpPr txBox="1"/>
          <p:nvPr/>
        </p:nvSpPr>
        <p:spPr>
          <a:xfrm>
            <a:off x="7680960" y="3282696"/>
            <a:ext cx="3931920" cy="548640"/>
          </a:xfrm>
          <a:prstGeom prst="rect">
            <a:avLst/>
          </a:prstGeom>
          <a:noFill/>
          <a:ln/>
        </p:spPr>
        <p:txBody>
          <a:bodyPr wrap="square" lIns="0" tIns="0" rIns="0" bIns="0" rtlCol="0" anchor="t"/>
          <a:lstStyle/>
          <a:p>
            <a:pPr marL="0" indent="0">
              <a:buNone/>
            </a:pPr>
            <a:r>
              <a:rPr lang="en-US" sz="1200" dirty="0">
                <a:solidFill>
                  <a:srgbClr val="4C5A56"/>
                </a:solidFill>
                <a:latin typeface="Poppins" pitchFamily="34" charset="0"/>
                <a:ea typeface="Poppins" pitchFamily="34" charset="-122"/>
                <a:cs typeface="Poppins" pitchFamily="34" charset="-120"/>
              </a:rPr>
              <a:t>Officers triage the same fault again and again while new problems wait.</a:t>
            </a:r>
            <a:endParaRPr lang="en-US" sz="1200" dirty="0"/>
          </a:p>
        </p:txBody>
      </p:sp>
      <p:sp>
        <p:nvSpPr>
          <p:cNvPr id="25" name="icon-bg LuGitMerge"/>
          <p:cNvSpPr/>
          <p:nvPr/>
        </p:nvSpPr>
        <p:spPr>
          <a:xfrm>
            <a:off x="6949440" y="4050792"/>
            <a:ext cx="502920" cy="502920"/>
          </a:xfrm>
          <a:prstGeom prst="ellipse">
            <a:avLst/>
          </a:prstGeom>
          <a:solidFill>
            <a:srgbClr val="DCE8E8"/>
          </a:solidFill>
          <a:ln w="12700">
            <a:solidFill>
              <a:srgbClr val="DCE8E8"/>
            </a:solidFill>
            <a:prstDash val="solid"/>
          </a:ln>
        </p:spPr>
      </p:sp>
      <p:pic>
        <p:nvPicPr>
          <p:cNvPr id="26" name="icon LuGitMerge" descr="preencoded.png"/>
          <p:cNvPicPr>
            <a:picLocks noChangeAspect="1"/>
          </p:cNvPicPr>
          <p:nvPr/>
        </p:nvPicPr>
        <p:blipFill>
          <a:blip r:embed="rId4"/>
          <a:stretch>
            <a:fillRect/>
          </a:stretch>
        </p:blipFill>
        <p:spPr>
          <a:xfrm>
            <a:off x="7075170" y="4176522"/>
            <a:ext cx="251460" cy="251460"/>
          </a:xfrm>
          <a:prstGeom prst="rect">
            <a:avLst/>
          </a:prstGeom>
        </p:spPr>
      </p:pic>
      <p:sp>
        <p:nvSpPr>
          <p:cNvPr id="27" name="Text 23"/>
          <p:cNvSpPr txBox="1"/>
          <p:nvPr/>
        </p:nvSpPr>
        <p:spPr>
          <a:xfrm>
            <a:off x="7680960" y="4032504"/>
            <a:ext cx="3931920" cy="329184"/>
          </a:xfrm>
          <a:prstGeom prst="rect">
            <a:avLst/>
          </a:prstGeom>
          <a:noFill/>
          <a:ln/>
        </p:spPr>
        <p:txBody>
          <a:bodyPr wrap="square" lIns="0" tIns="0" rIns="0" bIns="0" rtlCol="0" anchor="ctr"/>
          <a:lstStyle/>
          <a:p>
            <a:pPr marL="0" indent="0">
              <a:buNone/>
            </a:pPr>
            <a:r>
              <a:rPr lang="en-US" sz="1400" dirty="0">
                <a:solidFill>
                  <a:srgbClr val="14211F"/>
                </a:solidFill>
                <a:latin typeface="Poppins SemiBold" pitchFamily="34" charset="0"/>
                <a:ea typeface="Poppins SemiBold" pitchFamily="34" charset="-122"/>
                <a:cs typeface="Poppins SemiBold" pitchFamily="34" charset="-120"/>
              </a:rPr>
              <a:t>Category grouping is too blunt</a:t>
            </a:r>
            <a:endParaRPr lang="en-US" sz="1400" dirty="0"/>
          </a:p>
        </p:txBody>
      </p:sp>
      <p:sp>
        <p:nvSpPr>
          <p:cNvPr id="28" name="Text 24"/>
          <p:cNvSpPr txBox="1"/>
          <p:nvPr/>
        </p:nvSpPr>
        <p:spPr>
          <a:xfrm>
            <a:off x="7680960" y="4361688"/>
            <a:ext cx="3931920" cy="548640"/>
          </a:xfrm>
          <a:prstGeom prst="rect">
            <a:avLst/>
          </a:prstGeom>
          <a:noFill/>
          <a:ln/>
        </p:spPr>
        <p:txBody>
          <a:bodyPr wrap="square" lIns="0" tIns="0" rIns="0" bIns="0" rtlCol="0" anchor="t"/>
          <a:lstStyle/>
          <a:p>
            <a:pPr marL="0" indent="0">
              <a:buNone/>
            </a:pPr>
            <a:r>
              <a:rPr lang="en-US" sz="1200" dirty="0">
                <a:solidFill>
                  <a:srgbClr val="4C5A56"/>
                </a:solidFill>
                <a:latin typeface="Poppins" pitchFamily="34" charset="0"/>
                <a:ea typeface="Poppins" pitchFamily="34" charset="-122"/>
                <a:cs typeface="Poppins" pitchFamily="34" charset="-120"/>
              </a:rPr>
              <a:t>A blocked sewer and a missing drain cover share a category, but not a repair.</a:t>
            </a:r>
            <a:endParaRPr lang="en-US" sz="1200" dirty="0"/>
          </a:p>
        </p:txBody>
      </p:sp>
      <p:sp>
        <p:nvSpPr>
          <p:cNvPr id="29" name="icon-bg LuGauge"/>
          <p:cNvSpPr/>
          <p:nvPr/>
        </p:nvSpPr>
        <p:spPr>
          <a:xfrm>
            <a:off x="6949440" y="5129784"/>
            <a:ext cx="502920" cy="502920"/>
          </a:xfrm>
          <a:prstGeom prst="ellipse">
            <a:avLst/>
          </a:prstGeom>
          <a:solidFill>
            <a:srgbClr val="DCE8E8"/>
          </a:solidFill>
          <a:ln w="12700">
            <a:solidFill>
              <a:srgbClr val="DCE8E8"/>
            </a:solidFill>
            <a:prstDash val="solid"/>
          </a:ln>
        </p:spPr>
      </p:sp>
      <p:pic>
        <p:nvPicPr>
          <p:cNvPr id="30" name="icon LuGauge" descr="preencoded.png"/>
          <p:cNvPicPr>
            <a:picLocks noChangeAspect="1"/>
          </p:cNvPicPr>
          <p:nvPr/>
        </p:nvPicPr>
        <p:blipFill>
          <a:blip r:embed="rId5"/>
          <a:stretch>
            <a:fillRect/>
          </a:stretch>
        </p:blipFill>
        <p:spPr>
          <a:xfrm>
            <a:off x="7075170" y="5255514"/>
            <a:ext cx="251460" cy="251460"/>
          </a:xfrm>
          <a:prstGeom prst="rect">
            <a:avLst/>
          </a:prstGeom>
        </p:spPr>
      </p:pic>
      <p:sp>
        <p:nvSpPr>
          <p:cNvPr id="31" name="Text 26"/>
          <p:cNvSpPr txBox="1"/>
          <p:nvPr/>
        </p:nvSpPr>
        <p:spPr>
          <a:xfrm>
            <a:off x="7680960" y="5111496"/>
            <a:ext cx="3931920" cy="329184"/>
          </a:xfrm>
          <a:prstGeom prst="rect">
            <a:avLst/>
          </a:prstGeom>
          <a:noFill/>
          <a:ln/>
        </p:spPr>
        <p:txBody>
          <a:bodyPr wrap="square" lIns="0" tIns="0" rIns="0" bIns="0" rtlCol="0" anchor="ctr"/>
          <a:lstStyle/>
          <a:p>
            <a:pPr marL="0" indent="0">
              <a:buNone/>
            </a:pPr>
            <a:r>
              <a:rPr lang="en-US" sz="1400" dirty="0">
                <a:solidFill>
                  <a:srgbClr val="14211F"/>
                </a:solidFill>
                <a:latin typeface="Poppins SemiBold" pitchFamily="34" charset="0"/>
                <a:ea typeface="Poppins SemiBold" pitchFamily="34" charset="-122"/>
                <a:cs typeface="Poppins SemiBold" pitchFamily="34" charset="-120"/>
              </a:rPr>
              <a:t>No reason behind "urgent"</a:t>
            </a:r>
            <a:endParaRPr lang="en-US" sz="1400" dirty="0"/>
          </a:p>
        </p:txBody>
      </p:sp>
      <p:sp>
        <p:nvSpPr>
          <p:cNvPr id="32" name="Text 27"/>
          <p:cNvSpPr txBox="1"/>
          <p:nvPr/>
        </p:nvSpPr>
        <p:spPr>
          <a:xfrm>
            <a:off x="7680960" y="5440680"/>
            <a:ext cx="3931920" cy="548640"/>
          </a:xfrm>
          <a:prstGeom prst="rect">
            <a:avLst/>
          </a:prstGeom>
          <a:noFill/>
          <a:ln/>
        </p:spPr>
        <p:txBody>
          <a:bodyPr wrap="square" lIns="0" tIns="0" rIns="0" bIns="0" rtlCol="0" anchor="t"/>
          <a:lstStyle/>
          <a:p>
            <a:pPr marL="0" indent="0">
              <a:buNone/>
            </a:pPr>
            <a:r>
              <a:rPr lang="en-US" sz="1200" dirty="0">
                <a:solidFill>
                  <a:srgbClr val="4C5A56"/>
                </a:solidFill>
                <a:latin typeface="Poppins" pitchFamily="34" charset="0"/>
                <a:ea typeface="Poppins" pitchFamily="34" charset="-122"/>
                <a:cs typeface="Poppins" pitchFamily="34" charset="-120"/>
              </a:rPr>
              <a:t>Without a stated rule, ranking is a guess no one can check.</a:t>
            </a:r>
            <a:endParaRPr lang="en-US" sz="1200" dirty="0"/>
          </a:p>
        </p:txBody>
      </p:sp>
      <p:sp>
        <p:nvSpPr>
          <p:cNvPr id="33"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B67"/>
                </a:solidFill>
                <a:latin typeface="Poppins Medium"/>
                <a:ea typeface="Poppins Medium"/>
                <a:cs typeface="Poppins Medium"/>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457200"/>
            <a:ext cx="11094415" cy="292608"/>
          </a:xfrm>
          <a:prstGeom prst="rect">
            <a:avLst/>
          </a:prstGeom>
          <a:noFill/>
          <a:ln/>
        </p:spPr>
        <p:txBody>
          <a:bodyPr wrap="square" lIns="0" tIns="0" rIns="0" bIns="0" rtlCol="0" anchor="t"/>
          <a:lstStyle/>
          <a:p>
            <a:pPr marL="0" indent="0">
              <a:buNone/>
            </a:pPr>
            <a:r>
              <a:rPr lang="en-US" sz="1100" kern="0" spc="200" dirty="0">
                <a:solidFill>
                  <a:srgbClr val="17494D"/>
                </a:solidFill>
                <a:latin typeface="Poppins SemiBold" pitchFamily="34" charset="0"/>
                <a:ea typeface="Poppins SemiBold" pitchFamily="34" charset="-122"/>
                <a:cs typeface="Poppins SemiBold" pitchFamily="34" charset="-120"/>
              </a:rPr>
              <a:t>02  THE SOLUTION</a:t>
            </a:r>
            <a:endParaRPr lang="en-US" sz="1100" dirty="0"/>
          </a:p>
        </p:txBody>
      </p:sp>
      <p:sp>
        <p:nvSpPr>
          <p:cNvPr id="3" name="Text 1"/>
          <p:cNvSpPr>
            <a:spLocks noGrp="1"/>
          </p:cNvSpPr>
          <p:nvPr>
            <p:ph type="title" idx="102" hasCustomPrompt="1"/>
          </p:nvPr>
        </p:nvSpPr>
        <p:spPr>
          <a:xfrm>
            <a:off x="548640" y="749808"/>
            <a:ext cx="11094415" cy="777240"/>
          </a:xfrm>
          <a:prstGeom prst="rect">
            <a:avLst/>
          </a:prstGeom>
          <a:noFill/>
          <a:ln/>
        </p:spPr>
        <p:txBody>
          <a:bodyPr wrap="square" lIns="0" tIns="0" rIns="0" bIns="0" rtlCol="0" anchor="t"/>
          <a:lstStyle/>
          <a:p>
            <a:pPr marL="0" indent="0" algn="l">
              <a:buNone/>
            </a:pPr>
            <a:r>
              <a:rPr lang="en-US" sz="3400" b="1" dirty="0">
                <a:solidFill>
                  <a:srgbClr val="14211F"/>
                </a:solidFill>
                <a:latin typeface="Playfair Display" pitchFamily="34" charset="0"/>
                <a:ea typeface="Playfair Display" pitchFamily="34" charset="-122"/>
                <a:cs typeface="Playfair Display" pitchFamily="34" charset="-120"/>
              </a:rPr>
              <a:t>Report once. Group by meaning. Fix what matters first</a:t>
            </a:r>
            <a:endParaRPr lang="en-US" sz="3400" dirty="0"/>
          </a:p>
        </p:txBody>
      </p:sp>
      <p:sp>
        <p:nvSpPr>
          <p:cNvPr id="4" name="icon-bg LuMapPin"/>
          <p:cNvSpPr/>
          <p:nvPr/>
        </p:nvSpPr>
        <p:spPr>
          <a:xfrm>
            <a:off x="548640" y="1828800"/>
            <a:ext cx="603504" cy="603504"/>
          </a:xfrm>
          <a:prstGeom prst="ellipse">
            <a:avLst/>
          </a:prstGeom>
          <a:solidFill>
            <a:srgbClr val="DCE8E8"/>
          </a:solidFill>
          <a:ln w="12700">
            <a:solidFill>
              <a:srgbClr val="DCE8E8"/>
            </a:solidFill>
            <a:prstDash val="solid"/>
          </a:ln>
        </p:spPr>
      </p:sp>
      <p:pic>
        <p:nvPicPr>
          <p:cNvPr id="5" name="icon LuMapPin" descr="preencoded.png"/>
          <p:cNvPicPr>
            <a:picLocks noChangeAspect="1"/>
          </p:cNvPicPr>
          <p:nvPr/>
        </p:nvPicPr>
        <p:blipFill>
          <a:blip r:embed="rId3"/>
          <a:stretch>
            <a:fillRect/>
          </a:stretch>
        </p:blipFill>
        <p:spPr>
          <a:xfrm>
            <a:off x="699516" y="1979676"/>
            <a:ext cx="301752" cy="301752"/>
          </a:xfrm>
          <a:prstGeom prst="rect">
            <a:avLst/>
          </a:prstGeom>
        </p:spPr>
      </p:pic>
      <p:sp>
        <p:nvSpPr>
          <p:cNvPr id="6" name="Text 3"/>
          <p:cNvSpPr txBox="1"/>
          <p:nvPr/>
        </p:nvSpPr>
        <p:spPr>
          <a:xfrm>
            <a:off x="1417320" y="1792224"/>
            <a:ext cx="457200" cy="365760"/>
          </a:xfrm>
          <a:prstGeom prst="rect">
            <a:avLst/>
          </a:prstGeom>
          <a:noFill/>
          <a:ln/>
        </p:spPr>
        <p:txBody>
          <a:bodyPr wrap="square" lIns="0" tIns="0" rIns="0" bIns="0" rtlCol="0" anchor="ctr"/>
          <a:lstStyle/>
          <a:p>
            <a:pPr marL="0" indent="0">
              <a:buNone/>
            </a:pPr>
            <a:r>
              <a:rPr lang="en-US" sz="1800" dirty="0">
                <a:solidFill>
                  <a:srgbClr val="17494D"/>
                </a:solidFill>
                <a:latin typeface="Playfair Display" pitchFamily="34" charset="0"/>
                <a:ea typeface="Playfair Display" pitchFamily="34" charset="-122"/>
                <a:cs typeface="Playfair Display" pitchFamily="34" charset="-120"/>
              </a:rPr>
              <a:t>01</a:t>
            </a:r>
            <a:endParaRPr lang="en-US" sz="1800" dirty="0"/>
          </a:p>
        </p:txBody>
      </p:sp>
      <p:sp>
        <p:nvSpPr>
          <p:cNvPr id="7" name="Text 4"/>
          <p:cNvSpPr txBox="1"/>
          <p:nvPr/>
        </p:nvSpPr>
        <p:spPr>
          <a:xfrm>
            <a:off x="1874520" y="1792224"/>
            <a:ext cx="4023360" cy="365760"/>
          </a:xfrm>
          <a:prstGeom prst="rect">
            <a:avLst/>
          </a:prstGeom>
          <a:noFill/>
          <a:ln/>
        </p:spPr>
        <p:txBody>
          <a:bodyPr wrap="square" lIns="0" tIns="0" rIns="0" bIns="0" rtlCol="0" anchor="ctr"/>
          <a:lstStyle/>
          <a:p>
            <a:pPr marL="0" indent="0">
              <a:buNone/>
            </a:pPr>
            <a:r>
              <a:rPr lang="en-US" sz="1600" dirty="0">
                <a:solidFill>
                  <a:srgbClr val="14211F"/>
                </a:solidFill>
                <a:latin typeface="Poppins SemiBold" pitchFamily="34" charset="0"/>
                <a:ea typeface="Poppins SemiBold" pitchFamily="34" charset="-122"/>
                <a:cs typeface="Poppins SemiBold" pitchFamily="34" charset="-120"/>
              </a:rPr>
              <a:t>Report</a:t>
            </a:r>
            <a:endParaRPr lang="en-US" sz="1600" dirty="0"/>
          </a:p>
        </p:txBody>
      </p:sp>
      <p:sp>
        <p:nvSpPr>
          <p:cNvPr id="8" name="Text 5"/>
          <p:cNvSpPr txBox="1"/>
          <p:nvPr/>
        </p:nvSpPr>
        <p:spPr>
          <a:xfrm>
            <a:off x="1417320" y="2194560"/>
            <a:ext cx="4572000" cy="868680"/>
          </a:xfrm>
          <a:prstGeom prst="rect">
            <a:avLst/>
          </a:prstGeom>
          <a:noFill/>
          <a:ln/>
        </p:spPr>
        <p:txBody>
          <a:bodyPr wrap="square" lIns="0" tIns="0" rIns="0" bIns="0" rtlCol="0" anchor="t"/>
          <a:lstStyle/>
          <a:p>
            <a:pPr marL="0" indent="0">
              <a:buNone/>
            </a:pPr>
            <a:r>
              <a:rPr lang="en-US" sz="1300" dirty="0">
                <a:solidFill>
                  <a:srgbClr val="4C5A56"/>
                </a:solidFill>
                <a:latin typeface="Poppins" pitchFamily="34" charset="0"/>
                <a:ea typeface="Poppins" pitchFamily="34" charset="-122"/>
                <a:cs typeface="Poppins" pitchFamily="34" charset="-120"/>
              </a:rPr>
              <a:t>A citizen picks a category, drops a pin and describes the problem. No account is needed. The ward is found from 243 real BBMP ward boundaries.</a:t>
            </a:r>
            <a:endParaRPr lang="en-US" sz="1300" dirty="0"/>
          </a:p>
        </p:txBody>
      </p:sp>
      <p:sp>
        <p:nvSpPr>
          <p:cNvPr id="9" name="icon-bg LuGitMerge"/>
          <p:cNvSpPr/>
          <p:nvPr/>
        </p:nvSpPr>
        <p:spPr>
          <a:xfrm>
            <a:off x="548640" y="3291840"/>
            <a:ext cx="603504" cy="603504"/>
          </a:xfrm>
          <a:prstGeom prst="ellipse">
            <a:avLst/>
          </a:prstGeom>
          <a:solidFill>
            <a:srgbClr val="DCE8E8"/>
          </a:solidFill>
          <a:ln w="12700">
            <a:solidFill>
              <a:srgbClr val="DCE8E8"/>
            </a:solidFill>
            <a:prstDash val="solid"/>
          </a:ln>
        </p:spPr>
      </p:sp>
      <p:pic>
        <p:nvPicPr>
          <p:cNvPr id="10" name="icon LuGitMerge" descr="preencoded.png"/>
          <p:cNvPicPr>
            <a:picLocks noChangeAspect="1"/>
          </p:cNvPicPr>
          <p:nvPr/>
        </p:nvPicPr>
        <p:blipFill>
          <a:blip r:embed="rId4"/>
          <a:stretch>
            <a:fillRect/>
          </a:stretch>
        </p:blipFill>
        <p:spPr>
          <a:xfrm>
            <a:off x="699516" y="3442716"/>
            <a:ext cx="301752" cy="301752"/>
          </a:xfrm>
          <a:prstGeom prst="rect">
            <a:avLst/>
          </a:prstGeom>
        </p:spPr>
      </p:pic>
      <p:sp>
        <p:nvSpPr>
          <p:cNvPr id="11" name="Text 7"/>
          <p:cNvSpPr txBox="1"/>
          <p:nvPr/>
        </p:nvSpPr>
        <p:spPr>
          <a:xfrm>
            <a:off x="1417320" y="3255264"/>
            <a:ext cx="457200" cy="365760"/>
          </a:xfrm>
          <a:prstGeom prst="rect">
            <a:avLst/>
          </a:prstGeom>
          <a:noFill/>
          <a:ln/>
        </p:spPr>
        <p:txBody>
          <a:bodyPr wrap="square" lIns="0" tIns="0" rIns="0" bIns="0" rtlCol="0" anchor="ctr"/>
          <a:lstStyle/>
          <a:p>
            <a:pPr marL="0" indent="0">
              <a:buNone/>
            </a:pPr>
            <a:r>
              <a:rPr lang="en-US" sz="1800" dirty="0">
                <a:solidFill>
                  <a:srgbClr val="17494D"/>
                </a:solidFill>
                <a:latin typeface="Playfair Display" pitchFamily="34" charset="0"/>
                <a:ea typeface="Playfair Display" pitchFamily="34" charset="-122"/>
                <a:cs typeface="Playfair Display" pitchFamily="34" charset="-120"/>
              </a:rPr>
              <a:t>02</a:t>
            </a:r>
            <a:endParaRPr lang="en-US" sz="1800" dirty="0"/>
          </a:p>
        </p:txBody>
      </p:sp>
      <p:sp>
        <p:nvSpPr>
          <p:cNvPr id="12" name="Text 8"/>
          <p:cNvSpPr txBox="1"/>
          <p:nvPr/>
        </p:nvSpPr>
        <p:spPr>
          <a:xfrm>
            <a:off x="1874520" y="3255264"/>
            <a:ext cx="4023360" cy="365760"/>
          </a:xfrm>
          <a:prstGeom prst="rect">
            <a:avLst/>
          </a:prstGeom>
          <a:noFill/>
          <a:ln/>
        </p:spPr>
        <p:txBody>
          <a:bodyPr wrap="square" lIns="0" tIns="0" rIns="0" bIns="0" rtlCol="0" anchor="ctr"/>
          <a:lstStyle/>
          <a:p>
            <a:pPr marL="0" indent="0">
              <a:buNone/>
            </a:pPr>
            <a:r>
              <a:rPr lang="en-US" sz="1600" dirty="0">
                <a:solidFill>
                  <a:srgbClr val="14211F"/>
                </a:solidFill>
                <a:latin typeface="Poppins SemiBold" pitchFamily="34" charset="0"/>
                <a:ea typeface="Poppins SemiBold" pitchFamily="34" charset="-122"/>
                <a:cs typeface="Poppins SemiBold" pitchFamily="34" charset="-120"/>
              </a:rPr>
              <a:t>Group</a:t>
            </a:r>
            <a:endParaRPr lang="en-US" sz="1600" dirty="0"/>
          </a:p>
        </p:txBody>
      </p:sp>
      <p:sp>
        <p:nvSpPr>
          <p:cNvPr id="13" name="Text 9"/>
          <p:cNvSpPr txBox="1"/>
          <p:nvPr/>
        </p:nvSpPr>
        <p:spPr>
          <a:xfrm>
            <a:off x="1417320" y="3657600"/>
            <a:ext cx="4572000" cy="868680"/>
          </a:xfrm>
          <a:prstGeom prst="rect">
            <a:avLst/>
          </a:prstGeom>
          <a:noFill/>
          <a:ln/>
        </p:spPr>
        <p:txBody>
          <a:bodyPr wrap="square" lIns="0" tIns="0" rIns="0" bIns="0" rtlCol="0" anchor="t"/>
          <a:lstStyle/>
          <a:p>
            <a:pPr marL="0" indent="0">
              <a:buNone/>
            </a:pPr>
            <a:r>
              <a:rPr lang="en-US" sz="1300" dirty="0">
                <a:solidFill>
                  <a:srgbClr val="4C5A56"/>
                </a:solidFill>
                <a:latin typeface="Poppins" pitchFamily="34" charset="0"/>
                <a:ea typeface="Poppins" pitchFamily="34" charset="-122"/>
                <a:cs typeface="Poppins" pitchFamily="34" charset="-120"/>
              </a:rPr>
              <a:t>The text is turned into an embedding. Reports that mean the same thing, in the same ward and category and within 500 m, join one incident.</a:t>
            </a:r>
            <a:endParaRPr lang="en-US" sz="1300" dirty="0"/>
          </a:p>
        </p:txBody>
      </p:sp>
      <p:sp>
        <p:nvSpPr>
          <p:cNvPr id="14" name="icon-bg LuGauge"/>
          <p:cNvSpPr/>
          <p:nvPr/>
        </p:nvSpPr>
        <p:spPr>
          <a:xfrm>
            <a:off x="548640" y="4754880"/>
            <a:ext cx="603504" cy="603504"/>
          </a:xfrm>
          <a:prstGeom prst="ellipse">
            <a:avLst/>
          </a:prstGeom>
          <a:solidFill>
            <a:srgbClr val="DCE8E8"/>
          </a:solidFill>
          <a:ln w="12700">
            <a:solidFill>
              <a:srgbClr val="DCE8E8"/>
            </a:solidFill>
            <a:prstDash val="solid"/>
          </a:ln>
        </p:spPr>
      </p:sp>
      <p:pic>
        <p:nvPicPr>
          <p:cNvPr id="15" name="icon LuGauge" descr="preencoded.png"/>
          <p:cNvPicPr>
            <a:picLocks noChangeAspect="1"/>
          </p:cNvPicPr>
          <p:nvPr/>
        </p:nvPicPr>
        <p:blipFill>
          <a:blip r:embed="rId5"/>
          <a:stretch>
            <a:fillRect/>
          </a:stretch>
        </p:blipFill>
        <p:spPr>
          <a:xfrm>
            <a:off x="699516" y="4905756"/>
            <a:ext cx="301752" cy="301752"/>
          </a:xfrm>
          <a:prstGeom prst="rect">
            <a:avLst/>
          </a:prstGeom>
        </p:spPr>
      </p:pic>
      <p:sp>
        <p:nvSpPr>
          <p:cNvPr id="16" name="Text 11"/>
          <p:cNvSpPr txBox="1"/>
          <p:nvPr/>
        </p:nvSpPr>
        <p:spPr>
          <a:xfrm>
            <a:off x="1417320" y="4718304"/>
            <a:ext cx="457200" cy="365760"/>
          </a:xfrm>
          <a:prstGeom prst="rect">
            <a:avLst/>
          </a:prstGeom>
          <a:noFill/>
          <a:ln/>
        </p:spPr>
        <p:txBody>
          <a:bodyPr wrap="square" lIns="0" tIns="0" rIns="0" bIns="0" rtlCol="0" anchor="ctr"/>
          <a:lstStyle/>
          <a:p>
            <a:pPr marL="0" indent="0">
              <a:buNone/>
            </a:pPr>
            <a:r>
              <a:rPr lang="en-US" sz="1800" dirty="0">
                <a:solidFill>
                  <a:srgbClr val="17494D"/>
                </a:solidFill>
                <a:latin typeface="Playfair Display" pitchFamily="34" charset="0"/>
                <a:ea typeface="Playfair Display" pitchFamily="34" charset="-122"/>
                <a:cs typeface="Playfair Display" pitchFamily="34" charset="-120"/>
              </a:rPr>
              <a:t>03</a:t>
            </a:r>
            <a:endParaRPr lang="en-US" sz="1800" dirty="0"/>
          </a:p>
        </p:txBody>
      </p:sp>
      <p:sp>
        <p:nvSpPr>
          <p:cNvPr id="17" name="Text 12"/>
          <p:cNvSpPr txBox="1"/>
          <p:nvPr/>
        </p:nvSpPr>
        <p:spPr>
          <a:xfrm>
            <a:off x="1874520" y="4718304"/>
            <a:ext cx="4023360" cy="365760"/>
          </a:xfrm>
          <a:prstGeom prst="rect">
            <a:avLst/>
          </a:prstGeom>
          <a:noFill/>
          <a:ln/>
        </p:spPr>
        <p:txBody>
          <a:bodyPr wrap="square" lIns="0" tIns="0" rIns="0" bIns="0" rtlCol="0" anchor="ctr"/>
          <a:lstStyle/>
          <a:p>
            <a:pPr marL="0" indent="0">
              <a:buNone/>
            </a:pPr>
            <a:r>
              <a:rPr lang="en-US" sz="1600" dirty="0">
                <a:solidFill>
                  <a:srgbClr val="14211F"/>
                </a:solidFill>
                <a:latin typeface="Poppins SemiBold" pitchFamily="34" charset="0"/>
                <a:ea typeface="Poppins SemiBold" pitchFamily="34" charset="-122"/>
                <a:cs typeface="Poppins SemiBold" pitchFamily="34" charset="-120"/>
              </a:rPr>
              <a:t>Prioritise and act</a:t>
            </a:r>
            <a:endParaRPr lang="en-US" sz="1600" dirty="0"/>
          </a:p>
        </p:txBody>
      </p:sp>
      <p:sp>
        <p:nvSpPr>
          <p:cNvPr id="18" name="Text 13"/>
          <p:cNvSpPr txBox="1"/>
          <p:nvPr/>
        </p:nvSpPr>
        <p:spPr>
          <a:xfrm>
            <a:off x="1417320" y="5120640"/>
            <a:ext cx="4572000" cy="868680"/>
          </a:xfrm>
          <a:prstGeom prst="rect">
            <a:avLst/>
          </a:prstGeom>
          <a:noFill/>
          <a:ln/>
        </p:spPr>
        <p:txBody>
          <a:bodyPr wrap="square" lIns="0" tIns="0" rIns="0" bIns="0" rtlCol="0" anchor="t"/>
          <a:lstStyle/>
          <a:p>
            <a:pPr marL="0" indent="0">
              <a:buNone/>
            </a:pPr>
            <a:r>
              <a:rPr lang="en-US" sz="1300" dirty="0">
                <a:solidFill>
                  <a:srgbClr val="4C5A56"/>
                </a:solidFill>
                <a:latin typeface="Poppins" pitchFamily="34" charset="0"/>
                <a:ea typeface="Poppins" pitchFamily="34" charset="-122"/>
                <a:cs typeface="Poppins" pitchFamily="34" charset="-120"/>
              </a:rPr>
              <a:t>Each incident gets a score with written reasons. Officers work a ranked queue, a map, hotspots and a suggested next step.</a:t>
            </a:r>
            <a:endParaRPr lang="en-US" sz="1300" dirty="0"/>
          </a:p>
        </p:txBody>
      </p:sp>
      <p:sp>
        <p:nvSpPr>
          <p:cNvPr id="19" name="frame submit-complaint"/>
          <p:cNvSpPr/>
          <p:nvPr/>
        </p:nvSpPr>
        <p:spPr>
          <a:xfrm>
            <a:off x="6400800" y="1783080"/>
            <a:ext cx="5239512" cy="4343400"/>
          </a:xfrm>
          <a:prstGeom prst="roundRect">
            <a:avLst>
              <a:gd name="adj" fmla="val 1684"/>
            </a:avLst>
          </a:prstGeom>
          <a:solidFill>
            <a:srgbClr val="FFFFFF"/>
          </a:solidFill>
          <a:ln w="12700">
            <a:solidFill>
              <a:srgbClr val="C9D1CA"/>
            </a:solidFill>
            <a:prstDash val="solid"/>
          </a:ln>
          <a:effectLst>
            <a:outerShdw blurRad="177800" dist="38100" dir="5400000" algn="bl" rotWithShape="0">
              <a:srgbClr val="14211F">
                <a:alpha val="12000"/>
              </a:srgbClr>
            </a:outerShdw>
          </a:effectLst>
        </p:spPr>
      </p:sp>
      <p:sp>
        <p:nvSpPr>
          <p:cNvPr id="20" name="frame bar"/>
          <p:cNvSpPr/>
          <p:nvPr/>
        </p:nvSpPr>
        <p:spPr>
          <a:xfrm>
            <a:off x="6409944" y="1792224"/>
            <a:ext cx="5221224" cy="274320"/>
          </a:xfrm>
          <a:prstGeom prst="roundRect">
            <a:avLst>
              <a:gd name="adj" fmla="val 23333"/>
            </a:avLst>
          </a:prstGeom>
          <a:solidFill>
            <a:srgbClr val="F3F6F4"/>
          </a:solidFill>
          <a:ln w="12700">
            <a:solidFill>
              <a:srgbClr val="F3F6F4"/>
            </a:solidFill>
            <a:prstDash val="solid"/>
          </a:ln>
        </p:spPr>
      </p:sp>
      <p:sp>
        <p:nvSpPr>
          <p:cNvPr id="21" name="Shape 16"/>
          <p:cNvSpPr/>
          <p:nvPr/>
        </p:nvSpPr>
        <p:spPr>
          <a:xfrm>
            <a:off x="6547104" y="1879092"/>
            <a:ext cx="82296" cy="82296"/>
          </a:xfrm>
          <a:prstGeom prst="ellipse">
            <a:avLst/>
          </a:prstGeom>
          <a:solidFill>
            <a:srgbClr val="C9D1CA"/>
          </a:solidFill>
          <a:ln w="12700">
            <a:solidFill>
              <a:srgbClr val="C9D1CA"/>
            </a:solidFill>
            <a:prstDash val="solid"/>
          </a:ln>
        </p:spPr>
      </p:sp>
      <p:sp>
        <p:nvSpPr>
          <p:cNvPr id="22" name="Shape 17"/>
          <p:cNvSpPr/>
          <p:nvPr/>
        </p:nvSpPr>
        <p:spPr>
          <a:xfrm>
            <a:off x="6693408" y="1879092"/>
            <a:ext cx="82296" cy="82296"/>
          </a:xfrm>
          <a:prstGeom prst="ellipse">
            <a:avLst/>
          </a:prstGeom>
          <a:solidFill>
            <a:srgbClr val="C9D1CA"/>
          </a:solidFill>
          <a:ln w="12700">
            <a:solidFill>
              <a:srgbClr val="C9D1CA"/>
            </a:solidFill>
            <a:prstDash val="solid"/>
          </a:ln>
        </p:spPr>
      </p:sp>
      <p:sp>
        <p:nvSpPr>
          <p:cNvPr id="23" name="Shape 18"/>
          <p:cNvSpPr/>
          <p:nvPr/>
        </p:nvSpPr>
        <p:spPr>
          <a:xfrm>
            <a:off x="6839712" y="1879092"/>
            <a:ext cx="82296" cy="82296"/>
          </a:xfrm>
          <a:prstGeom prst="ellipse">
            <a:avLst/>
          </a:prstGeom>
          <a:solidFill>
            <a:srgbClr val="C9D1CA"/>
          </a:solidFill>
          <a:ln w="12700">
            <a:solidFill>
              <a:srgbClr val="C9D1CA"/>
            </a:solidFill>
            <a:prstDash val="solid"/>
          </a:ln>
        </p:spPr>
      </p:sp>
      <p:pic>
        <p:nvPicPr>
          <p:cNvPr id="24" name="screenshot submit-complaint" descr="CivicPulse screenshot: submit-complaint"/>
          <p:cNvPicPr>
            <a:picLocks noChangeAspect="1"/>
          </p:cNvPicPr>
          <p:nvPr/>
        </p:nvPicPr>
        <p:blipFill>
          <a:blip r:embed="rId6"/>
          <a:stretch>
            <a:fillRect/>
          </a:stretch>
        </p:blipFill>
        <p:spPr>
          <a:xfrm>
            <a:off x="6419088" y="2066544"/>
            <a:ext cx="5202936" cy="4041648"/>
          </a:xfrm>
          <a:prstGeom prst="rect">
            <a:avLst/>
          </a:prstGeom>
        </p:spPr>
      </p:pic>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B67"/>
                </a:solidFill>
                <a:latin typeface="Poppins Medium"/>
                <a:ea typeface="Poppins Medium"/>
                <a:cs typeface="Poppins Medium"/>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457200"/>
            <a:ext cx="11094415" cy="292608"/>
          </a:xfrm>
          <a:prstGeom prst="rect">
            <a:avLst/>
          </a:prstGeom>
          <a:noFill/>
          <a:ln/>
        </p:spPr>
        <p:txBody>
          <a:bodyPr wrap="square" lIns="0" tIns="0" rIns="0" bIns="0" rtlCol="0" anchor="t"/>
          <a:lstStyle/>
          <a:p>
            <a:pPr marL="0" indent="0">
              <a:buNone/>
            </a:pPr>
            <a:r>
              <a:rPr lang="en-US" sz="1100" kern="0" spc="200" dirty="0">
                <a:solidFill>
                  <a:srgbClr val="17494D"/>
                </a:solidFill>
                <a:latin typeface="Poppins SemiBold" pitchFamily="34" charset="0"/>
                <a:ea typeface="Poppins SemiBold" pitchFamily="34" charset="-122"/>
                <a:cs typeface="Poppins SemiBold" pitchFamily="34" charset="-120"/>
              </a:rPr>
              <a:t>03  ARCHITECTURE</a:t>
            </a:r>
            <a:endParaRPr lang="en-US" sz="1100" dirty="0"/>
          </a:p>
        </p:txBody>
      </p:sp>
      <p:sp>
        <p:nvSpPr>
          <p:cNvPr id="3" name="Text 1"/>
          <p:cNvSpPr>
            <a:spLocks noGrp="1"/>
          </p:cNvSpPr>
          <p:nvPr>
            <p:ph type="title" idx="102" hasCustomPrompt="1"/>
          </p:nvPr>
        </p:nvSpPr>
        <p:spPr>
          <a:xfrm>
            <a:off x="548640" y="749808"/>
            <a:ext cx="11094415" cy="777240"/>
          </a:xfrm>
          <a:prstGeom prst="rect">
            <a:avLst/>
          </a:prstGeom>
          <a:noFill/>
          <a:ln/>
        </p:spPr>
        <p:txBody>
          <a:bodyPr wrap="square" lIns="0" tIns="0" rIns="0" bIns="0" rtlCol="0" anchor="t"/>
          <a:lstStyle/>
          <a:p>
            <a:pPr marL="0" indent="0" algn="l">
              <a:buNone/>
            </a:pPr>
            <a:r>
              <a:rPr lang="en-US" sz="3400" b="1" dirty="0">
                <a:solidFill>
                  <a:srgbClr val="14211F"/>
                </a:solidFill>
                <a:latin typeface="Playfair Display" pitchFamily="34" charset="0"/>
                <a:ea typeface="Playfair Display" pitchFamily="34" charset="-122"/>
                <a:cs typeface="Playfair Display" pitchFamily="34" charset="-120"/>
              </a:rPr>
              <a:t>Three services, one writer</a:t>
            </a:r>
            <a:endParaRPr lang="en-US" sz="3400" dirty="0"/>
          </a:p>
        </p:txBody>
      </p:sp>
      <p:sp>
        <p:nvSpPr>
          <p:cNvPr id="4" name="arch React frontend"/>
          <p:cNvSpPr/>
          <p:nvPr/>
        </p:nvSpPr>
        <p:spPr>
          <a:xfrm>
            <a:off x="548640" y="1783080"/>
            <a:ext cx="3291840" cy="1097280"/>
          </a:xfrm>
          <a:prstGeom prst="roundRect">
            <a:avLst>
              <a:gd name="adj" fmla="val 8333"/>
            </a:avLst>
          </a:prstGeom>
          <a:solidFill>
            <a:srgbClr val="FFFFFF"/>
          </a:solidFill>
          <a:ln w="15875">
            <a:solidFill>
              <a:srgbClr val="C9D1CA"/>
            </a:solidFill>
            <a:prstDash val="solid"/>
          </a:ln>
        </p:spPr>
      </p:sp>
      <p:sp>
        <p:nvSpPr>
          <p:cNvPr id="5" name="Text 3"/>
          <p:cNvSpPr txBox="1"/>
          <p:nvPr/>
        </p:nvSpPr>
        <p:spPr>
          <a:xfrm>
            <a:off x="731520" y="1856232"/>
            <a:ext cx="2926080" cy="950976"/>
          </a:xfrm>
          <a:prstGeom prst="rect">
            <a:avLst/>
          </a:prstGeom>
          <a:noFill/>
          <a:ln/>
        </p:spPr>
        <p:txBody>
          <a:bodyPr wrap="square" lIns="0" tIns="0" rIns="0" bIns="0" rtlCol="0" anchor="ctr"/>
          <a:lstStyle/>
          <a:p>
            <a:pPr marL="0" indent="0">
              <a:spcAft>
                <a:spcPts val="400"/>
              </a:spcAft>
              <a:buNone/>
            </a:pPr>
            <a:r>
              <a:rPr lang="en-US" sz="1500" dirty="0">
                <a:solidFill>
                  <a:srgbClr val="14211F"/>
                </a:solidFill>
                <a:latin typeface="Poppins SemiBold" pitchFamily="34" charset="0"/>
                <a:ea typeface="Poppins SemiBold" pitchFamily="34" charset="-122"/>
                <a:cs typeface="Poppins SemiBold" pitchFamily="34" charset="-120"/>
              </a:rPr>
              <a:t>React frontend</a:t>
            </a:r>
            <a:endParaRPr lang="en-US" sz="1500" dirty="0"/>
          </a:p>
          <a:p>
            <a:pPr marL="0" indent="0">
              <a:spcAft>
                <a:spcPts val="400"/>
              </a:spcAft>
              <a:buNone/>
            </a:pPr>
            <a:r>
              <a:rPr lang="en-US" sz="1100" dirty="0">
                <a:solidFill>
                  <a:srgbClr val="4C5A56"/>
                </a:solidFill>
                <a:latin typeface="Poppins" pitchFamily="34" charset="0"/>
                <a:ea typeface="Poppins" pitchFamily="34" charset="-122"/>
                <a:cs typeface="Poppins" pitchFamily="34" charset="-120"/>
              </a:rPr>
              <a:t>Citizen portal and officer console · Vercel</a:t>
            </a:r>
            <a:endParaRPr lang="en-US" sz="1500" dirty="0"/>
          </a:p>
        </p:txBody>
      </p:sp>
      <p:sp>
        <p:nvSpPr>
          <p:cNvPr id="6" name="arch Spring Boot core"/>
          <p:cNvSpPr/>
          <p:nvPr/>
        </p:nvSpPr>
        <p:spPr>
          <a:xfrm>
            <a:off x="4448556" y="1783080"/>
            <a:ext cx="3291840" cy="1097280"/>
          </a:xfrm>
          <a:prstGeom prst="roundRect">
            <a:avLst>
              <a:gd name="adj" fmla="val 8333"/>
            </a:avLst>
          </a:prstGeom>
          <a:solidFill>
            <a:srgbClr val="17494D"/>
          </a:solidFill>
          <a:ln w="15875">
            <a:solidFill>
              <a:srgbClr val="17494D"/>
            </a:solidFill>
            <a:prstDash val="solid"/>
          </a:ln>
        </p:spPr>
      </p:sp>
      <p:sp>
        <p:nvSpPr>
          <p:cNvPr id="7" name="Text 5"/>
          <p:cNvSpPr txBox="1"/>
          <p:nvPr/>
        </p:nvSpPr>
        <p:spPr>
          <a:xfrm>
            <a:off x="4631436" y="1856232"/>
            <a:ext cx="2926080" cy="950976"/>
          </a:xfrm>
          <a:prstGeom prst="rect">
            <a:avLst/>
          </a:prstGeom>
          <a:noFill/>
          <a:ln/>
        </p:spPr>
        <p:txBody>
          <a:bodyPr wrap="square" lIns="0" tIns="0" rIns="0" bIns="0" rtlCol="0" anchor="ctr"/>
          <a:lstStyle/>
          <a:p>
            <a:pPr marL="0" indent="0">
              <a:spcAft>
                <a:spcPts val="400"/>
              </a:spcAft>
              <a:buNone/>
            </a:pPr>
            <a:r>
              <a:rPr lang="en-US" sz="1500" dirty="0">
                <a:solidFill>
                  <a:srgbClr val="FFFFFF"/>
                </a:solidFill>
                <a:latin typeface="Poppins SemiBold" pitchFamily="34" charset="0"/>
                <a:ea typeface="Poppins SemiBold" pitchFamily="34" charset="-122"/>
                <a:cs typeface="Poppins SemiBold" pitchFamily="34" charset="-120"/>
              </a:rPr>
              <a:t>Spring Boot core</a:t>
            </a:r>
            <a:endParaRPr lang="en-US" sz="1500" dirty="0"/>
          </a:p>
          <a:p>
            <a:pPr marL="0" indent="0">
              <a:spcAft>
                <a:spcPts val="400"/>
              </a:spcAft>
              <a:buNone/>
            </a:pPr>
            <a:r>
              <a:rPr lang="en-US" sz="1100" dirty="0">
                <a:solidFill>
                  <a:srgbClr val="D5E3E3"/>
                </a:solidFill>
                <a:latin typeface="Poppins" pitchFamily="34" charset="0"/>
                <a:ea typeface="Poppins" pitchFamily="34" charset="-122"/>
                <a:cs typeface="Poppins" pitchFamily="34" charset="-120"/>
              </a:rPr>
              <a:t>Auth, complaints, priority, dashboards. The only writer; owns every migration</a:t>
            </a:r>
            <a:endParaRPr lang="en-US" sz="1500" dirty="0"/>
          </a:p>
        </p:txBody>
      </p:sp>
      <p:sp>
        <p:nvSpPr>
          <p:cNvPr id="8" name="arch PostgreSQL 16"/>
          <p:cNvSpPr/>
          <p:nvPr/>
        </p:nvSpPr>
        <p:spPr>
          <a:xfrm>
            <a:off x="8348472" y="1783080"/>
            <a:ext cx="3291840" cy="1097280"/>
          </a:xfrm>
          <a:prstGeom prst="roundRect">
            <a:avLst>
              <a:gd name="adj" fmla="val 8333"/>
            </a:avLst>
          </a:prstGeom>
          <a:solidFill>
            <a:srgbClr val="FFFFFF"/>
          </a:solidFill>
          <a:ln w="15875">
            <a:solidFill>
              <a:srgbClr val="C9D1CA"/>
            </a:solidFill>
            <a:prstDash val="solid"/>
          </a:ln>
        </p:spPr>
      </p:sp>
      <p:sp>
        <p:nvSpPr>
          <p:cNvPr id="9" name="Text 7"/>
          <p:cNvSpPr txBox="1"/>
          <p:nvPr/>
        </p:nvSpPr>
        <p:spPr>
          <a:xfrm>
            <a:off x="8531352" y="1856232"/>
            <a:ext cx="2926080" cy="950976"/>
          </a:xfrm>
          <a:prstGeom prst="rect">
            <a:avLst/>
          </a:prstGeom>
          <a:noFill/>
          <a:ln/>
        </p:spPr>
        <p:txBody>
          <a:bodyPr wrap="square" lIns="0" tIns="0" rIns="0" bIns="0" rtlCol="0" anchor="ctr"/>
          <a:lstStyle/>
          <a:p>
            <a:pPr marL="0" indent="0">
              <a:spcAft>
                <a:spcPts val="400"/>
              </a:spcAft>
              <a:buNone/>
            </a:pPr>
            <a:r>
              <a:rPr lang="en-US" sz="1500" dirty="0">
                <a:solidFill>
                  <a:srgbClr val="14211F"/>
                </a:solidFill>
                <a:latin typeface="Poppins SemiBold" pitchFamily="34" charset="0"/>
                <a:ea typeface="Poppins SemiBold" pitchFamily="34" charset="-122"/>
                <a:cs typeface="Poppins SemiBold" pitchFamily="34" charset="-120"/>
              </a:rPr>
              <a:t>PostgreSQL 16</a:t>
            </a:r>
            <a:endParaRPr lang="en-US" sz="1500" dirty="0"/>
          </a:p>
          <a:p>
            <a:pPr marL="0" indent="0">
              <a:spcAft>
                <a:spcPts val="400"/>
              </a:spcAft>
              <a:buNone/>
            </a:pPr>
            <a:r>
              <a:rPr lang="en-US" sz="1100" dirty="0">
                <a:solidFill>
                  <a:srgbClr val="4C5A56"/>
                </a:solidFill>
                <a:latin typeface="Poppins" pitchFamily="34" charset="0"/>
                <a:ea typeface="Poppins" pitchFamily="34" charset="-122"/>
                <a:cs typeface="Poppins" pitchFamily="34" charset="-120"/>
              </a:rPr>
              <a:t>pgvector for embeddings, PostGIS for ward polygons · Railway</a:t>
            </a:r>
            <a:endParaRPr lang="en-US" sz="1500" dirty="0"/>
          </a:p>
        </p:txBody>
      </p:sp>
      <p:sp>
        <p:nvSpPr>
          <p:cNvPr id="10" name="arch Node.js AI service"/>
          <p:cNvSpPr/>
          <p:nvPr/>
        </p:nvSpPr>
        <p:spPr>
          <a:xfrm>
            <a:off x="4448556" y="3520440"/>
            <a:ext cx="3291840" cy="1097280"/>
          </a:xfrm>
          <a:prstGeom prst="roundRect">
            <a:avLst>
              <a:gd name="adj" fmla="val 8333"/>
            </a:avLst>
          </a:prstGeom>
          <a:solidFill>
            <a:srgbClr val="FFFFFF"/>
          </a:solidFill>
          <a:ln w="15875">
            <a:solidFill>
              <a:srgbClr val="C9D1CA"/>
            </a:solidFill>
            <a:prstDash val="solid"/>
          </a:ln>
        </p:spPr>
      </p:sp>
      <p:sp>
        <p:nvSpPr>
          <p:cNvPr id="11" name="Text 9"/>
          <p:cNvSpPr txBox="1"/>
          <p:nvPr/>
        </p:nvSpPr>
        <p:spPr>
          <a:xfrm>
            <a:off x="4631436" y="3593592"/>
            <a:ext cx="2926080" cy="950976"/>
          </a:xfrm>
          <a:prstGeom prst="rect">
            <a:avLst/>
          </a:prstGeom>
          <a:noFill/>
          <a:ln/>
        </p:spPr>
        <p:txBody>
          <a:bodyPr wrap="square" lIns="0" tIns="0" rIns="0" bIns="0" rtlCol="0" anchor="ctr"/>
          <a:lstStyle/>
          <a:p>
            <a:pPr marL="0" indent="0">
              <a:spcAft>
                <a:spcPts val="400"/>
              </a:spcAft>
              <a:buNone/>
            </a:pPr>
            <a:r>
              <a:rPr lang="en-US" sz="1500" dirty="0">
                <a:solidFill>
                  <a:srgbClr val="14211F"/>
                </a:solidFill>
                <a:latin typeface="Poppins SemiBold" pitchFamily="34" charset="0"/>
                <a:ea typeface="Poppins SemiBold" pitchFamily="34" charset="-122"/>
                <a:cs typeface="Poppins SemiBold" pitchFamily="34" charset="-120"/>
              </a:rPr>
              <a:t>Node.js AI service</a:t>
            </a:r>
            <a:endParaRPr lang="en-US" sz="1500" dirty="0"/>
          </a:p>
          <a:p>
            <a:pPr marL="0" indent="0">
              <a:spcAft>
                <a:spcPts val="400"/>
              </a:spcAft>
              <a:buNone/>
            </a:pPr>
            <a:r>
              <a:rPr lang="en-US" sz="1100" dirty="0">
                <a:solidFill>
                  <a:srgbClr val="4C5A56"/>
                </a:solidFill>
                <a:latin typeface="Poppins" pitchFamily="34" charset="0"/>
                <a:ea typeface="Poppins" pitchFamily="34" charset="-122"/>
                <a:cs typeface="Poppins" pitchFamily="34" charset="-120"/>
              </a:rPr>
              <a:t>Embeddings, incident matching and Copilot answers; decides what to write</a:t>
            </a:r>
            <a:endParaRPr lang="en-US" sz="1500" dirty="0"/>
          </a:p>
        </p:txBody>
      </p:sp>
      <p:sp>
        <p:nvSpPr>
          <p:cNvPr id="12" name="arch Google Gemini"/>
          <p:cNvSpPr/>
          <p:nvPr/>
        </p:nvSpPr>
        <p:spPr>
          <a:xfrm>
            <a:off x="8348472" y="3520440"/>
            <a:ext cx="3291840" cy="1097280"/>
          </a:xfrm>
          <a:prstGeom prst="roundRect">
            <a:avLst>
              <a:gd name="adj" fmla="val 8333"/>
            </a:avLst>
          </a:prstGeom>
          <a:solidFill>
            <a:srgbClr val="FFFFFF"/>
          </a:solidFill>
          <a:ln w="15875">
            <a:solidFill>
              <a:srgbClr val="C9D1CA"/>
            </a:solidFill>
            <a:prstDash val="solid"/>
          </a:ln>
        </p:spPr>
      </p:sp>
      <p:sp>
        <p:nvSpPr>
          <p:cNvPr id="13" name="Text 11"/>
          <p:cNvSpPr txBox="1"/>
          <p:nvPr/>
        </p:nvSpPr>
        <p:spPr>
          <a:xfrm>
            <a:off x="8531352" y="3593592"/>
            <a:ext cx="2926080" cy="950976"/>
          </a:xfrm>
          <a:prstGeom prst="rect">
            <a:avLst/>
          </a:prstGeom>
          <a:noFill/>
          <a:ln/>
        </p:spPr>
        <p:txBody>
          <a:bodyPr wrap="square" lIns="0" tIns="0" rIns="0" bIns="0" rtlCol="0" anchor="ctr"/>
          <a:lstStyle/>
          <a:p>
            <a:pPr marL="0" indent="0">
              <a:spcAft>
                <a:spcPts val="400"/>
              </a:spcAft>
              <a:buNone/>
            </a:pPr>
            <a:r>
              <a:rPr lang="en-US" sz="1500" dirty="0">
                <a:solidFill>
                  <a:srgbClr val="14211F"/>
                </a:solidFill>
                <a:latin typeface="Poppins SemiBold" pitchFamily="34" charset="0"/>
                <a:ea typeface="Poppins SemiBold" pitchFamily="34" charset="-122"/>
                <a:cs typeface="Poppins SemiBold" pitchFamily="34" charset="-120"/>
              </a:rPr>
              <a:t>Google Gemini</a:t>
            </a:r>
            <a:endParaRPr lang="en-US" sz="1500" dirty="0"/>
          </a:p>
          <a:p>
            <a:pPr marL="0" indent="0">
              <a:spcAft>
                <a:spcPts val="400"/>
              </a:spcAft>
              <a:buNone/>
            </a:pPr>
            <a:r>
              <a:rPr lang="en-US" sz="1100" dirty="0">
                <a:solidFill>
                  <a:srgbClr val="4C5A56"/>
                </a:solidFill>
                <a:latin typeface="Poppins" pitchFamily="34" charset="0"/>
                <a:ea typeface="Poppins" pitchFamily="34" charset="-122"/>
                <a:cs typeface="Poppins" pitchFamily="34" charset="-120"/>
              </a:rPr>
              <a:t>Multilingual embeddings (1536-d) for matching, and the Copilot model</a:t>
            </a:r>
            <a:endParaRPr lang="en-US" sz="1500" dirty="0"/>
          </a:p>
        </p:txBody>
      </p:sp>
      <p:sp>
        <p:nvSpPr>
          <p:cNvPr id="14" name="Shape 12"/>
          <p:cNvSpPr/>
          <p:nvPr/>
        </p:nvSpPr>
        <p:spPr>
          <a:xfrm>
            <a:off x="3913632" y="2331720"/>
            <a:ext cx="461772" cy="914"/>
          </a:xfrm>
          <a:prstGeom prst="line">
            <a:avLst/>
          </a:prstGeom>
          <a:noFill/>
          <a:ln w="19050">
            <a:solidFill>
              <a:srgbClr val="5E6B67"/>
            </a:solidFill>
            <a:prstDash val="solid"/>
            <a:headEnd type="triangle"/>
            <a:tailEnd type="triangle"/>
          </a:ln>
        </p:spPr>
      </p:sp>
      <p:sp>
        <p:nvSpPr>
          <p:cNvPr id="15" name="Shape 13"/>
          <p:cNvSpPr/>
          <p:nvPr/>
        </p:nvSpPr>
        <p:spPr>
          <a:xfrm>
            <a:off x="7813548" y="2331720"/>
            <a:ext cx="461772" cy="914"/>
          </a:xfrm>
          <a:prstGeom prst="line">
            <a:avLst/>
          </a:prstGeom>
          <a:noFill/>
          <a:ln w="19050">
            <a:solidFill>
              <a:srgbClr val="5E6B67"/>
            </a:solidFill>
            <a:prstDash val="solid"/>
            <a:headEnd type="triangle"/>
            <a:tailEnd type="triangle"/>
          </a:ln>
        </p:spPr>
      </p:sp>
      <p:sp>
        <p:nvSpPr>
          <p:cNvPr id="16" name="Shape 14"/>
          <p:cNvSpPr/>
          <p:nvPr/>
        </p:nvSpPr>
        <p:spPr>
          <a:xfrm>
            <a:off x="6094476" y="2953512"/>
            <a:ext cx="914" cy="493776"/>
          </a:xfrm>
          <a:prstGeom prst="line">
            <a:avLst/>
          </a:prstGeom>
          <a:noFill/>
          <a:ln w="19050">
            <a:solidFill>
              <a:srgbClr val="5E6B67"/>
            </a:solidFill>
            <a:prstDash val="solid"/>
            <a:headEnd type="triangle"/>
            <a:tailEnd type="triangle"/>
          </a:ln>
        </p:spPr>
      </p:sp>
      <p:sp>
        <p:nvSpPr>
          <p:cNvPr id="17" name="Shape 15"/>
          <p:cNvSpPr/>
          <p:nvPr/>
        </p:nvSpPr>
        <p:spPr>
          <a:xfrm>
            <a:off x="7813548" y="4069080"/>
            <a:ext cx="461772" cy="914"/>
          </a:xfrm>
          <a:prstGeom prst="line">
            <a:avLst/>
          </a:prstGeom>
          <a:noFill/>
          <a:ln w="19050">
            <a:solidFill>
              <a:srgbClr val="5E6B67"/>
            </a:solidFill>
            <a:prstDash val="solid"/>
            <a:tailEnd type="triangle"/>
          </a:ln>
        </p:spPr>
      </p:sp>
      <p:sp>
        <p:nvSpPr>
          <p:cNvPr id="18" name="Text 16"/>
          <p:cNvSpPr txBox="1"/>
          <p:nvPr/>
        </p:nvSpPr>
        <p:spPr>
          <a:xfrm>
            <a:off x="6204204" y="2990088"/>
            <a:ext cx="2194560" cy="411480"/>
          </a:xfrm>
          <a:prstGeom prst="rect">
            <a:avLst/>
          </a:prstGeom>
          <a:noFill/>
          <a:ln/>
        </p:spPr>
        <p:txBody>
          <a:bodyPr wrap="square" lIns="0" tIns="0" rIns="0" bIns="0" rtlCol="0" anchor="ctr"/>
          <a:lstStyle/>
          <a:p>
            <a:pPr marL="0" indent="0">
              <a:buNone/>
            </a:pPr>
            <a:r>
              <a:rPr lang="en-US" sz="1000" i="1" dirty="0">
                <a:solidFill>
                  <a:srgbClr val="5E6B67"/>
                </a:solidFill>
                <a:latin typeface="Poppins" pitchFamily="34" charset="0"/>
                <a:ea typeface="Poppins" pitchFamily="34" charset="-122"/>
                <a:cs typeface="Poppins" pitchFamily="34" charset="-120"/>
              </a:rPr>
              <a:t>match request / result</a:t>
            </a:r>
            <a:endParaRPr lang="en-US" sz="1000" dirty="0"/>
          </a:p>
        </p:txBody>
      </p:sp>
      <p:sp>
        <p:nvSpPr>
          <p:cNvPr id="19" name="Text 17"/>
          <p:cNvSpPr txBox="1"/>
          <p:nvPr/>
        </p:nvSpPr>
        <p:spPr>
          <a:xfrm>
            <a:off x="548640" y="3520440"/>
            <a:ext cx="3291840" cy="1097280"/>
          </a:xfrm>
          <a:prstGeom prst="rect">
            <a:avLst/>
          </a:prstGeom>
          <a:noFill/>
          <a:ln/>
        </p:spPr>
        <p:txBody>
          <a:bodyPr wrap="square" lIns="0" tIns="0" rIns="0" bIns="0" rtlCol="0" anchor="ctr"/>
          <a:lstStyle/>
          <a:p>
            <a:pPr marL="0" indent="0">
              <a:spcAft>
                <a:spcPts val="300"/>
              </a:spcAft>
              <a:buNone/>
            </a:pPr>
            <a:r>
              <a:rPr lang="en-US" sz="1100" dirty="0">
                <a:solidFill>
                  <a:srgbClr val="14211F"/>
                </a:solidFill>
                <a:latin typeface="Poppins SemiBold" pitchFamily="34" charset="0"/>
                <a:ea typeface="Poppins SemiBold" pitchFamily="34" charset="-122"/>
                <a:cs typeface="Poppins SemiBold" pitchFamily="34" charset="-120"/>
              </a:rPr>
              <a:t>Stack</a:t>
            </a:r>
            <a:endParaRPr lang="en-US" sz="1100" dirty="0"/>
          </a:p>
          <a:p>
            <a:pPr marL="0" indent="0">
              <a:spcAft>
                <a:spcPts val="300"/>
              </a:spcAft>
              <a:buNone/>
            </a:pPr>
            <a:r>
              <a:rPr lang="en-US" sz="1100" dirty="0">
                <a:solidFill>
                  <a:srgbClr val="4C5A56"/>
                </a:solidFill>
                <a:latin typeface="Poppins" pitchFamily="34" charset="0"/>
                <a:ea typeface="Poppins" pitchFamily="34" charset="-122"/>
                <a:cs typeface="Poppins" pitchFamily="34" charset="-120"/>
              </a:rPr>
              <a:t>Leaflet + OpenStreetMap maps</a:t>
            </a:r>
            <a:endParaRPr lang="en-US" sz="1100" dirty="0"/>
          </a:p>
          <a:p>
            <a:pPr marL="0" indent="0">
              <a:spcAft>
                <a:spcPts val="300"/>
              </a:spcAft>
              <a:buNone/>
            </a:pPr>
            <a:r>
              <a:rPr lang="en-US" sz="1100" dirty="0">
                <a:solidFill>
                  <a:srgbClr val="4C5A56"/>
                </a:solidFill>
                <a:latin typeface="Poppins" pitchFamily="34" charset="0"/>
                <a:ea typeface="Poppins" pitchFamily="34" charset="-122"/>
                <a:cs typeface="Poppins" pitchFamily="34" charset="-120"/>
              </a:rPr>
              <a:t>JWT in httpOnly cookies</a:t>
            </a:r>
            <a:endParaRPr lang="en-US" sz="1100" dirty="0"/>
          </a:p>
          <a:p>
            <a:pPr marL="0" indent="0">
              <a:spcAft>
                <a:spcPts val="300"/>
              </a:spcAft>
              <a:buNone/>
            </a:pPr>
            <a:r>
              <a:rPr lang="en-US" sz="1100" dirty="0">
                <a:solidFill>
                  <a:srgbClr val="4C5A56"/>
                </a:solidFill>
                <a:latin typeface="Poppins" pitchFamily="34" charset="0"/>
                <a:ea typeface="Poppins" pitchFamily="34" charset="-122"/>
                <a:cs typeface="Poppins" pitchFamily="34" charset="-120"/>
              </a:rPr>
              <a:t>Flyway migrations, 25 so far</a:t>
            </a:r>
            <a:endParaRPr lang="en-US" sz="1100" dirty="0"/>
          </a:p>
        </p:txBody>
      </p:sp>
      <p:sp>
        <p:nvSpPr>
          <p:cNvPr id="20" name="Text 18"/>
          <p:cNvSpPr txBox="1"/>
          <p:nvPr/>
        </p:nvSpPr>
        <p:spPr>
          <a:xfrm>
            <a:off x="548640" y="5001768"/>
            <a:ext cx="11094415" cy="384048"/>
          </a:xfrm>
          <a:prstGeom prst="rect">
            <a:avLst/>
          </a:prstGeom>
          <a:noFill/>
          <a:ln/>
        </p:spPr>
        <p:txBody>
          <a:bodyPr wrap="square" lIns="0" tIns="0" rIns="0" bIns="0" rtlCol="0" anchor="t"/>
          <a:lstStyle/>
          <a:p>
            <a:pPr marL="0" indent="0">
              <a:buNone/>
            </a:pPr>
            <a:r>
              <a:rPr lang="en-US" sz="1800" b="1" dirty="0">
                <a:solidFill>
                  <a:srgbClr val="14211F"/>
                </a:solidFill>
                <a:latin typeface="Playfair Display" pitchFamily="34" charset="0"/>
                <a:ea typeface="Playfair Display" pitchFamily="34" charset="-122"/>
                <a:cs typeface="Playfair Display" pitchFamily="34" charset="-120"/>
              </a:rPr>
              <a:t>Built so a citizen never waits</a:t>
            </a:r>
            <a:endParaRPr lang="en-US" sz="1800" dirty="0"/>
          </a:p>
        </p:txBody>
      </p:sp>
      <p:sp>
        <p:nvSpPr>
          <p:cNvPr id="21" name="Text 19"/>
          <p:cNvSpPr txBox="1"/>
          <p:nvPr/>
        </p:nvSpPr>
        <p:spPr>
          <a:xfrm>
            <a:off x="548640" y="5458968"/>
            <a:ext cx="3291840" cy="777240"/>
          </a:xfrm>
          <a:prstGeom prst="rect">
            <a:avLst/>
          </a:prstGeom>
          <a:noFill/>
          <a:ln/>
        </p:spPr>
        <p:txBody>
          <a:bodyPr wrap="square" lIns="0" tIns="0" rIns="0" bIns="0" rtlCol="0" anchor="t"/>
          <a:lstStyle/>
          <a:p>
            <a:pPr marL="0" indent="0">
              <a:buNone/>
            </a:pPr>
            <a:r>
              <a:rPr lang="en-US" sz="1100" dirty="0">
                <a:solidFill>
                  <a:srgbClr val="14211F"/>
                </a:solidFill>
                <a:latin typeface="Poppins SemiBold" pitchFamily="34" charset="0"/>
                <a:ea typeface="Poppins SemiBold" pitchFamily="34" charset="-122"/>
                <a:cs typeface="Poppins SemiBold" pitchFamily="34" charset="-120"/>
              </a:rPr>
              <a:t>Save first</a:t>
            </a:r>
            <a:endParaRPr lang="en-US" sz="1100" dirty="0"/>
          </a:p>
          <a:p>
            <a:pPr marL="0" indent="0">
              <a:buNone/>
            </a:pPr>
            <a:r>
              <a:rPr lang="en-US" sz="1100" dirty="0">
                <a:solidFill>
                  <a:srgbClr val="4C5A56"/>
                </a:solidFill>
                <a:latin typeface="Poppins" pitchFamily="34" charset="0"/>
                <a:ea typeface="Poppins" pitchFamily="34" charset="-122"/>
                <a:cs typeface="Poppins" pitchFamily="34" charset="-120"/>
              </a:rPr>
              <a:t>The complaint is stored and answered at once. Matching runs afterwards.</a:t>
            </a:r>
            <a:endParaRPr lang="en-US" sz="1100" dirty="0"/>
          </a:p>
        </p:txBody>
      </p:sp>
      <p:sp>
        <p:nvSpPr>
          <p:cNvPr id="22" name="Text 20"/>
          <p:cNvSpPr txBox="1"/>
          <p:nvPr/>
        </p:nvSpPr>
        <p:spPr>
          <a:xfrm>
            <a:off x="4448556" y="5458968"/>
            <a:ext cx="3291840" cy="777240"/>
          </a:xfrm>
          <a:prstGeom prst="rect">
            <a:avLst/>
          </a:prstGeom>
          <a:noFill/>
          <a:ln/>
        </p:spPr>
        <p:txBody>
          <a:bodyPr wrap="square" lIns="0" tIns="0" rIns="0" bIns="0" rtlCol="0" anchor="t"/>
          <a:lstStyle/>
          <a:p>
            <a:pPr marL="0" indent="0">
              <a:buNone/>
            </a:pPr>
            <a:r>
              <a:rPr lang="en-US" sz="1100" dirty="0">
                <a:solidFill>
                  <a:srgbClr val="14211F"/>
                </a:solidFill>
                <a:latin typeface="Poppins SemiBold" pitchFamily="34" charset="0"/>
                <a:ea typeface="Poppins SemiBold" pitchFamily="34" charset="-122"/>
                <a:cs typeface="Poppins SemiBold" pitchFamily="34" charset="-120"/>
              </a:rPr>
              <a:t>Fall back</a:t>
            </a:r>
            <a:endParaRPr lang="en-US" sz="1100" dirty="0"/>
          </a:p>
          <a:p>
            <a:pPr marL="0" indent="0">
              <a:buNone/>
            </a:pPr>
            <a:r>
              <a:rPr lang="en-US" sz="1100" dirty="0">
                <a:solidFill>
                  <a:srgbClr val="4C5A56"/>
                </a:solidFill>
                <a:latin typeface="Poppins" pitchFamily="34" charset="0"/>
                <a:ea typeface="Poppins" pitchFamily="34" charset="-122"/>
                <a:cs typeface="Poppins" pitchFamily="34" charset="-120"/>
              </a:rPr>
              <a:t>If the AI service is down, a circuit breaker groups by ward and category, and marks it.</a:t>
            </a:r>
            <a:endParaRPr lang="en-US" sz="1100" dirty="0"/>
          </a:p>
        </p:txBody>
      </p:sp>
      <p:sp>
        <p:nvSpPr>
          <p:cNvPr id="23" name="Text 21"/>
          <p:cNvSpPr txBox="1"/>
          <p:nvPr/>
        </p:nvSpPr>
        <p:spPr>
          <a:xfrm>
            <a:off x="8348472" y="5458968"/>
            <a:ext cx="3291840" cy="777240"/>
          </a:xfrm>
          <a:prstGeom prst="rect">
            <a:avLst/>
          </a:prstGeom>
          <a:noFill/>
          <a:ln/>
        </p:spPr>
        <p:txBody>
          <a:bodyPr wrap="square" lIns="0" tIns="0" rIns="0" bIns="0" rtlCol="0" anchor="t"/>
          <a:lstStyle/>
          <a:p>
            <a:pPr marL="0" indent="0">
              <a:buNone/>
            </a:pPr>
            <a:r>
              <a:rPr lang="en-US" sz="1100" dirty="0">
                <a:solidFill>
                  <a:srgbClr val="14211F"/>
                </a:solidFill>
                <a:latin typeface="Poppins SemiBold" pitchFamily="34" charset="0"/>
                <a:ea typeface="Poppins SemiBold" pitchFamily="34" charset="-122"/>
                <a:cs typeface="Poppins SemiBold" pitchFamily="34" charset="-120"/>
              </a:rPr>
              <a:t>Repair</a:t>
            </a:r>
            <a:endParaRPr lang="en-US" sz="1100" dirty="0"/>
          </a:p>
          <a:p>
            <a:pPr marL="0" indent="0">
              <a:buNone/>
            </a:pPr>
            <a:r>
              <a:rPr lang="en-US" sz="1100" dirty="0">
                <a:solidFill>
                  <a:srgbClr val="4C5A56"/>
                </a:solidFill>
                <a:latin typeface="Poppins" pitchFamily="34" charset="0"/>
                <a:ea typeface="Poppins" pitchFamily="34" charset="-122"/>
                <a:cs typeface="Poppins" pitchFamily="34" charset="-120"/>
              </a:rPr>
              <a:t>A sweep re-runs those matches when the AI service recovers.</a:t>
            </a:r>
            <a:endParaRPr lang="en-US" sz="11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B67"/>
                </a:solidFill>
                <a:latin typeface="Poppins Medium"/>
                <a:ea typeface="Poppins Medium"/>
                <a:cs typeface="Poppins Medium"/>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457200"/>
            <a:ext cx="11094415" cy="292608"/>
          </a:xfrm>
          <a:prstGeom prst="rect">
            <a:avLst/>
          </a:prstGeom>
          <a:noFill/>
          <a:ln/>
        </p:spPr>
        <p:txBody>
          <a:bodyPr wrap="square" lIns="0" tIns="0" rIns="0" bIns="0" rtlCol="0" anchor="t"/>
          <a:lstStyle/>
          <a:p>
            <a:pPr marL="0" indent="0">
              <a:buNone/>
            </a:pPr>
            <a:r>
              <a:rPr lang="en-US" sz="1100" kern="0" spc="200" dirty="0">
                <a:solidFill>
                  <a:srgbClr val="17494D"/>
                </a:solidFill>
                <a:latin typeface="Poppins SemiBold" pitchFamily="34" charset="0"/>
                <a:ea typeface="Poppins SemiBold" pitchFamily="34" charset="-122"/>
                <a:cs typeface="Poppins SemiBold" pitchFamily="34" charset="-120"/>
              </a:rPr>
              <a:t>04  SMART GROUPING</a:t>
            </a:r>
            <a:endParaRPr lang="en-US" sz="1100" dirty="0"/>
          </a:p>
        </p:txBody>
      </p:sp>
      <p:sp>
        <p:nvSpPr>
          <p:cNvPr id="3" name="Text 1"/>
          <p:cNvSpPr>
            <a:spLocks noGrp="1"/>
          </p:cNvSpPr>
          <p:nvPr>
            <p:ph type="title" idx="102" hasCustomPrompt="1"/>
          </p:nvPr>
        </p:nvSpPr>
        <p:spPr>
          <a:xfrm>
            <a:off x="548640" y="749808"/>
            <a:ext cx="11094415" cy="777240"/>
          </a:xfrm>
          <a:prstGeom prst="rect">
            <a:avLst/>
          </a:prstGeom>
          <a:noFill/>
          <a:ln/>
        </p:spPr>
        <p:txBody>
          <a:bodyPr wrap="square" lIns="0" tIns="0" rIns="0" bIns="0" rtlCol="0" anchor="t"/>
          <a:lstStyle/>
          <a:p>
            <a:pPr marL="0" indent="0" algn="l">
              <a:buNone/>
            </a:pPr>
            <a:r>
              <a:rPr lang="en-US" sz="3400" b="1" dirty="0">
                <a:solidFill>
                  <a:srgbClr val="14211F"/>
                </a:solidFill>
                <a:latin typeface="Playfair Display" pitchFamily="34" charset="0"/>
                <a:ea typeface="Playfair Display" pitchFamily="34" charset="-122"/>
                <a:cs typeface="Playfair Display" pitchFamily="34" charset="-120"/>
              </a:rPr>
              <a:t>Grouped by meaning, checked by distance</a:t>
            </a:r>
            <a:endParaRPr lang="en-US" sz="3400" dirty="0"/>
          </a:p>
        </p:txBody>
      </p:sp>
      <p:sp>
        <p:nvSpPr>
          <p:cNvPr id="4" name="icon-bg LuLayers"/>
          <p:cNvSpPr/>
          <p:nvPr/>
        </p:nvSpPr>
        <p:spPr>
          <a:xfrm>
            <a:off x="548640" y="1783080"/>
            <a:ext cx="548640" cy="548640"/>
          </a:xfrm>
          <a:prstGeom prst="ellipse">
            <a:avLst/>
          </a:prstGeom>
          <a:solidFill>
            <a:srgbClr val="DCE8E8"/>
          </a:solidFill>
          <a:ln w="12700">
            <a:solidFill>
              <a:srgbClr val="DCE8E8"/>
            </a:solidFill>
            <a:prstDash val="solid"/>
          </a:ln>
        </p:spPr>
      </p:sp>
      <p:pic>
        <p:nvPicPr>
          <p:cNvPr id="5" name="icon LuLayers" descr="preencoded.png"/>
          <p:cNvPicPr>
            <a:picLocks noChangeAspect="1"/>
          </p:cNvPicPr>
          <p:nvPr/>
        </p:nvPicPr>
        <p:blipFill>
          <a:blip r:embed="rId3"/>
          <a:stretch>
            <a:fillRect/>
          </a:stretch>
        </p:blipFill>
        <p:spPr>
          <a:xfrm>
            <a:off x="685800" y="1920240"/>
            <a:ext cx="274320" cy="274320"/>
          </a:xfrm>
          <a:prstGeom prst="rect">
            <a:avLst/>
          </a:prstGeom>
        </p:spPr>
      </p:pic>
      <p:sp>
        <p:nvSpPr>
          <p:cNvPr id="6" name="Text 3"/>
          <p:cNvSpPr txBox="1"/>
          <p:nvPr/>
        </p:nvSpPr>
        <p:spPr>
          <a:xfrm>
            <a:off x="1325880" y="1755648"/>
            <a:ext cx="4206240" cy="329184"/>
          </a:xfrm>
          <a:prstGeom prst="rect">
            <a:avLst/>
          </a:prstGeom>
          <a:noFill/>
          <a:ln/>
        </p:spPr>
        <p:txBody>
          <a:bodyPr wrap="square" lIns="0" tIns="0" rIns="0" bIns="0" rtlCol="0" anchor="ctr"/>
          <a:lstStyle/>
          <a:p>
            <a:pPr marL="0" indent="0">
              <a:buNone/>
            </a:pPr>
            <a:r>
              <a:rPr lang="en-US" sz="1400" dirty="0">
                <a:solidFill>
                  <a:srgbClr val="14211F"/>
                </a:solidFill>
                <a:latin typeface="Poppins SemiBold" pitchFamily="34" charset="0"/>
                <a:ea typeface="Poppins SemiBold" pitchFamily="34" charset="-122"/>
                <a:cs typeface="Poppins SemiBold" pitchFamily="34" charset="-120"/>
              </a:rPr>
              <a:t>Same ward and category</a:t>
            </a:r>
            <a:endParaRPr lang="en-US" sz="1400" dirty="0"/>
          </a:p>
        </p:txBody>
      </p:sp>
      <p:sp>
        <p:nvSpPr>
          <p:cNvPr id="7" name="Text 4"/>
          <p:cNvSpPr txBox="1"/>
          <p:nvPr/>
        </p:nvSpPr>
        <p:spPr>
          <a:xfrm>
            <a:off x="1325880" y="2084832"/>
            <a:ext cx="4206240" cy="457200"/>
          </a:xfrm>
          <a:prstGeom prst="rect">
            <a:avLst/>
          </a:prstGeom>
          <a:noFill/>
          <a:ln/>
        </p:spPr>
        <p:txBody>
          <a:bodyPr wrap="square" lIns="0" tIns="0" rIns="0" bIns="0" rtlCol="0" anchor="t"/>
          <a:lstStyle/>
          <a:p>
            <a:pPr marL="0" indent="0">
              <a:buNone/>
            </a:pPr>
            <a:r>
              <a:rPr lang="en-US" sz="1200" dirty="0">
                <a:solidFill>
                  <a:srgbClr val="4C5A56"/>
                </a:solidFill>
                <a:latin typeface="Poppins" pitchFamily="34" charset="0"/>
                <a:ea typeface="Poppins" pitchFamily="34" charset="-122"/>
                <a:cs typeface="Poppins" pitchFamily="34" charset="-120"/>
              </a:rPr>
              <a:t>Hard filter. Meaning never crosses a category.</a:t>
            </a:r>
            <a:endParaRPr lang="en-US" sz="1200" dirty="0"/>
          </a:p>
        </p:txBody>
      </p:sp>
      <p:sp>
        <p:nvSpPr>
          <p:cNvPr id="8" name="icon-bg LuSparkles"/>
          <p:cNvSpPr/>
          <p:nvPr/>
        </p:nvSpPr>
        <p:spPr>
          <a:xfrm>
            <a:off x="548640" y="2743200"/>
            <a:ext cx="548640" cy="548640"/>
          </a:xfrm>
          <a:prstGeom prst="ellipse">
            <a:avLst/>
          </a:prstGeom>
          <a:solidFill>
            <a:srgbClr val="DCE8E8"/>
          </a:solidFill>
          <a:ln w="12700">
            <a:solidFill>
              <a:srgbClr val="DCE8E8"/>
            </a:solidFill>
            <a:prstDash val="solid"/>
          </a:ln>
        </p:spPr>
      </p:sp>
      <p:pic>
        <p:nvPicPr>
          <p:cNvPr id="9" name="icon LuSparkles" descr="preencoded.png"/>
          <p:cNvPicPr>
            <a:picLocks noChangeAspect="1"/>
          </p:cNvPicPr>
          <p:nvPr/>
        </p:nvPicPr>
        <p:blipFill>
          <a:blip r:embed="rId4"/>
          <a:stretch>
            <a:fillRect/>
          </a:stretch>
        </p:blipFill>
        <p:spPr>
          <a:xfrm>
            <a:off x="685800" y="2880360"/>
            <a:ext cx="274320" cy="274320"/>
          </a:xfrm>
          <a:prstGeom prst="rect">
            <a:avLst/>
          </a:prstGeom>
        </p:spPr>
      </p:pic>
      <p:sp>
        <p:nvSpPr>
          <p:cNvPr id="10" name="Text 6"/>
          <p:cNvSpPr txBox="1"/>
          <p:nvPr/>
        </p:nvSpPr>
        <p:spPr>
          <a:xfrm>
            <a:off x="1325880" y="2715768"/>
            <a:ext cx="4206240" cy="329184"/>
          </a:xfrm>
          <a:prstGeom prst="rect">
            <a:avLst/>
          </a:prstGeom>
          <a:noFill/>
          <a:ln/>
        </p:spPr>
        <p:txBody>
          <a:bodyPr wrap="square" lIns="0" tIns="0" rIns="0" bIns="0" rtlCol="0" anchor="ctr"/>
          <a:lstStyle/>
          <a:p>
            <a:pPr marL="0" indent="0">
              <a:buNone/>
            </a:pPr>
            <a:r>
              <a:rPr lang="en-US" sz="1400" dirty="0">
                <a:solidFill>
                  <a:srgbClr val="14211F"/>
                </a:solidFill>
                <a:latin typeface="Poppins SemiBold" pitchFamily="34" charset="0"/>
                <a:ea typeface="Poppins SemiBold" pitchFamily="34" charset="-122"/>
                <a:cs typeface="Poppins SemiBold" pitchFamily="34" charset="-120"/>
              </a:rPr>
              <a:t>Similar meaning, at least 0.84</a:t>
            </a:r>
            <a:endParaRPr lang="en-US" sz="1400" dirty="0"/>
          </a:p>
        </p:txBody>
      </p:sp>
      <p:sp>
        <p:nvSpPr>
          <p:cNvPr id="11" name="Text 7"/>
          <p:cNvSpPr txBox="1"/>
          <p:nvPr/>
        </p:nvSpPr>
        <p:spPr>
          <a:xfrm>
            <a:off x="1325880" y="3044952"/>
            <a:ext cx="4206240" cy="457200"/>
          </a:xfrm>
          <a:prstGeom prst="rect">
            <a:avLst/>
          </a:prstGeom>
          <a:noFill/>
          <a:ln/>
        </p:spPr>
        <p:txBody>
          <a:bodyPr wrap="square" lIns="0" tIns="0" rIns="0" bIns="0" rtlCol="0" anchor="t"/>
          <a:lstStyle/>
          <a:p>
            <a:pPr marL="0" indent="0">
              <a:buNone/>
            </a:pPr>
            <a:r>
              <a:rPr lang="en-US" sz="1200" dirty="0">
                <a:solidFill>
                  <a:srgbClr val="4C5A56"/>
                </a:solidFill>
                <a:latin typeface="Poppins" pitchFamily="34" charset="0"/>
                <a:ea typeface="Poppins" pitchFamily="34" charset="-122"/>
                <a:cs typeface="Poppins" pitchFamily="34" charset="-120"/>
              </a:rPr>
              <a:t>Cosine similarity to the closest report already in the incident.</a:t>
            </a:r>
            <a:endParaRPr lang="en-US" sz="1200" dirty="0"/>
          </a:p>
        </p:txBody>
      </p:sp>
      <p:sp>
        <p:nvSpPr>
          <p:cNvPr id="12" name="icon-bg LuRuler"/>
          <p:cNvSpPr/>
          <p:nvPr/>
        </p:nvSpPr>
        <p:spPr>
          <a:xfrm>
            <a:off x="548640" y="3703320"/>
            <a:ext cx="548640" cy="548640"/>
          </a:xfrm>
          <a:prstGeom prst="ellipse">
            <a:avLst/>
          </a:prstGeom>
          <a:solidFill>
            <a:srgbClr val="DCE8E8"/>
          </a:solidFill>
          <a:ln w="12700">
            <a:solidFill>
              <a:srgbClr val="DCE8E8"/>
            </a:solidFill>
            <a:prstDash val="solid"/>
          </a:ln>
        </p:spPr>
      </p:sp>
      <p:pic>
        <p:nvPicPr>
          <p:cNvPr id="13" name="icon LuRuler" descr="preencoded.png"/>
          <p:cNvPicPr>
            <a:picLocks noChangeAspect="1"/>
          </p:cNvPicPr>
          <p:nvPr/>
        </p:nvPicPr>
        <p:blipFill>
          <a:blip r:embed="rId5"/>
          <a:stretch>
            <a:fillRect/>
          </a:stretch>
        </p:blipFill>
        <p:spPr>
          <a:xfrm>
            <a:off x="685800" y="3840480"/>
            <a:ext cx="274320" cy="274320"/>
          </a:xfrm>
          <a:prstGeom prst="rect">
            <a:avLst/>
          </a:prstGeom>
        </p:spPr>
      </p:pic>
      <p:sp>
        <p:nvSpPr>
          <p:cNvPr id="14" name="Text 9"/>
          <p:cNvSpPr txBox="1"/>
          <p:nvPr/>
        </p:nvSpPr>
        <p:spPr>
          <a:xfrm>
            <a:off x="1325880" y="3675888"/>
            <a:ext cx="4206240" cy="329184"/>
          </a:xfrm>
          <a:prstGeom prst="rect">
            <a:avLst/>
          </a:prstGeom>
          <a:noFill/>
          <a:ln/>
        </p:spPr>
        <p:txBody>
          <a:bodyPr wrap="square" lIns="0" tIns="0" rIns="0" bIns="0" rtlCol="0" anchor="ctr"/>
          <a:lstStyle/>
          <a:p>
            <a:pPr marL="0" indent="0">
              <a:buNone/>
            </a:pPr>
            <a:r>
              <a:rPr lang="en-US" sz="1400" dirty="0">
                <a:solidFill>
                  <a:srgbClr val="14211F"/>
                </a:solidFill>
                <a:latin typeface="Poppins SemiBold" pitchFamily="34" charset="0"/>
                <a:ea typeface="Poppins SemiBold" pitchFamily="34" charset="-122"/>
                <a:cs typeface="Poppins SemiBold" pitchFamily="34" charset="-120"/>
              </a:rPr>
              <a:t>Within 500 m</a:t>
            </a:r>
            <a:endParaRPr lang="en-US" sz="1400" dirty="0"/>
          </a:p>
        </p:txBody>
      </p:sp>
      <p:sp>
        <p:nvSpPr>
          <p:cNvPr id="15" name="Text 10"/>
          <p:cNvSpPr txBox="1"/>
          <p:nvPr/>
        </p:nvSpPr>
        <p:spPr>
          <a:xfrm>
            <a:off x="1325880" y="4005072"/>
            <a:ext cx="4206240" cy="457200"/>
          </a:xfrm>
          <a:prstGeom prst="rect">
            <a:avLst/>
          </a:prstGeom>
          <a:noFill/>
          <a:ln/>
        </p:spPr>
        <p:txBody>
          <a:bodyPr wrap="square" lIns="0" tIns="0" rIns="0" bIns="0" rtlCol="0" anchor="t"/>
          <a:lstStyle/>
          <a:p>
            <a:pPr marL="0" indent="0">
              <a:buNone/>
            </a:pPr>
            <a:r>
              <a:rPr lang="en-US" sz="1200" dirty="0">
                <a:solidFill>
                  <a:srgbClr val="4C5A56"/>
                </a:solidFill>
                <a:latin typeface="Poppins" pitchFamily="34" charset="0"/>
                <a:ea typeface="Poppins" pitchFamily="34" charset="-122"/>
                <a:cs typeface="Poppins" pitchFamily="34" charset="-120"/>
              </a:rPr>
              <a:t>Same words a street away is a different fault.</a:t>
            </a:r>
            <a:endParaRPr lang="en-US" sz="1200" dirty="0"/>
          </a:p>
        </p:txBody>
      </p:sp>
      <p:sp>
        <p:nvSpPr>
          <p:cNvPr id="16" name="stat card"/>
          <p:cNvSpPr/>
          <p:nvPr/>
        </p:nvSpPr>
        <p:spPr>
          <a:xfrm>
            <a:off x="548640" y="4800600"/>
            <a:ext cx="4937760" cy="1325880"/>
          </a:xfrm>
          <a:prstGeom prst="roundRect">
            <a:avLst>
              <a:gd name="adj" fmla="val 6897"/>
            </a:avLst>
          </a:prstGeom>
          <a:solidFill>
            <a:srgbClr val="F3F6F4"/>
          </a:solidFill>
          <a:ln w="12700">
            <a:solidFill>
              <a:srgbClr val="F3F6F4"/>
            </a:solidFill>
            <a:prstDash val="solid"/>
          </a:ln>
        </p:spPr>
      </p:sp>
      <p:sp>
        <p:nvSpPr>
          <p:cNvPr id="17" name="Text 12"/>
          <p:cNvSpPr txBox="1"/>
          <p:nvPr/>
        </p:nvSpPr>
        <p:spPr>
          <a:xfrm>
            <a:off x="822960" y="4846320"/>
            <a:ext cx="4480560" cy="731520"/>
          </a:xfrm>
          <a:prstGeom prst="rect">
            <a:avLst/>
          </a:prstGeom>
          <a:noFill/>
          <a:ln/>
        </p:spPr>
        <p:txBody>
          <a:bodyPr wrap="square" lIns="0" tIns="0" rIns="0" bIns="0" rtlCol="0" anchor="ctr"/>
          <a:lstStyle/>
          <a:p>
            <a:pPr marL="0" indent="0">
              <a:buNone/>
            </a:pPr>
            <a:r>
              <a:rPr lang="en-US" sz="3000" dirty="0">
                <a:solidFill>
                  <a:srgbClr val="5E6B67"/>
                </a:solidFill>
                <a:latin typeface="Playfair Display" pitchFamily="34" charset="0"/>
                <a:ea typeface="Playfair Display" pitchFamily="34" charset="-122"/>
                <a:cs typeface="Playfair Display" pitchFamily="34" charset="-120"/>
              </a:rPr>
              <a:t>55%</a:t>
            </a:r>
            <a:r>
              <a:rPr lang="en-US" sz="2200" dirty="0">
                <a:solidFill>
                  <a:srgbClr val="5E6B67"/>
                </a:solidFill>
                <a:latin typeface="Poppins" pitchFamily="34" charset="0"/>
                <a:ea typeface="Poppins" pitchFamily="34" charset="-122"/>
                <a:cs typeface="Poppins" pitchFamily="34" charset="-120"/>
              </a:rPr>
              <a:t>  →  </a:t>
            </a:r>
            <a:r>
              <a:rPr lang="en-US" sz="4400" b="1" dirty="0">
                <a:solidFill>
                  <a:srgbClr val="17494D"/>
                </a:solidFill>
                <a:latin typeface="Playfair Display" pitchFamily="34" charset="0"/>
                <a:ea typeface="Playfair Display" pitchFamily="34" charset="-122"/>
                <a:cs typeface="Playfair Display" pitchFamily="34" charset="-120"/>
              </a:rPr>
              <a:t>95%</a:t>
            </a:r>
            <a:endParaRPr lang="en-US" sz="3000" dirty="0"/>
          </a:p>
        </p:txBody>
      </p:sp>
      <p:sp>
        <p:nvSpPr>
          <p:cNvPr id="18" name="Text 13"/>
          <p:cNvSpPr txBox="1"/>
          <p:nvPr/>
        </p:nvSpPr>
        <p:spPr>
          <a:xfrm>
            <a:off x="822960" y="5532120"/>
            <a:ext cx="4480560" cy="548640"/>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of real grouping decisions correct, at 0.75 and then at 0.84 + 500 m. A blind second labeller confirmed the choice.</a:t>
            </a:r>
            <a:endParaRPr lang="en-US" sz="1100" dirty="0"/>
          </a:p>
        </p:txBody>
      </p:sp>
      <p:graphicFrame>
        <p:nvGraphicFramePr>
          <p:cNvPr id="19" name="Chart 0"/>
          <p:cNvGraphicFramePr/>
          <p:nvPr/>
        </p:nvGraphicFramePr>
        <p:xfrm>
          <a:off x="5943600" y="1691640"/>
          <a:ext cx="5715000" cy="4023360"/>
        </p:xfrm>
        <a:graphic>
          <a:graphicData uri="http://schemas.openxmlformats.org/drawingml/2006/chart">
            <c:chart xmlns:c="http://schemas.openxmlformats.org/drawingml/2006/chart" xmlns:r="http://schemas.openxmlformats.org/officeDocument/2006/relationships" r:id="rId6"/>
          </a:graphicData>
        </a:graphic>
      </p:graphicFrame>
      <p:sp>
        <p:nvSpPr>
          <p:cNvPr id="20" name="Text 14"/>
          <p:cNvSpPr txBox="1"/>
          <p:nvPr/>
        </p:nvSpPr>
        <p:spPr>
          <a:xfrm>
            <a:off x="6126480" y="5760720"/>
            <a:ext cx="5486400" cy="411480"/>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At 0.75 every pool merged into one incident. </a:t>
            </a:r>
            <a:r>
              <a:rPr lang="en-US" sz="1100" dirty="0">
                <a:solidFill>
                  <a:srgbClr val="14211F"/>
                </a:solidFill>
                <a:latin typeface="Poppins SemiBold" pitchFamily="34" charset="0"/>
                <a:ea typeface="Poppins SemiBold" pitchFamily="34" charset="-122"/>
                <a:cs typeface="Poppins SemiBold" pitchFamily="34" charset="-120"/>
              </a:rPr>
              <a:t>0.84 keeps recall above 94% and lifts precision to 62%.</a:t>
            </a:r>
            <a:endParaRPr lang="en-US" sz="11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B67"/>
                </a:solidFill>
                <a:latin typeface="Poppins Medium"/>
                <a:ea typeface="Poppins Medium"/>
                <a:cs typeface="Poppins Medium"/>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457200"/>
            <a:ext cx="11094415" cy="292608"/>
          </a:xfrm>
          <a:prstGeom prst="rect">
            <a:avLst/>
          </a:prstGeom>
          <a:noFill/>
          <a:ln/>
        </p:spPr>
        <p:txBody>
          <a:bodyPr wrap="square" lIns="0" tIns="0" rIns="0" bIns="0" rtlCol="0" anchor="t"/>
          <a:lstStyle/>
          <a:p>
            <a:pPr marL="0" indent="0">
              <a:buNone/>
            </a:pPr>
            <a:r>
              <a:rPr lang="en-US" sz="1100" kern="0" spc="200" dirty="0">
                <a:solidFill>
                  <a:srgbClr val="17494D"/>
                </a:solidFill>
                <a:latin typeface="Poppins SemiBold" pitchFamily="34" charset="0"/>
                <a:ea typeface="Poppins SemiBold" pitchFamily="34" charset="-122"/>
                <a:cs typeface="Poppins SemiBold" pitchFamily="34" charset="-120"/>
              </a:rPr>
              <a:t>05  EXPLAINABLE PRIORITY</a:t>
            </a:r>
            <a:endParaRPr lang="en-US" sz="1100" dirty="0"/>
          </a:p>
        </p:txBody>
      </p:sp>
      <p:sp>
        <p:nvSpPr>
          <p:cNvPr id="3" name="Text 1"/>
          <p:cNvSpPr>
            <a:spLocks noGrp="1"/>
          </p:cNvSpPr>
          <p:nvPr>
            <p:ph type="title" idx="102" hasCustomPrompt="1"/>
          </p:nvPr>
        </p:nvSpPr>
        <p:spPr>
          <a:xfrm>
            <a:off x="548640" y="749808"/>
            <a:ext cx="11094415" cy="777240"/>
          </a:xfrm>
          <a:prstGeom prst="rect">
            <a:avLst/>
          </a:prstGeom>
          <a:noFill/>
          <a:ln/>
        </p:spPr>
        <p:txBody>
          <a:bodyPr wrap="square" lIns="0" tIns="0" rIns="0" bIns="0" rtlCol="0" anchor="t"/>
          <a:lstStyle/>
          <a:p>
            <a:pPr marL="0" indent="0" algn="l">
              <a:buNone/>
            </a:pPr>
            <a:r>
              <a:rPr lang="en-US" sz="3400" b="1" dirty="0">
                <a:solidFill>
                  <a:srgbClr val="14211F"/>
                </a:solidFill>
                <a:latin typeface="Playfair Display" pitchFamily="34" charset="0"/>
                <a:ea typeface="Playfair Display" pitchFamily="34" charset="-122"/>
                <a:cs typeface="Playfair Display" pitchFamily="34" charset="-120"/>
              </a:rPr>
              <a:t>A score that shows its working</a:t>
            </a:r>
            <a:endParaRPr lang="en-US" sz="3400" dirty="0"/>
          </a:p>
        </p:txBody>
      </p:sp>
      <p:sp>
        <p:nvSpPr>
          <p:cNvPr id="4" name="weight Volume"/>
          <p:cNvSpPr/>
          <p:nvPr/>
        </p:nvSpPr>
        <p:spPr>
          <a:xfrm>
            <a:off x="548640" y="1874520"/>
            <a:ext cx="2377440" cy="640080"/>
          </a:xfrm>
          <a:prstGeom prst="rect">
            <a:avLst/>
          </a:prstGeom>
          <a:solidFill>
            <a:srgbClr val="123E42"/>
          </a:solidFill>
          <a:ln w="12700">
            <a:solidFill>
              <a:srgbClr val="123E42"/>
            </a:solidFill>
            <a:prstDash val="solid"/>
          </a:ln>
        </p:spPr>
      </p:sp>
      <p:sp>
        <p:nvSpPr>
          <p:cNvPr id="5" name="Text 3"/>
          <p:cNvSpPr txBox="1"/>
          <p:nvPr/>
        </p:nvSpPr>
        <p:spPr>
          <a:xfrm>
            <a:off x="548640" y="1874520"/>
            <a:ext cx="2377440" cy="640080"/>
          </a:xfrm>
          <a:prstGeom prst="rect">
            <a:avLst/>
          </a:prstGeom>
          <a:noFill/>
          <a:ln/>
        </p:spPr>
        <p:txBody>
          <a:bodyPr wrap="square" lIns="0" tIns="0" rIns="0" bIns="0" rtlCol="0" anchor="ctr"/>
          <a:lstStyle/>
          <a:p>
            <a:pPr marL="0" indent="0" algn="ctr">
              <a:buNone/>
            </a:pPr>
            <a:r>
              <a:rPr lang="en-US" sz="1500" dirty="0">
                <a:solidFill>
                  <a:srgbClr val="FFFFFF"/>
                </a:solidFill>
                <a:latin typeface="Poppins SemiBold" pitchFamily="34" charset="0"/>
                <a:ea typeface="Poppins SemiBold" pitchFamily="34" charset="-122"/>
                <a:cs typeface="Poppins SemiBold" pitchFamily="34" charset="-120"/>
              </a:rPr>
              <a:t>40%</a:t>
            </a:r>
            <a:endParaRPr lang="en-US" sz="1500" dirty="0"/>
          </a:p>
        </p:txBody>
      </p:sp>
      <p:sp>
        <p:nvSpPr>
          <p:cNvPr id="6" name="weight Growth"/>
          <p:cNvSpPr/>
          <p:nvPr/>
        </p:nvSpPr>
        <p:spPr>
          <a:xfrm>
            <a:off x="2962656" y="1874520"/>
            <a:ext cx="1773936" cy="640080"/>
          </a:xfrm>
          <a:prstGeom prst="rect">
            <a:avLst/>
          </a:prstGeom>
          <a:solidFill>
            <a:srgbClr val="295B5E"/>
          </a:solidFill>
          <a:ln w="12700">
            <a:solidFill>
              <a:srgbClr val="295B5E"/>
            </a:solidFill>
            <a:prstDash val="solid"/>
          </a:ln>
        </p:spPr>
      </p:sp>
      <p:sp>
        <p:nvSpPr>
          <p:cNvPr id="7" name="Text 5"/>
          <p:cNvSpPr txBox="1"/>
          <p:nvPr/>
        </p:nvSpPr>
        <p:spPr>
          <a:xfrm>
            <a:off x="2962656" y="1874520"/>
            <a:ext cx="1773936" cy="640080"/>
          </a:xfrm>
          <a:prstGeom prst="rect">
            <a:avLst/>
          </a:prstGeom>
          <a:noFill/>
          <a:ln/>
        </p:spPr>
        <p:txBody>
          <a:bodyPr wrap="square" lIns="0" tIns="0" rIns="0" bIns="0" rtlCol="0" anchor="ctr"/>
          <a:lstStyle/>
          <a:p>
            <a:pPr marL="0" indent="0" algn="ctr">
              <a:buNone/>
            </a:pPr>
            <a:r>
              <a:rPr lang="en-US" sz="1500" dirty="0">
                <a:solidFill>
                  <a:srgbClr val="FFFFFF"/>
                </a:solidFill>
                <a:latin typeface="Poppins SemiBold" pitchFamily="34" charset="0"/>
                <a:ea typeface="Poppins SemiBold" pitchFamily="34" charset="-122"/>
                <a:cs typeface="Poppins SemiBold" pitchFamily="34" charset="-120"/>
              </a:rPr>
              <a:t>30%</a:t>
            </a:r>
            <a:endParaRPr lang="en-US" sz="1500" dirty="0"/>
          </a:p>
        </p:txBody>
      </p:sp>
      <p:sp>
        <p:nvSpPr>
          <p:cNvPr id="8" name="weight Age"/>
          <p:cNvSpPr/>
          <p:nvPr/>
        </p:nvSpPr>
        <p:spPr>
          <a:xfrm>
            <a:off x="4773168" y="1874520"/>
            <a:ext cx="1170432" cy="640080"/>
          </a:xfrm>
          <a:prstGeom prst="rect">
            <a:avLst/>
          </a:prstGeom>
          <a:solidFill>
            <a:srgbClr val="437778"/>
          </a:solidFill>
          <a:ln w="12700">
            <a:solidFill>
              <a:srgbClr val="437778"/>
            </a:solidFill>
            <a:prstDash val="solid"/>
          </a:ln>
        </p:spPr>
      </p:sp>
      <p:sp>
        <p:nvSpPr>
          <p:cNvPr id="9" name="Text 7"/>
          <p:cNvSpPr txBox="1"/>
          <p:nvPr/>
        </p:nvSpPr>
        <p:spPr>
          <a:xfrm>
            <a:off x="4773168" y="1874520"/>
            <a:ext cx="1170432" cy="640080"/>
          </a:xfrm>
          <a:prstGeom prst="rect">
            <a:avLst/>
          </a:prstGeom>
          <a:noFill/>
          <a:ln/>
        </p:spPr>
        <p:txBody>
          <a:bodyPr wrap="square" lIns="0" tIns="0" rIns="0" bIns="0" rtlCol="0" anchor="ctr"/>
          <a:lstStyle/>
          <a:p>
            <a:pPr marL="0" indent="0" algn="ctr">
              <a:buNone/>
            </a:pPr>
            <a:r>
              <a:rPr lang="en-US" sz="1500" dirty="0">
                <a:solidFill>
                  <a:srgbClr val="FFFFFF"/>
                </a:solidFill>
                <a:latin typeface="Poppins SemiBold" pitchFamily="34" charset="0"/>
                <a:ea typeface="Poppins SemiBold" pitchFamily="34" charset="-122"/>
                <a:cs typeface="Poppins SemiBold" pitchFamily="34" charset="-120"/>
              </a:rPr>
              <a:t>20%</a:t>
            </a:r>
            <a:endParaRPr lang="en-US" sz="1500" dirty="0"/>
          </a:p>
        </p:txBody>
      </p:sp>
      <p:sp>
        <p:nvSpPr>
          <p:cNvPr id="10" name="weight Spread"/>
          <p:cNvSpPr/>
          <p:nvPr/>
        </p:nvSpPr>
        <p:spPr>
          <a:xfrm>
            <a:off x="5980176" y="1874520"/>
            <a:ext cx="566928" cy="640080"/>
          </a:xfrm>
          <a:prstGeom prst="rect">
            <a:avLst/>
          </a:prstGeom>
          <a:solidFill>
            <a:srgbClr val="639797"/>
          </a:solidFill>
          <a:ln w="12700">
            <a:solidFill>
              <a:srgbClr val="639797"/>
            </a:solidFill>
            <a:prstDash val="solid"/>
          </a:ln>
        </p:spPr>
      </p:sp>
      <p:sp>
        <p:nvSpPr>
          <p:cNvPr id="11" name="Text 9"/>
          <p:cNvSpPr txBox="1"/>
          <p:nvPr/>
        </p:nvSpPr>
        <p:spPr>
          <a:xfrm>
            <a:off x="5980176" y="1874520"/>
            <a:ext cx="566928" cy="640080"/>
          </a:xfrm>
          <a:prstGeom prst="rect">
            <a:avLst/>
          </a:prstGeom>
          <a:noFill/>
          <a:ln/>
        </p:spPr>
        <p:txBody>
          <a:bodyPr wrap="square" lIns="0" tIns="0" rIns="0" bIns="0" rtlCol="0" anchor="ctr"/>
          <a:lstStyle/>
          <a:p>
            <a:pPr marL="0" indent="0" algn="ctr">
              <a:buNone/>
            </a:pPr>
            <a:r>
              <a:rPr lang="en-US" sz="1500" dirty="0">
                <a:solidFill>
                  <a:srgbClr val="FFFFFF"/>
                </a:solidFill>
                <a:latin typeface="Poppins SemiBold" pitchFamily="34" charset="0"/>
                <a:ea typeface="Poppins SemiBold" pitchFamily="34" charset="-122"/>
                <a:cs typeface="Poppins SemiBold" pitchFamily="34" charset="-120"/>
              </a:rPr>
              <a:t>10%</a:t>
            </a:r>
            <a:endParaRPr lang="en-US" sz="1500" dirty="0"/>
          </a:p>
        </p:txBody>
      </p:sp>
      <p:sp>
        <p:nvSpPr>
          <p:cNvPr id="12" name="Shape 10"/>
          <p:cNvSpPr/>
          <p:nvPr/>
        </p:nvSpPr>
        <p:spPr>
          <a:xfrm>
            <a:off x="548640" y="2825496"/>
            <a:ext cx="164592" cy="164592"/>
          </a:xfrm>
          <a:prstGeom prst="rect">
            <a:avLst/>
          </a:prstGeom>
          <a:solidFill>
            <a:srgbClr val="123E42"/>
          </a:solidFill>
          <a:ln w="12700">
            <a:solidFill>
              <a:srgbClr val="123E42"/>
            </a:solidFill>
            <a:prstDash val="solid"/>
          </a:ln>
        </p:spPr>
      </p:sp>
      <p:sp>
        <p:nvSpPr>
          <p:cNvPr id="13" name="Text 11"/>
          <p:cNvSpPr txBox="1"/>
          <p:nvPr/>
        </p:nvSpPr>
        <p:spPr>
          <a:xfrm>
            <a:off x="841248" y="2743200"/>
            <a:ext cx="2651760" cy="329184"/>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Volume</a:t>
            </a:r>
            <a:endParaRPr lang="en-US" sz="1300" dirty="0"/>
          </a:p>
        </p:txBody>
      </p:sp>
      <p:sp>
        <p:nvSpPr>
          <p:cNvPr id="14" name="Text 12"/>
          <p:cNvSpPr txBox="1"/>
          <p:nvPr/>
        </p:nvSpPr>
        <p:spPr>
          <a:xfrm>
            <a:off x="841248" y="3044952"/>
            <a:ext cx="2651760" cy="365760"/>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How many reports, full at 25</a:t>
            </a:r>
            <a:endParaRPr lang="en-US" sz="1100" dirty="0"/>
          </a:p>
        </p:txBody>
      </p:sp>
      <p:sp>
        <p:nvSpPr>
          <p:cNvPr id="15" name="Shape 13"/>
          <p:cNvSpPr/>
          <p:nvPr/>
        </p:nvSpPr>
        <p:spPr>
          <a:xfrm>
            <a:off x="3611880" y="2825496"/>
            <a:ext cx="164592" cy="164592"/>
          </a:xfrm>
          <a:prstGeom prst="rect">
            <a:avLst/>
          </a:prstGeom>
          <a:solidFill>
            <a:srgbClr val="295B5E"/>
          </a:solidFill>
          <a:ln w="12700">
            <a:solidFill>
              <a:srgbClr val="295B5E"/>
            </a:solidFill>
            <a:prstDash val="solid"/>
          </a:ln>
        </p:spPr>
      </p:sp>
      <p:sp>
        <p:nvSpPr>
          <p:cNvPr id="16" name="Text 14"/>
          <p:cNvSpPr txBox="1"/>
          <p:nvPr/>
        </p:nvSpPr>
        <p:spPr>
          <a:xfrm>
            <a:off x="3904488" y="2743200"/>
            <a:ext cx="2651760" cy="329184"/>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Growth</a:t>
            </a:r>
            <a:endParaRPr lang="en-US" sz="1300" dirty="0"/>
          </a:p>
        </p:txBody>
      </p:sp>
      <p:sp>
        <p:nvSpPr>
          <p:cNvPr id="17" name="Text 15"/>
          <p:cNvSpPr txBox="1"/>
          <p:nvPr/>
        </p:nvSpPr>
        <p:spPr>
          <a:xfrm>
            <a:off x="3904488" y="3044952"/>
            <a:ext cx="2651760" cy="365760"/>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New reports in 24 h, full at 5</a:t>
            </a:r>
            <a:endParaRPr lang="en-US" sz="1100" dirty="0"/>
          </a:p>
        </p:txBody>
      </p:sp>
      <p:sp>
        <p:nvSpPr>
          <p:cNvPr id="18" name="Shape 16"/>
          <p:cNvSpPr/>
          <p:nvPr/>
        </p:nvSpPr>
        <p:spPr>
          <a:xfrm>
            <a:off x="548640" y="3602736"/>
            <a:ext cx="164592" cy="164592"/>
          </a:xfrm>
          <a:prstGeom prst="rect">
            <a:avLst/>
          </a:prstGeom>
          <a:solidFill>
            <a:srgbClr val="437778"/>
          </a:solidFill>
          <a:ln w="12700">
            <a:solidFill>
              <a:srgbClr val="437778"/>
            </a:solidFill>
            <a:prstDash val="solid"/>
          </a:ln>
        </p:spPr>
      </p:sp>
      <p:sp>
        <p:nvSpPr>
          <p:cNvPr id="19" name="Text 17"/>
          <p:cNvSpPr txBox="1"/>
          <p:nvPr/>
        </p:nvSpPr>
        <p:spPr>
          <a:xfrm>
            <a:off x="841248" y="3520440"/>
            <a:ext cx="2651760" cy="329184"/>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Age</a:t>
            </a:r>
            <a:endParaRPr lang="en-US" sz="1300" dirty="0"/>
          </a:p>
        </p:txBody>
      </p:sp>
      <p:sp>
        <p:nvSpPr>
          <p:cNvPr id="20" name="Text 18"/>
          <p:cNvSpPr txBox="1"/>
          <p:nvPr/>
        </p:nvSpPr>
        <p:spPr>
          <a:xfrm>
            <a:off x="841248" y="3822192"/>
            <a:ext cx="2651760" cy="365760"/>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Days since first report, full at 30</a:t>
            </a:r>
            <a:endParaRPr lang="en-US" sz="1100" dirty="0"/>
          </a:p>
        </p:txBody>
      </p:sp>
      <p:sp>
        <p:nvSpPr>
          <p:cNvPr id="21" name="Shape 19"/>
          <p:cNvSpPr/>
          <p:nvPr/>
        </p:nvSpPr>
        <p:spPr>
          <a:xfrm>
            <a:off x="3611880" y="3602736"/>
            <a:ext cx="164592" cy="164592"/>
          </a:xfrm>
          <a:prstGeom prst="rect">
            <a:avLst/>
          </a:prstGeom>
          <a:solidFill>
            <a:srgbClr val="639797"/>
          </a:solidFill>
          <a:ln w="12700">
            <a:solidFill>
              <a:srgbClr val="639797"/>
            </a:solidFill>
            <a:prstDash val="solid"/>
          </a:ln>
        </p:spPr>
      </p:sp>
      <p:sp>
        <p:nvSpPr>
          <p:cNvPr id="22" name="Text 20"/>
          <p:cNvSpPr txBox="1"/>
          <p:nvPr/>
        </p:nvSpPr>
        <p:spPr>
          <a:xfrm>
            <a:off x="3904488" y="3520440"/>
            <a:ext cx="2651760" cy="329184"/>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Spread</a:t>
            </a:r>
            <a:endParaRPr lang="en-US" sz="1300" dirty="0"/>
          </a:p>
        </p:txBody>
      </p:sp>
      <p:sp>
        <p:nvSpPr>
          <p:cNvPr id="23" name="Text 21"/>
          <p:cNvSpPr txBox="1"/>
          <p:nvPr/>
        </p:nvSpPr>
        <p:spPr>
          <a:xfrm>
            <a:off x="3904488" y="3822192"/>
            <a:ext cx="2651760" cy="365760"/>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Distance between reports, full at 1 km</a:t>
            </a:r>
            <a:endParaRPr lang="en-US" sz="1100" dirty="0"/>
          </a:p>
        </p:txBody>
      </p:sp>
      <p:sp>
        <p:nvSpPr>
          <p:cNvPr id="24" name="Text 22"/>
          <p:cNvSpPr txBox="1"/>
          <p:nvPr/>
        </p:nvSpPr>
        <p:spPr>
          <a:xfrm>
            <a:off x="548640" y="4434840"/>
            <a:ext cx="3657600" cy="320040"/>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Score 0–10, banded</a:t>
            </a:r>
            <a:endParaRPr lang="en-US" sz="1300" dirty="0"/>
          </a:p>
        </p:txBody>
      </p:sp>
      <p:sp>
        <p:nvSpPr>
          <p:cNvPr id="25" name="band Low"/>
          <p:cNvSpPr/>
          <p:nvPr/>
        </p:nvSpPr>
        <p:spPr>
          <a:xfrm>
            <a:off x="548640" y="4846320"/>
            <a:ext cx="1773936" cy="457200"/>
          </a:xfrm>
          <a:prstGeom prst="rect">
            <a:avLst/>
          </a:prstGeom>
          <a:solidFill>
            <a:srgbClr val="7C9A92"/>
          </a:solidFill>
          <a:ln w="12700">
            <a:solidFill>
              <a:srgbClr val="7C9A92"/>
            </a:solidFill>
            <a:prstDash val="solid"/>
          </a:ln>
        </p:spPr>
      </p:sp>
      <p:sp>
        <p:nvSpPr>
          <p:cNvPr id="26" name="Text 24"/>
          <p:cNvSpPr txBox="1"/>
          <p:nvPr/>
        </p:nvSpPr>
        <p:spPr>
          <a:xfrm>
            <a:off x="548640" y="4846320"/>
            <a:ext cx="1773936" cy="457200"/>
          </a:xfrm>
          <a:prstGeom prst="rect">
            <a:avLst/>
          </a:prstGeom>
          <a:noFill/>
          <a:ln/>
        </p:spPr>
        <p:txBody>
          <a:bodyPr wrap="square" lIns="0" tIns="0" rIns="0" bIns="0" rtlCol="0" anchor="ctr"/>
          <a:lstStyle/>
          <a:p>
            <a:pPr marL="0" indent="0" algn="ctr">
              <a:buNone/>
            </a:pPr>
            <a:r>
              <a:rPr lang="en-US" sz="1200" dirty="0">
                <a:solidFill>
                  <a:srgbClr val="FFFFFF"/>
                </a:solidFill>
                <a:latin typeface="Poppins Medium" pitchFamily="34" charset="0"/>
                <a:ea typeface="Poppins Medium" pitchFamily="34" charset="-122"/>
                <a:cs typeface="Poppins Medium" pitchFamily="34" charset="-120"/>
              </a:rPr>
              <a:t>Low</a:t>
            </a:r>
            <a:endParaRPr lang="en-US" sz="1200" dirty="0"/>
          </a:p>
        </p:txBody>
      </p:sp>
      <p:sp>
        <p:nvSpPr>
          <p:cNvPr id="27" name="band Medium"/>
          <p:cNvSpPr/>
          <p:nvPr/>
        </p:nvSpPr>
        <p:spPr>
          <a:xfrm>
            <a:off x="2359152" y="4846320"/>
            <a:ext cx="1472184" cy="457200"/>
          </a:xfrm>
          <a:prstGeom prst="rect">
            <a:avLst/>
          </a:prstGeom>
          <a:solidFill>
            <a:srgbClr val="B8862B"/>
          </a:solidFill>
          <a:ln w="12700">
            <a:solidFill>
              <a:srgbClr val="B8862B"/>
            </a:solidFill>
            <a:prstDash val="solid"/>
          </a:ln>
        </p:spPr>
      </p:sp>
      <p:sp>
        <p:nvSpPr>
          <p:cNvPr id="28" name="Text 26"/>
          <p:cNvSpPr txBox="1"/>
          <p:nvPr/>
        </p:nvSpPr>
        <p:spPr>
          <a:xfrm>
            <a:off x="2359152" y="4846320"/>
            <a:ext cx="1472184" cy="457200"/>
          </a:xfrm>
          <a:prstGeom prst="rect">
            <a:avLst/>
          </a:prstGeom>
          <a:noFill/>
          <a:ln/>
        </p:spPr>
        <p:txBody>
          <a:bodyPr wrap="square" lIns="0" tIns="0" rIns="0" bIns="0" rtlCol="0" anchor="ctr"/>
          <a:lstStyle/>
          <a:p>
            <a:pPr marL="0" indent="0" algn="ctr">
              <a:buNone/>
            </a:pPr>
            <a:r>
              <a:rPr lang="en-US" sz="1200" dirty="0">
                <a:solidFill>
                  <a:srgbClr val="FFFFFF"/>
                </a:solidFill>
                <a:latin typeface="Poppins Medium" pitchFamily="34" charset="0"/>
                <a:ea typeface="Poppins Medium" pitchFamily="34" charset="-122"/>
                <a:cs typeface="Poppins Medium" pitchFamily="34" charset="-120"/>
              </a:rPr>
              <a:t>Medium</a:t>
            </a:r>
            <a:endParaRPr lang="en-US" sz="1200" dirty="0"/>
          </a:p>
        </p:txBody>
      </p:sp>
      <p:sp>
        <p:nvSpPr>
          <p:cNvPr id="29" name="band High"/>
          <p:cNvSpPr/>
          <p:nvPr/>
        </p:nvSpPr>
        <p:spPr>
          <a:xfrm>
            <a:off x="3867912" y="4846320"/>
            <a:ext cx="1170432" cy="457200"/>
          </a:xfrm>
          <a:prstGeom prst="rect">
            <a:avLst/>
          </a:prstGeom>
          <a:solidFill>
            <a:srgbClr val="C0562A"/>
          </a:solidFill>
          <a:ln w="12700">
            <a:solidFill>
              <a:srgbClr val="C0562A"/>
            </a:solidFill>
            <a:prstDash val="solid"/>
          </a:ln>
        </p:spPr>
      </p:sp>
      <p:sp>
        <p:nvSpPr>
          <p:cNvPr id="30" name="Text 28"/>
          <p:cNvSpPr txBox="1"/>
          <p:nvPr/>
        </p:nvSpPr>
        <p:spPr>
          <a:xfrm>
            <a:off x="3867912" y="4846320"/>
            <a:ext cx="1170432" cy="457200"/>
          </a:xfrm>
          <a:prstGeom prst="rect">
            <a:avLst/>
          </a:prstGeom>
          <a:noFill/>
          <a:ln/>
        </p:spPr>
        <p:txBody>
          <a:bodyPr wrap="square" lIns="0" tIns="0" rIns="0" bIns="0" rtlCol="0" anchor="ctr"/>
          <a:lstStyle/>
          <a:p>
            <a:pPr marL="0" indent="0" algn="ctr">
              <a:buNone/>
            </a:pPr>
            <a:r>
              <a:rPr lang="en-US" sz="1200" dirty="0">
                <a:solidFill>
                  <a:srgbClr val="FFFFFF"/>
                </a:solidFill>
                <a:latin typeface="Poppins Medium" pitchFamily="34" charset="0"/>
                <a:ea typeface="Poppins Medium" pitchFamily="34" charset="-122"/>
                <a:cs typeface="Poppins Medium" pitchFamily="34" charset="-120"/>
              </a:rPr>
              <a:t>High</a:t>
            </a:r>
            <a:endParaRPr lang="en-US" sz="1200" dirty="0"/>
          </a:p>
        </p:txBody>
      </p:sp>
      <p:sp>
        <p:nvSpPr>
          <p:cNvPr id="31" name="band Critical"/>
          <p:cNvSpPr/>
          <p:nvPr/>
        </p:nvSpPr>
        <p:spPr>
          <a:xfrm>
            <a:off x="5074920" y="4846320"/>
            <a:ext cx="1472184" cy="457200"/>
          </a:xfrm>
          <a:prstGeom prst="rect">
            <a:avLst/>
          </a:prstGeom>
          <a:solidFill>
            <a:srgbClr val="8E1F16"/>
          </a:solidFill>
          <a:ln w="12700">
            <a:solidFill>
              <a:srgbClr val="8E1F16"/>
            </a:solidFill>
            <a:prstDash val="solid"/>
          </a:ln>
        </p:spPr>
      </p:sp>
      <p:sp>
        <p:nvSpPr>
          <p:cNvPr id="32" name="Text 30"/>
          <p:cNvSpPr txBox="1"/>
          <p:nvPr/>
        </p:nvSpPr>
        <p:spPr>
          <a:xfrm>
            <a:off x="5074920" y="4846320"/>
            <a:ext cx="1472184" cy="457200"/>
          </a:xfrm>
          <a:prstGeom prst="rect">
            <a:avLst/>
          </a:prstGeom>
          <a:noFill/>
          <a:ln/>
        </p:spPr>
        <p:txBody>
          <a:bodyPr wrap="square" lIns="0" tIns="0" rIns="0" bIns="0" rtlCol="0" anchor="ctr"/>
          <a:lstStyle/>
          <a:p>
            <a:pPr marL="0" indent="0" algn="ctr">
              <a:buNone/>
            </a:pPr>
            <a:r>
              <a:rPr lang="en-US" sz="1200" dirty="0">
                <a:solidFill>
                  <a:srgbClr val="FFFFFF"/>
                </a:solidFill>
                <a:latin typeface="Poppins Medium" pitchFamily="34" charset="0"/>
                <a:ea typeface="Poppins Medium" pitchFamily="34" charset="-122"/>
                <a:cs typeface="Poppins Medium" pitchFamily="34" charset="-120"/>
              </a:rPr>
              <a:t>Critical</a:t>
            </a:r>
            <a:endParaRPr lang="en-US" sz="1200" dirty="0"/>
          </a:p>
        </p:txBody>
      </p:sp>
      <p:sp>
        <p:nvSpPr>
          <p:cNvPr id="33" name="Text 31"/>
          <p:cNvSpPr txBox="1"/>
          <p:nvPr/>
        </p:nvSpPr>
        <p:spPr>
          <a:xfrm>
            <a:off x="274320" y="5349240"/>
            <a:ext cx="548640" cy="256032"/>
          </a:xfrm>
          <a:prstGeom prst="rect">
            <a:avLst/>
          </a:prstGeom>
          <a:noFill/>
          <a:ln/>
        </p:spPr>
        <p:txBody>
          <a:bodyPr wrap="square" lIns="0" tIns="0" rIns="0" bIns="0" rtlCol="0" anchor="ctr"/>
          <a:lstStyle/>
          <a:p>
            <a:pPr marL="0" indent="0" algn="ctr">
              <a:buNone/>
            </a:pPr>
            <a:r>
              <a:rPr lang="en-US" sz="1000" dirty="0">
                <a:solidFill>
                  <a:srgbClr val="5E6B67"/>
                </a:solidFill>
                <a:latin typeface="Poppins" pitchFamily="34" charset="0"/>
                <a:ea typeface="Poppins" pitchFamily="34" charset="-122"/>
                <a:cs typeface="Poppins" pitchFamily="34" charset="-120"/>
              </a:rPr>
              <a:t>0</a:t>
            </a:r>
            <a:endParaRPr lang="en-US" sz="1000" dirty="0"/>
          </a:p>
        </p:txBody>
      </p:sp>
      <p:sp>
        <p:nvSpPr>
          <p:cNvPr id="34" name="Text 32"/>
          <p:cNvSpPr txBox="1"/>
          <p:nvPr/>
        </p:nvSpPr>
        <p:spPr>
          <a:xfrm>
            <a:off x="2084832" y="5349240"/>
            <a:ext cx="548640" cy="256032"/>
          </a:xfrm>
          <a:prstGeom prst="rect">
            <a:avLst/>
          </a:prstGeom>
          <a:noFill/>
          <a:ln/>
        </p:spPr>
        <p:txBody>
          <a:bodyPr wrap="square" lIns="0" tIns="0" rIns="0" bIns="0" rtlCol="0" anchor="ctr"/>
          <a:lstStyle/>
          <a:p>
            <a:pPr marL="0" indent="0" algn="ctr">
              <a:buNone/>
            </a:pPr>
            <a:r>
              <a:rPr lang="en-US" sz="1000" dirty="0">
                <a:solidFill>
                  <a:srgbClr val="5E6B67"/>
                </a:solidFill>
                <a:latin typeface="Poppins" pitchFamily="34" charset="0"/>
                <a:ea typeface="Poppins" pitchFamily="34" charset="-122"/>
                <a:cs typeface="Poppins" pitchFamily="34" charset="-120"/>
              </a:rPr>
              <a:t>3.0</a:t>
            </a:r>
            <a:endParaRPr lang="en-US" sz="1000" dirty="0"/>
          </a:p>
        </p:txBody>
      </p:sp>
      <p:sp>
        <p:nvSpPr>
          <p:cNvPr id="35" name="Text 33"/>
          <p:cNvSpPr txBox="1"/>
          <p:nvPr/>
        </p:nvSpPr>
        <p:spPr>
          <a:xfrm>
            <a:off x="3593592" y="5349240"/>
            <a:ext cx="548640" cy="256032"/>
          </a:xfrm>
          <a:prstGeom prst="rect">
            <a:avLst/>
          </a:prstGeom>
          <a:noFill/>
          <a:ln/>
        </p:spPr>
        <p:txBody>
          <a:bodyPr wrap="square" lIns="0" tIns="0" rIns="0" bIns="0" rtlCol="0" anchor="ctr"/>
          <a:lstStyle/>
          <a:p>
            <a:pPr marL="0" indent="0" algn="ctr">
              <a:buNone/>
            </a:pPr>
            <a:r>
              <a:rPr lang="en-US" sz="1000" dirty="0">
                <a:solidFill>
                  <a:srgbClr val="5E6B67"/>
                </a:solidFill>
                <a:latin typeface="Poppins" pitchFamily="34" charset="0"/>
                <a:ea typeface="Poppins" pitchFamily="34" charset="-122"/>
                <a:cs typeface="Poppins" pitchFamily="34" charset="-120"/>
              </a:rPr>
              <a:t>5.5</a:t>
            </a:r>
            <a:endParaRPr lang="en-US" sz="1000" dirty="0"/>
          </a:p>
        </p:txBody>
      </p:sp>
      <p:sp>
        <p:nvSpPr>
          <p:cNvPr id="36" name="Text 34"/>
          <p:cNvSpPr txBox="1"/>
          <p:nvPr/>
        </p:nvSpPr>
        <p:spPr>
          <a:xfrm>
            <a:off x="4800600" y="5349240"/>
            <a:ext cx="548640" cy="256032"/>
          </a:xfrm>
          <a:prstGeom prst="rect">
            <a:avLst/>
          </a:prstGeom>
          <a:noFill/>
          <a:ln/>
        </p:spPr>
        <p:txBody>
          <a:bodyPr wrap="square" lIns="0" tIns="0" rIns="0" bIns="0" rtlCol="0" anchor="ctr"/>
          <a:lstStyle/>
          <a:p>
            <a:pPr marL="0" indent="0" algn="ctr">
              <a:buNone/>
            </a:pPr>
            <a:r>
              <a:rPr lang="en-US" sz="1000" dirty="0">
                <a:solidFill>
                  <a:srgbClr val="5E6B67"/>
                </a:solidFill>
                <a:latin typeface="Poppins" pitchFamily="34" charset="0"/>
                <a:ea typeface="Poppins" pitchFamily="34" charset="-122"/>
                <a:cs typeface="Poppins" pitchFamily="34" charset="-120"/>
              </a:rPr>
              <a:t>7.5</a:t>
            </a:r>
            <a:endParaRPr lang="en-US" sz="1000" dirty="0"/>
          </a:p>
        </p:txBody>
      </p:sp>
      <p:sp>
        <p:nvSpPr>
          <p:cNvPr id="37" name="Text 35"/>
          <p:cNvSpPr txBox="1"/>
          <p:nvPr/>
        </p:nvSpPr>
        <p:spPr>
          <a:xfrm>
            <a:off x="6309360" y="5349240"/>
            <a:ext cx="548640" cy="256032"/>
          </a:xfrm>
          <a:prstGeom prst="rect">
            <a:avLst/>
          </a:prstGeom>
          <a:noFill/>
          <a:ln/>
        </p:spPr>
        <p:txBody>
          <a:bodyPr wrap="square" lIns="0" tIns="0" rIns="0" bIns="0" rtlCol="0" anchor="ctr"/>
          <a:lstStyle/>
          <a:p>
            <a:pPr marL="0" indent="0" algn="ctr">
              <a:buNone/>
            </a:pPr>
            <a:r>
              <a:rPr lang="en-US" sz="1000" dirty="0">
                <a:solidFill>
                  <a:srgbClr val="5E6B67"/>
                </a:solidFill>
                <a:latin typeface="Poppins" pitchFamily="34" charset="0"/>
                <a:ea typeface="Poppins" pitchFamily="34" charset="-122"/>
                <a:cs typeface="Poppins" pitchFamily="34" charset="-120"/>
              </a:rPr>
              <a:t>10</a:t>
            </a:r>
            <a:endParaRPr lang="en-US" sz="1000" dirty="0"/>
          </a:p>
        </p:txBody>
      </p:sp>
      <p:sp>
        <p:nvSpPr>
          <p:cNvPr id="38" name="Text 36"/>
          <p:cNvSpPr txBox="1"/>
          <p:nvPr/>
        </p:nvSpPr>
        <p:spPr>
          <a:xfrm>
            <a:off x="548640" y="5669280"/>
            <a:ext cx="6035040" cy="502920"/>
          </a:xfrm>
          <a:prstGeom prst="rect">
            <a:avLst/>
          </a:prstGeom>
          <a:noFill/>
          <a:ln/>
        </p:spPr>
        <p:txBody>
          <a:bodyPr wrap="square" lIns="0" tIns="0" rIns="0" bIns="0" rtlCol="0" anchor="t"/>
          <a:lstStyle/>
          <a:p>
            <a:pPr marL="0" indent="0">
              <a:buNone/>
            </a:pPr>
            <a:r>
              <a:rPr lang="en-US" sz="1200" i="1" dirty="0">
                <a:solidFill>
                  <a:srgbClr val="4C5A56"/>
                </a:solidFill>
                <a:latin typeface="Poppins" pitchFamily="34" charset="0"/>
                <a:ea typeface="Poppins" pitchFamily="34" charset="-122"/>
                <a:cs typeface="Poppins" pitchFamily="34" charset="-120"/>
              </a:rPr>
              <a:t>Every score is stored with its reasons, in plain words: "6 complaints reported", "2 new complaints in the last 24 hours", "Open for 12 days".</a:t>
            </a:r>
            <a:endParaRPr lang="en-US" sz="1200" dirty="0"/>
          </a:p>
        </p:txBody>
      </p:sp>
      <p:sp>
        <p:nvSpPr>
          <p:cNvPr id="39" name="frame incident-panel"/>
          <p:cNvSpPr/>
          <p:nvPr/>
        </p:nvSpPr>
        <p:spPr>
          <a:xfrm>
            <a:off x="8714232" y="1691640"/>
            <a:ext cx="2926080" cy="4480560"/>
          </a:xfrm>
          <a:prstGeom prst="roundRect">
            <a:avLst>
              <a:gd name="adj" fmla="val 2500"/>
            </a:avLst>
          </a:prstGeom>
          <a:solidFill>
            <a:srgbClr val="FFFFFF"/>
          </a:solidFill>
          <a:ln w="12700">
            <a:solidFill>
              <a:srgbClr val="C9D1CA"/>
            </a:solidFill>
            <a:prstDash val="solid"/>
          </a:ln>
          <a:effectLst>
            <a:outerShdw blurRad="177800" dist="38100" dir="5400000" algn="bl" rotWithShape="0">
              <a:srgbClr val="14211F">
                <a:alpha val="12000"/>
              </a:srgbClr>
            </a:outerShdw>
          </a:effectLst>
        </p:spPr>
      </p:sp>
      <p:sp>
        <p:nvSpPr>
          <p:cNvPr id="40" name="frame bar"/>
          <p:cNvSpPr/>
          <p:nvPr/>
        </p:nvSpPr>
        <p:spPr>
          <a:xfrm>
            <a:off x="8723376" y="1700784"/>
            <a:ext cx="2907792" cy="274320"/>
          </a:xfrm>
          <a:prstGeom prst="roundRect">
            <a:avLst>
              <a:gd name="adj" fmla="val 23333"/>
            </a:avLst>
          </a:prstGeom>
          <a:solidFill>
            <a:srgbClr val="F3F6F4"/>
          </a:solidFill>
          <a:ln w="12700">
            <a:solidFill>
              <a:srgbClr val="F3F6F4"/>
            </a:solidFill>
            <a:prstDash val="solid"/>
          </a:ln>
        </p:spPr>
      </p:sp>
      <p:sp>
        <p:nvSpPr>
          <p:cNvPr id="41" name="Shape 39"/>
          <p:cNvSpPr/>
          <p:nvPr/>
        </p:nvSpPr>
        <p:spPr>
          <a:xfrm>
            <a:off x="8860536" y="1787652"/>
            <a:ext cx="82296" cy="82296"/>
          </a:xfrm>
          <a:prstGeom prst="ellipse">
            <a:avLst/>
          </a:prstGeom>
          <a:solidFill>
            <a:srgbClr val="C9D1CA"/>
          </a:solidFill>
          <a:ln w="12700">
            <a:solidFill>
              <a:srgbClr val="C9D1CA"/>
            </a:solidFill>
            <a:prstDash val="solid"/>
          </a:ln>
        </p:spPr>
      </p:sp>
      <p:sp>
        <p:nvSpPr>
          <p:cNvPr id="42" name="Shape 40"/>
          <p:cNvSpPr/>
          <p:nvPr/>
        </p:nvSpPr>
        <p:spPr>
          <a:xfrm>
            <a:off x="9006840" y="1787652"/>
            <a:ext cx="82296" cy="82296"/>
          </a:xfrm>
          <a:prstGeom prst="ellipse">
            <a:avLst/>
          </a:prstGeom>
          <a:solidFill>
            <a:srgbClr val="C9D1CA"/>
          </a:solidFill>
          <a:ln w="12700">
            <a:solidFill>
              <a:srgbClr val="C9D1CA"/>
            </a:solidFill>
            <a:prstDash val="solid"/>
          </a:ln>
        </p:spPr>
      </p:sp>
      <p:sp>
        <p:nvSpPr>
          <p:cNvPr id="43" name="Shape 41"/>
          <p:cNvSpPr/>
          <p:nvPr/>
        </p:nvSpPr>
        <p:spPr>
          <a:xfrm>
            <a:off x="9153144" y="1787652"/>
            <a:ext cx="82296" cy="82296"/>
          </a:xfrm>
          <a:prstGeom prst="ellipse">
            <a:avLst/>
          </a:prstGeom>
          <a:solidFill>
            <a:srgbClr val="C9D1CA"/>
          </a:solidFill>
          <a:ln w="12700">
            <a:solidFill>
              <a:srgbClr val="C9D1CA"/>
            </a:solidFill>
            <a:prstDash val="solid"/>
          </a:ln>
        </p:spPr>
      </p:sp>
      <p:pic>
        <p:nvPicPr>
          <p:cNvPr id="44" name="screenshot incident-panel" descr="CivicPulse screenshot: incident-panel"/>
          <p:cNvPicPr>
            <a:picLocks noChangeAspect="1"/>
          </p:cNvPicPr>
          <p:nvPr/>
        </p:nvPicPr>
        <p:blipFill>
          <a:blip r:embed="rId3"/>
          <a:stretch>
            <a:fillRect/>
          </a:stretch>
        </p:blipFill>
        <p:spPr>
          <a:xfrm>
            <a:off x="8732520" y="1975104"/>
            <a:ext cx="2889504" cy="4178808"/>
          </a:xfrm>
          <a:prstGeom prst="rect">
            <a:avLst/>
          </a:prstGeom>
        </p:spPr>
      </p:pic>
      <p:sp>
        <p:nvSpPr>
          <p:cNvPr id="4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B67"/>
                </a:solidFill>
                <a:latin typeface="Poppins Medium"/>
                <a:ea typeface="Poppins Medium"/>
                <a:cs typeface="Poppins Medium"/>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457200"/>
            <a:ext cx="11094415" cy="292608"/>
          </a:xfrm>
          <a:prstGeom prst="rect">
            <a:avLst/>
          </a:prstGeom>
          <a:noFill/>
          <a:ln/>
        </p:spPr>
        <p:txBody>
          <a:bodyPr wrap="square" lIns="0" tIns="0" rIns="0" bIns="0" rtlCol="0" anchor="t"/>
          <a:lstStyle/>
          <a:p>
            <a:pPr marL="0" indent="0">
              <a:buNone/>
            </a:pPr>
            <a:r>
              <a:rPr lang="en-US" sz="1100" kern="0" spc="200" dirty="0">
                <a:solidFill>
                  <a:srgbClr val="17494D"/>
                </a:solidFill>
                <a:latin typeface="Poppins SemiBold" pitchFamily="34" charset="0"/>
                <a:ea typeface="Poppins SemiBold" pitchFamily="34" charset="-122"/>
                <a:cs typeface="Poppins SemiBold" pitchFamily="34" charset="-120"/>
              </a:rPr>
              <a:t>06  THE OFFICER CONSOLE</a:t>
            </a:r>
            <a:endParaRPr lang="en-US" sz="1100" dirty="0"/>
          </a:p>
        </p:txBody>
      </p:sp>
      <p:sp>
        <p:nvSpPr>
          <p:cNvPr id="3" name="Text 1"/>
          <p:cNvSpPr>
            <a:spLocks noGrp="1"/>
          </p:cNvSpPr>
          <p:nvPr>
            <p:ph type="title" idx="102" hasCustomPrompt="1"/>
          </p:nvPr>
        </p:nvSpPr>
        <p:spPr>
          <a:xfrm>
            <a:off x="548640" y="749808"/>
            <a:ext cx="11094415" cy="777240"/>
          </a:xfrm>
          <a:prstGeom prst="rect">
            <a:avLst/>
          </a:prstGeom>
          <a:noFill/>
          <a:ln/>
        </p:spPr>
        <p:txBody>
          <a:bodyPr wrap="square" lIns="0" tIns="0" rIns="0" bIns="0" rtlCol="0" anchor="t"/>
          <a:lstStyle/>
          <a:p>
            <a:pPr marL="0" indent="0" algn="l">
              <a:buNone/>
            </a:pPr>
            <a:r>
              <a:rPr lang="en-US" sz="3400" b="1" dirty="0">
                <a:solidFill>
                  <a:srgbClr val="14211F"/>
                </a:solidFill>
                <a:latin typeface="Playfair Display" pitchFamily="34" charset="0"/>
                <a:ea typeface="Playfair Display" pitchFamily="34" charset="-122"/>
                <a:cs typeface="Playfair Display" pitchFamily="34" charset="-120"/>
              </a:rPr>
              <a:t>Everything an officer needs on one screen</a:t>
            </a:r>
            <a:endParaRPr lang="en-US" sz="3400" dirty="0"/>
          </a:p>
        </p:txBody>
      </p:sp>
      <p:sp>
        <p:nvSpPr>
          <p:cNvPr id="4" name="frame dashboard"/>
          <p:cNvSpPr/>
          <p:nvPr/>
        </p:nvSpPr>
        <p:spPr>
          <a:xfrm>
            <a:off x="548640" y="1737360"/>
            <a:ext cx="5486400" cy="3794760"/>
          </a:xfrm>
          <a:prstGeom prst="roundRect">
            <a:avLst>
              <a:gd name="adj" fmla="val 1928"/>
            </a:avLst>
          </a:prstGeom>
          <a:solidFill>
            <a:srgbClr val="FFFFFF"/>
          </a:solidFill>
          <a:ln w="12700">
            <a:solidFill>
              <a:srgbClr val="C9D1CA"/>
            </a:solidFill>
            <a:prstDash val="solid"/>
          </a:ln>
          <a:effectLst>
            <a:outerShdw blurRad="177800" dist="38100" dir="5400000" algn="bl" rotWithShape="0">
              <a:srgbClr val="14211F">
                <a:alpha val="12000"/>
              </a:srgbClr>
            </a:outerShdw>
          </a:effectLst>
        </p:spPr>
      </p:sp>
      <p:sp>
        <p:nvSpPr>
          <p:cNvPr id="5" name="frame bar"/>
          <p:cNvSpPr/>
          <p:nvPr/>
        </p:nvSpPr>
        <p:spPr>
          <a:xfrm>
            <a:off x="557784" y="1746504"/>
            <a:ext cx="5468112" cy="274320"/>
          </a:xfrm>
          <a:prstGeom prst="roundRect">
            <a:avLst>
              <a:gd name="adj" fmla="val 23333"/>
            </a:avLst>
          </a:prstGeom>
          <a:solidFill>
            <a:srgbClr val="F3F6F4"/>
          </a:solidFill>
          <a:ln w="12700">
            <a:solidFill>
              <a:srgbClr val="F3F6F4"/>
            </a:solidFill>
            <a:prstDash val="solid"/>
          </a:ln>
        </p:spPr>
      </p:sp>
      <p:sp>
        <p:nvSpPr>
          <p:cNvPr id="6" name="Shape 4"/>
          <p:cNvSpPr/>
          <p:nvPr/>
        </p:nvSpPr>
        <p:spPr>
          <a:xfrm>
            <a:off x="694944" y="1833372"/>
            <a:ext cx="82296" cy="82296"/>
          </a:xfrm>
          <a:prstGeom prst="ellipse">
            <a:avLst/>
          </a:prstGeom>
          <a:solidFill>
            <a:srgbClr val="C9D1CA"/>
          </a:solidFill>
          <a:ln w="12700">
            <a:solidFill>
              <a:srgbClr val="C9D1CA"/>
            </a:solidFill>
            <a:prstDash val="solid"/>
          </a:ln>
        </p:spPr>
      </p:sp>
      <p:sp>
        <p:nvSpPr>
          <p:cNvPr id="7" name="Shape 5"/>
          <p:cNvSpPr/>
          <p:nvPr/>
        </p:nvSpPr>
        <p:spPr>
          <a:xfrm>
            <a:off x="841248" y="1833372"/>
            <a:ext cx="82296" cy="82296"/>
          </a:xfrm>
          <a:prstGeom prst="ellipse">
            <a:avLst/>
          </a:prstGeom>
          <a:solidFill>
            <a:srgbClr val="C9D1CA"/>
          </a:solidFill>
          <a:ln w="12700">
            <a:solidFill>
              <a:srgbClr val="C9D1CA"/>
            </a:solidFill>
            <a:prstDash val="solid"/>
          </a:ln>
        </p:spPr>
      </p:sp>
      <p:sp>
        <p:nvSpPr>
          <p:cNvPr id="8" name="Shape 6"/>
          <p:cNvSpPr/>
          <p:nvPr/>
        </p:nvSpPr>
        <p:spPr>
          <a:xfrm>
            <a:off x="987552" y="1833372"/>
            <a:ext cx="82296" cy="82296"/>
          </a:xfrm>
          <a:prstGeom prst="ellipse">
            <a:avLst/>
          </a:prstGeom>
          <a:solidFill>
            <a:srgbClr val="C9D1CA"/>
          </a:solidFill>
          <a:ln w="12700">
            <a:solidFill>
              <a:srgbClr val="C9D1CA"/>
            </a:solidFill>
            <a:prstDash val="solid"/>
          </a:ln>
        </p:spPr>
      </p:sp>
      <p:pic>
        <p:nvPicPr>
          <p:cNvPr id="9" name="screenshot dashboard" descr="CivicPulse screenshot: dashboard"/>
          <p:cNvPicPr>
            <a:picLocks noChangeAspect="1"/>
          </p:cNvPicPr>
          <p:nvPr/>
        </p:nvPicPr>
        <p:blipFill>
          <a:blip r:embed="rId3"/>
          <a:stretch>
            <a:fillRect/>
          </a:stretch>
        </p:blipFill>
        <p:spPr>
          <a:xfrm>
            <a:off x="566928" y="2020824"/>
            <a:ext cx="5449824" cy="3493008"/>
          </a:xfrm>
          <a:prstGeom prst="rect">
            <a:avLst/>
          </a:prstGeom>
        </p:spPr>
      </p:pic>
      <p:sp>
        <p:nvSpPr>
          <p:cNvPr id="10" name="frame wards-full"/>
          <p:cNvSpPr/>
          <p:nvPr/>
        </p:nvSpPr>
        <p:spPr>
          <a:xfrm>
            <a:off x="6153912" y="1737360"/>
            <a:ext cx="5486400" cy="3794760"/>
          </a:xfrm>
          <a:prstGeom prst="roundRect">
            <a:avLst>
              <a:gd name="adj" fmla="val 1928"/>
            </a:avLst>
          </a:prstGeom>
          <a:solidFill>
            <a:srgbClr val="FFFFFF"/>
          </a:solidFill>
          <a:ln w="12700">
            <a:solidFill>
              <a:srgbClr val="C9D1CA"/>
            </a:solidFill>
            <a:prstDash val="solid"/>
          </a:ln>
          <a:effectLst>
            <a:outerShdw blurRad="177800" dist="38100" dir="5400000" algn="bl" rotWithShape="0">
              <a:srgbClr val="14211F">
                <a:alpha val="12000"/>
              </a:srgbClr>
            </a:outerShdw>
          </a:effectLst>
        </p:spPr>
      </p:sp>
      <p:sp>
        <p:nvSpPr>
          <p:cNvPr id="11" name="frame bar"/>
          <p:cNvSpPr/>
          <p:nvPr/>
        </p:nvSpPr>
        <p:spPr>
          <a:xfrm>
            <a:off x="6163056" y="1746504"/>
            <a:ext cx="5468112" cy="274320"/>
          </a:xfrm>
          <a:prstGeom prst="roundRect">
            <a:avLst>
              <a:gd name="adj" fmla="val 23333"/>
            </a:avLst>
          </a:prstGeom>
          <a:solidFill>
            <a:srgbClr val="F3F6F4"/>
          </a:solidFill>
          <a:ln w="12700">
            <a:solidFill>
              <a:srgbClr val="F3F6F4"/>
            </a:solidFill>
            <a:prstDash val="solid"/>
          </a:ln>
        </p:spPr>
      </p:sp>
      <p:sp>
        <p:nvSpPr>
          <p:cNvPr id="12" name="Shape 9"/>
          <p:cNvSpPr/>
          <p:nvPr/>
        </p:nvSpPr>
        <p:spPr>
          <a:xfrm>
            <a:off x="6300216" y="1833372"/>
            <a:ext cx="82296" cy="82296"/>
          </a:xfrm>
          <a:prstGeom prst="ellipse">
            <a:avLst/>
          </a:prstGeom>
          <a:solidFill>
            <a:srgbClr val="C9D1CA"/>
          </a:solidFill>
          <a:ln w="12700">
            <a:solidFill>
              <a:srgbClr val="C9D1CA"/>
            </a:solidFill>
            <a:prstDash val="solid"/>
          </a:ln>
        </p:spPr>
      </p:sp>
      <p:sp>
        <p:nvSpPr>
          <p:cNvPr id="13" name="Shape 10"/>
          <p:cNvSpPr/>
          <p:nvPr/>
        </p:nvSpPr>
        <p:spPr>
          <a:xfrm>
            <a:off x="6446520" y="1833372"/>
            <a:ext cx="82296" cy="82296"/>
          </a:xfrm>
          <a:prstGeom prst="ellipse">
            <a:avLst/>
          </a:prstGeom>
          <a:solidFill>
            <a:srgbClr val="C9D1CA"/>
          </a:solidFill>
          <a:ln w="12700">
            <a:solidFill>
              <a:srgbClr val="C9D1CA"/>
            </a:solidFill>
            <a:prstDash val="solid"/>
          </a:ln>
        </p:spPr>
      </p:sp>
      <p:sp>
        <p:nvSpPr>
          <p:cNvPr id="14" name="Shape 11"/>
          <p:cNvSpPr/>
          <p:nvPr/>
        </p:nvSpPr>
        <p:spPr>
          <a:xfrm>
            <a:off x="6592824" y="1833372"/>
            <a:ext cx="82296" cy="82296"/>
          </a:xfrm>
          <a:prstGeom prst="ellipse">
            <a:avLst/>
          </a:prstGeom>
          <a:solidFill>
            <a:srgbClr val="C9D1CA"/>
          </a:solidFill>
          <a:ln w="12700">
            <a:solidFill>
              <a:srgbClr val="C9D1CA"/>
            </a:solidFill>
            <a:prstDash val="solid"/>
          </a:ln>
        </p:spPr>
      </p:sp>
      <p:pic>
        <p:nvPicPr>
          <p:cNvPr id="15" name="screenshot wards-full" descr="CivicPulse screenshot: wards-full"/>
          <p:cNvPicPr>
            <a:picLocks noChangeAspect="1"/>
          </p:cNvPicPr>
          <p:nvPr/>
        </p:nvPicPr>
        <p:blipFill>
          <a:blip r:embed="rId4"/>
          <a:stretch>
            <a:fillRect/>
          </a:stretch>
        </p:blipFill>
        <p:spPr>
          <a:xfrm>
            <a:off x="6172200" y="2020824"/>
            <a:ext cx="5449824" cy="3493008"/>
          </a:xfrm>
          <a:prstGeom prst="rect">
            <a:avLst/>
          </a:prstGeom>
        </p:spPr>
      </p:pic>
      <p:sp>
        <p:nvSpPr>
          <p:cNvPr id="16" name="Text 12"/>
          <p:cNvSpPr txBox="1"/>
          <p:nvPr/>
        </p:nvSpPr>
        <p:spPr>
          <a:xfrm>
            <a:off x="548640" y="5650992"/>
            <a:ext cx="5486400" cy="621792"/>
          </a:xfrm>
          <a:prstGeom prst="rect">
            <a:avLst/>
          </a:prstGeom>
          <a:noFill/>
          <a:ln/>
        </p:spPr>
        <p:txBody>
          <a:bodyPr wrap="square" lIns="0" tIns="0" rIns="0" bIns="0" rtlCol="0" anchor="t"/>
          <a:lstStyle/>
          <a:p>
            <a:pPr marL="0" indent="0">
              <a:buNone/>
            </a:pPr>
            <a:r>
              <a:rPr lang="en-US" sz="1200" dirty="0">
                <a:solidFill>
                  <a:srgbClr val="14211F"/>
                </a:solidFill>
                <a:latin typeface="Poppins SemiBold" pitchFamily="34" charset="0"/>
                <a:ea typeface="Poppins SemiBold" pitchFamily="34" charset="-122"/>
                <a:cs typeface="Poppins SemiBold" pitchFamily="34" charset="-120"/>
              </a:rPr>
              <a:t>Incident queue</a:t>
            </a:r>
            <a:endParaRPr lang="en-US" sz="1200" dirty="0"/>
          </a:p>
          <a:p>
            <a:pPr marL="0" indent="0">
              <a:buNone/>
            </a:pPr>
            <a:r>
              <a:rPr lang="en-US" sz="1200" dirty="0">
                <a:solidFill>
                  <a:srgbClr val="4C5A56"/>
                </a:solidFill>
                <a:latin typeface="Poppins" pitchFamily="34" charset="0"/>
                <a:ea typeface="Poppins" pitchFamily="34" charset="-122"/>
                <a:cs typeface="Poppins" pitchFamily="34" charset="-120"/>
              </a:rPr>
              <a:t>249 reports in 45 incidents, ranked, with a "needs attention" strip: hazards, high priority, worsening, hotspots, spikes.</a:t>
            </a:r>
            <a:endParaRPr lang="en-US" sz="1200" dirty="0"/>
          </a:p>
        </p:txBody>
      </p:sp>
      <p:sp>
        <p:nvSpPr>
          <p:cNvPr id="17" name="Text 13"/>
          <p:cNvSpPr txBox="1"/>
          <p:nvPr/>
        </p:nvSpPr>
        <p:spPr>
          <a:xfrm>
            <a:off x="6153912" y="5650992"/>
            <a:ext cx="5486400" cy="621792"/>
          </a:xfrm>
          <a:prstGeom prst="rect">
            <a:avLst/>
          </a:prstGeom>
          <a:noFill/>
          <a:ln/>
        </p:spPr>
        <p:txBody>
          <a:bodyPr wrap="square" lIns="0" tIns="0" rIns="0" bIns="0" rtlCol="0" anchor="t"/>
          <a:lstStyle/>
          <a:p>
            <a:pPr marL="0" indent="0">
              <a:buNone/>
            </a:pPr>
            <a:r>
              <a:rPr lang="en-US" sz="1200" dirty="0">
                <a:solidFill>
                  <a:srgbClr val="14211F"/>
                </a:solidFill>
                <a:latin typeface="Poppins SemiBold" pitchFamily="34" charset="0"/>
                <a:ea typeface="Poppins SemiBold" pitchFamily="34" charset="-122"/>
                <a:cs typeface="Poppins SemiBold" pitchFamily="34" charset="-120"/>
              </a:rPr>
              <a:t>Wards and hotspots</a:t>
            </a:r>
            <a:endParaRPr lang="en-US" sz="1200" dirty="0"/>
          </a:p>
          <a:p>
            <a:pPr marL="0" indent="0">
              <a:buNone/>
            </a:pPr>
            <a:r>
              <a:rPr lang="en-US" sz="1200" dirty="0">
                <a:solidFill>
                  <a:srgbClr val="4C5A56"/>
                </a:solidFill>
                <a:latin typeface="Poppins" pitchFamily="34" charset="0"/>
                <a:ea typeface="Poppins" pitchFamily="34" charset="-122"/>
                <a:cs typeface="Poppins" pitchFamily="34" charset="-120"/>
              </a:rPr>
              <a:t>All 243 BBMP wards as a map and table. A hotspot is 3+ incidents of one kind within 500 m.</a:t>
            </a:r>
            <a:endParaRPr lang="en-US" sz="12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B67"/>
                </a:solidFill>
                <a:latin typeface="Poppins Medium"/>
                <a:ea typeface="Poppins Medium"/>
                <a:cs typeface="Poppins Medium"/>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457200"/>
            <a:ext cx="11094415" cy="292608"/>
          </a:xfrm>
          <a:prstGeom prst="rect">
            <a:avLst/>
          </a:prstGeom>
          <a:noFill/>
          <a:ln/>
        </p:spPr>
        <p:txBody>
          <a:bodyPr wrap="square" lIns="0" tIns="0" rIns="0" bIns="0" rtlCol="0" anchor="t"/>
          <a:lstStyle/>
          <a:p>
            <a:pPr marL="0" indent="0">
              <a:buNone/>
            </a:pPr>
            <a:r>
              <a:rPr lang="en-US" sz="1100" kern="0" spc="200" dirty="0">
                <a:solidFill>
                  <a:srgbClr val="17494D"/>
                </a:solidFill>
                <a:latin typeface="Poppins SemiBold" pitchFamily="34" charset="0"/>
                <a:ea typeface="Poppins SemiBold" pitchFamily="34" charset="-122"/>
                <a:cs typeface="Poppins SemiBold" pitchFamily="34" charset="-120"/>
              </a:rPr>
              <a:t>07  ACTING ON AN INCIDENT</a:t>
            </a:r>
            <a:endParaRPr lang="en-US" sz="1100" dirty="0"/>
          </a:p>
        </p:txBody>
      </p:sp>
      <p:sp>
        <p:nvSpPr>
          <p:cNvPr id="3" name="Text 1"/>
          <p:cNvSpPr>
            <a:spLocks noGrp="1"/>
          </p:cNvSpPr>
          <p:nvPr>
            <p:ph type="title" idx="102" hasCustomPrompt="1"/>
          </p:nvPr>
        </p:nvSpPr>
        <p:spPr>
          <a:xfrm>
            <a:off x="548640" y="749808"/>
            <a:ext cx="11094415" cy="777240"/>
          </a:xfrm>
          <a:prstGeom prst="rect">
            <a:avLst/>
          </a:prstGeom>
          <a:noFill/>
          <a:ln/>
        </p:spPr>
        <p:txBody>
          <a:bodyPr wrap="square" lIns="0" tIns="0" rIns="0" bIns="0" rtlCol="0" anchor="t"/>
          <a:lstStyle/>
          <a:p>
            <a:pPr marL="0" indent="0" algn="l">
              <a:buNone/>
            </a:pPr>
            <a:r>
              <a:rPr lang="en-US" sz="3400" b="1" dirty="0">
                <a:solidFill>
                  <a:srgbClr val="14211F"/>
                </a:solidFill>
                <a:latin typeface="Playfair Display" pitchFamily="34" charset="0"/>
                <a:ea typeface="Playfair Display" pitchFamily="34" charset="-122"/>
                <a:cs typeface="Playfair Display" pitchFamily="34" charset="-120"/>
              </a:rPr>
              <a:t>The system suggests; the officer decides</a:t>
            </a:r>
            <a:endParaRPr lang="en-US" sz="3400" dirty="0"/>
          </a:p>
        </p:txBody>
      </p:sp>
      <p:sp>
        <p:nvSpPr>
          <p:cNvPr id="4" name="icon-bg LuTriangleAlert"/>
          <p:cNvSpPr/>
          <p:nvPr/>
        </p:nvSpPr>
        <p:spPr>
          <a:xfrm>
            <a:off x="548640" y="1783080"/>
            <a:ext cx="548640" cy="548640"/>
          </a:xfrm>
          <a:prstGeom prst="ellipse">
            <a:avLst/>
          </a:prstGeom>
          <a:solidFill>
            <a:srgbClr val="DCE8E8"/>
          </a:solidFill>
          <a:ln w="12700">
            <a:solidFill>
              <a:srgbClr val="DCE8E8"/>
            </a:solidFill>
            <a:prstDash val="solid"/>
          </a:ln>
        </p:spPr>
      </p:sp>
      <p:pic>
        <p:nvPicPr>
          <p:cNvPr id="5" name="icon LuTriangleAlert" descr="preencoded.png"/>
          <p:cNvPicPr>
            <a:picLocks noChangeAspect="1"/>
          </p:cNvPicPr>
          <p:nvPr/>
        </p:nvPicPr>
        <p:blipFill>
          <a:blip r:embed="rId3"/>
          <a:stretch>
            <a:fillRect/>
          </a:stretch>
        </p:blipFill>
        <p:spPr>
          <a:xfrm>
            <a:off x="685800" y="1920240"/>
            <a:ext cx="274320" cy="274320"/>
          </a:xfrm>
          <a:prstGeom prst="rect">
            <a:avLst/>
          </a:prstGeom>
        </p:spPr>
      </p:pic>
      <p:sp>
        <p:nvSpPr>
          <p:cNvPr id="6" name="Text 3"/>
          <p:cNvSpPr txBox="1"/>
          <p:nvPr/>
        </p:nvSpPr>
        <p:spPr>
          <a:xfrm>
            <a:off x="1325880" y="1755648"/>
            <a:ext cx="6675120" cy="329184"/>
          </a:xfrm>
          <a:prstGeom prst="rect">
            <a:avLst/>
          </a:prstGeom>
          <a:noFill/>
          <a:ln/>
        </p:spPr>
        <p:txBody>
          <a:bodyPr wrap="square" lIns="0" tIns="0" rIns="0" bIns="0" rtlCol="0" anchor="ctr"/>
          <a:lstStyle/>
          <a:p>
            <a:pPr marL="0" indent="0">
              <a:buNone/>
            </a:pPr>
            <a:r>
              <a:rPr lang="en-US" sz="1400" dirty="0">
                <a:solidFill>
                  <a:srgbClr val="14211F"/>
                </a:solidFill>
                <a:latin typeface="Poppins SemiBold" pitchFamily="34" charset="0"/>
                <a:ea typeface="Poppins SemiBold" pitchFamily="34" charset="-122"/>
                <a:cs typeface="Poppins SemiBold" pitchFamily="34" charset="-120"/>
              </a:rPr>
              <a:t>Life-safety flag</a:t>
            </a:r>
            <a:endParaRPr lang="en-US" sz="1400" dirty="0"/>
          </a:p>
        </p:txBody>
      </p:sp>
      <p:sp>
        <p:nvSpPr>
          <p:cNvPr id="7" name="Text 4"/>
          <p:cNvSpPr txBox="1"/>
          <p:nvPr/>
        </p:nvSpPr>
        <p:spPr>
          <a:xfrm>
            <a:off x="1325880" y="2084832"/>
            <a:ext cx="6675120" cy="603504"/>
          </a:xfrm>
          <a:prstGeom prst="rect">
            <a:avLst/>
          </a:prstGeom>
          <a:noFill/>
          <a:ln/>
        </p:spPr>
        <p:txBody>
          <a:bodyPr wrap="square" lIns="0" tIns="0" rIns="0" bIns="0" rtlCol="0" anchor="t"/>
          <a:lstStyle/>
          <a:p>
            <a:pPr marL="0" indent="0">
              <a:buNone/>
            </a:pPr>
            <a:r>
              <a:rPr lang="en-US" sz="1200" dirty="0">
                <a:solidFill>
                  <a:srgbClr val="4C5A56"/>
                </a:solidFill>
                <a:latin typeface="Poppins" pitchFamily="34" charset="0"/>
                <a:ea typeface="Poppins" pitchFamily="34" charset="-122"/>
                <a:cs typeface="Poppins" pitchFamily="34" charset="-120"/>
              </a:rPr>
              <a:t>Read from the reports’ own words, such as “road sunk”. It escalates the incident but never changes the score, and the officer confirms or clears it.</a:t>
            </a:r>
            <a:endParaRPr lang="en-US" sz="1200" dirty="0"/>
          </a:p>
        </p:txBody>
      </p:sp>
      <p:sp>
        <p:nvSpPr>
          <p:cNvPr id="8" name="icon-bg LuGauge"/>
          <p:cNvSpPr/>
          <p:nvPr/>
        </p:nvSpPr>
        <p:spPr>
          <a:xfrm>
            <a:off x="548640" y="2862072"/>
            <a:ext cx="548640" cy="548640"/>
          </a:xfrm>
          <a:prstGeom prst="ellipse">
            <a:avLst/>
          </a:prstGeom>
          <a:solidFill>
            <a:srgbClr val="DCE8E8"/>
          </a:solidFill>
          <a:ln w="12700">
            <a:solidFill>
              <a:srgbClr val="DCE8E8"/>
            </a:solidFill>
            <a:prstDash val="solid"/>
          </a:ln>
        </p:spPr>
      </p:sp>
      <p:pic>
        <p:nvPicPr>
          <p:cNvPr id="9" name="icon LuGauge" descr="preencoded.png"/>
          <p:cNvPicPr>
            <a:picLocks noChangeAspect="1"/>
          </p:cNvPicPr>
          <p:nvPr/>
        </p:nvPicPr>
        <p:blipFill>
          <a:blip r:embed="rId4"/>
          <a:stretch>
            <a:fillRect/>
          </a:stretch>
        </p:blipFill>
        <p:spPr>
          <a:xfrm>
            <a:off x="685800" y="2999232"/>
            <a:ext cx="274320" cy="274320"/>
          </a:xfrm>
          <a:prstGeom prst="rect">
            <a:avLst/>
          </a:prstGeom>
        </p:spPr>
      </p:pic>
      <p:sp>
        <p:nvSpPr>
          <p:cNvPr id="10" name="Text 6"/>
          <p:cNvSpPr txBox="1"/>
          <p:nvPr/>
        </p:nvSpPr>
        <p:spPr>
          <a:xfrm>
            <a:off x="1325880" y="2834640"/>
            <a:ext cx="6675120" cy="329184"/>
          </a:xfrm>
          <a:prstGeom prst="rect">
            <a:avLst/>
          </a:prstGeom>
          <a:noFill/>
          <a:ln/>
        </p:spPr>
        <p:txBody>
          <a:bodyPr wrap="square" lIns="0" tIns="0" rIns="0" bIns="0" rtlCol="0" anchor="ctr"/>
          <a:lstStyle/>
          <a:p>
            <a:pPr marL="0" indent="0">
              <a:buNone/>
            </a:pPr>
            <a:r>
              <a:rPr lang="en-US" sz="1400" dirty="0">
                <a:solidFill>
                  <a:srgbClr val="14211F"/>
                </a:solidFill>
                <a:latin typeface="Poppins SemiBold" pitchFamily="34" charset="0"/>
                <a:ea typeface="Poppins SemiBold" pitchFamily="34" charset="-122"/>
                <a:cs typeface="Poppins SemiBold" pitchFamily="34" charset="-120"/>
              </a:rPr>
              <a:t>Suggested next step</a:t>
            </a:r>
            <a:endParaRPr lang="en-US" sz="1400" dirty="0"/>
          </a:p>
        </p:txBody>
      </p:sp>
      <p:sp>
        <p:nvSpPr>
          <p:cNvPr id="11" name="Text 7"/>
          <p:cNvSpPr txBox="1"/>
          <p:nvPr/>
        </p:nvSpPr>
        <p:spPr>
          <a:xfrm>
            <a:off x="1325880" y="3163824"/>
            <a:ext cx="6675120" cy="603504"/>
          </a:xfrm>
          <a:prstGeom prst="rect">
            <a:avLst/>
          </a:prstGeom>
          <a:noFill/>
          <a:ln/>
        </p:spPr>
        <p:txBody>
          <a:bodyPr wrap="square" lIns="0" tIns="0" rIns="0" bIns="0" rtlCol="0" anchor="t"/>
          <a:lstStyle/>
          <a:p>
            <a:pPr marL="0" indent="0">
              <a:buNone/>
            </a:pPr>
            <a:r>
              <a:rPr lang="en-US" sz="1200" dirty="0">
                <a:solidFill>
                  <a:srgbClr val="4C5A56"/>
                </a:solidFill>
                <a:latin typeface="Poppins" pitchFamily="34" charset="0"/>
                <a:ea typeface="Poppins" pitchFamily="34" charset="-122"/>
                <a:cs typeface="Poppins" pitchFamily="34" charset="-120"/>
              </a:rPr>
              <a:t>Escalate, dispatch, verify, consolidate or monitor, with the rule that fired and the facts it read. The officer agrees or disagrees, and both are logged.</a:t>
            </a:r>
            <a:endParaRPr lang="en-US" sz="1200" dirty="0"/>
          </a:p>
        </p:txBody>
      </p:sp>
      <p:sp>
        <p:nvSpPr>
          <p:cNvPr id="12" name="icon-bg LuRuler"/>
          <p:cNvSpPr/>
          <p:nvPr/>
        </p:nvSpPr>
        <p:spPr>
          <a:xfrm>
            <a:off x="548640" y="3941064"/>
            <a:ext cx="548640" cy="548640"/>
          </a:xfrm>
          <a:prstGeom prst="ellipse">
            <a:avLst/>
          </a:prstGeom>
          <a:solidFill>
            <a:srgbClr val="DCE8E8"/>
          </a:solidFill>
          <a:ln w="12700">
            <a:solidFill>
              <a:srgbClr val="DCE8E8"/>
            </a:solidFill>
            <a:prstDash val="solid"/>
          </a:ln>
        </p:spPr>
      </p:sp>
      <p:pic>
        <p:nvPicPr>
          <p:cNvPr id="13" name="icon LuRuler" descr="preencoded.png"/>
          <p:cNvPicPr>
            <a:picLocks noChangeAspect="1"/>
          </p:cNvPicPr>
          <p:nvPr/>
        </p:nvPicPr>
        <p:blipFill>
          <a:blip r:embed="rId5"/>
          <a:stretch>
            <a:fillRect/>
          </a:stretch>
        </p:blipFill>
        <p:spPr>
          <a:xfrm>
            <a:off x="685800" y="4078224"/>
            <a:ext cx="274320" cy="274320"/>
          </a:xfrm>
          <a:prstGeom prst="rect">
            <a:avLst/>
          </a:prstGeom>
        </p:spPr>
      </p:pic>
      <p:sp>
        <p:nvSpPr>
          <p:cNvPr id="14" name="Text 9"/>
          <p:cNvSpPr txBox="1"/>
          <p:nvPr/>
        </p:nvSpPr>
        <p:spPr>
          <a:xfrm>
            <a:off x="1325880" y="3913632"/>
            <a:ext cx="6675120" cy="329184"/>
          </a:xfrm>
          <a:prstGeom prst="rect">
            <a:avLst/>
          </a:prstGeom>
          <a:noFill/>
          <a:ln/>
        </p:spPr>
        <p:txBody>
          <a:bodyPr wrap="square" lIns="0" tIns="0" rIns="0" bIns="0" rtlCol="0" anchor="ctr"/>
          <a:lstStyle/>
          <a:p>
            <a:pPr marL="0" indent="0">
              <a:buNone/>
            </a:pPr>
            <a:r>
              <a:rPr lang="en-US" sz="1400" dirty="0">
                <a:solidFill>
                  <a:srgbClr val="14211F"/>
                </a:solidFill>
                <a:latin typeface="Poppins SemiBold" pitchFamily="34" charset="0"/>
                <a:ea typeface="Poppins SemiBold" pitchFamily="34" charset="-122"/>
                <a:cs typeface="Poppins SemiBold" pitchFamily="34" charset="-120"/>
              </a:rPr>
              <a:t>Why these reports are grouped</a:t>
            </a:r>
            <a:endParaRPr lang="en-US" sz="1400" dirty="0"/>
          </a:p>
        </p:txBody>
      </p:sp>
      <p:sp>
        <p:nvSpPr>
          <p:cNvPr id="15" name="Text 10"/>
          <p:cNvSpPr txBox="1"/>
          <p:nvPr/>
        </p:nvSpPr>
        <p:spPr>
          <a:xfrm>
            <a:off x="1325880" y="4242816"/>
            <a:ext cx="6675120" cy="603504"/>
          </a:xfrm>
          <a:prstGeom prst="rect">
            <a:avLst/>
          </a:prstGeom>
          <a:noFill/>
          <a:ln/>
        </p:spPr>
        <p:txBody>
          <a:bodyPr wrap="square" lIns="0" tIns="0" rIns="0" bIns="0" rtlCol="0" anchor="t"/>
          <a:lstStyle/>
          <a:p>
            <a:pPr marL="0" indent="0">
              <a:buNone/>
            </a:pPr>
            <a:r>
              <a:rPr lang="en-US" sz="1200" dirty="0">
                <a:solidFill>
                  <a:srgbClr val="4C5A56"/>
                </a:solidFill>
                <a:latin typeface="Poppins" pitchFamily="34" charset="0"/>
                <a:ea typeface="Poppins" pitchFamily="34" charset="-122"/>
                <a:cs typeface="Poppins" pitchFamily="34" charset="-120"/>
              </a:rPr>
              <a:t>Each report says why it joined, in words and metres (“nearly the same wording, 140 m away”), never as a similarity score.</a:t>
            </a:r>
            <a:endParaRPr lang="en-US" sz="1200" dirty="0"/>
          </a:p>
        </p:txBody>
      </p:sp>
      <p:sp>
        <p:nvSpPr>
          <p:cNvPr id="16" name="icon-bg LuGitMerge"/>
          <p:cNvSpPr/>
          <p:nvPr/>
        </p:nvSpPr>
        <p:spPr>
          <a:xfrm>
            <a:off x="548640" y="5020056"/>
            <a:ext cx="548640" cy="548640"/>
          </a:xfrm>
          <a:prstGeom prst="ellipse">
            <a:avLst/>
          </a:prstGeom>
          <a:solidFill>
            <a:srgbClr val="DCE8E8"/>
          </a:solidFill>
          <a:ln w="12700">
            <a:solidFill>
              <a:srgbClr val="DCE8E8"/>
            </a:solidFill>
            <a:prstDash val="solid"/>
          </a:ln>
        </p:spPr>
      </p:sp>
      <p:pic>
        <p:nvPicPr>
          <p:cNvPr id="17" name="icon LuGitMerge" descr="preencoded.png"/>
          <p:cNvPicPr>
            <a:picLocks noChangeAspect="1"/>
          </p:cNvPicPr>
          <p:nvPr/>
        </p:nvPicPr>
        <p:blipFill>
          <a:blip r:embed="rId6"/>
          <a:stretch>
            <a:fillRect/>
          </a:stretch>
        </p:blipFill>
        <p:spPr>
          <a:xfrm>
            <a:off x="685800" y="5157216"/>
            <a:ext cx="274320" cy="274320"/>
          </a:xfrm>
          <a:prstGeom prst="rect">
            <a:avLst/>
          </a:prstGeom>
        </p:spPr>
      </p:pic>
      <p:sp>
        <p:nvSpPr>
          <p:cNvPr id="18" name="Text 12"/>
          <p:cNvSpPr txBox="1"/>
          <p:nvPr/>
        </p:nvSpPr>
        <p:spPr>
          <a:xfrm>
            <a:off x="1325880" y="4992624"/>
            <a:ext cx="6675120" cy="329184"/>
          </a:xfrm>
          <a:prstGeom prst="rect">
            <a:avLst/>
          </a:prstGeom>
          <a:noFill/>
          <a:ln/>
        </p:spPr>
        <p:txBody>
          <a:bodyPr wrap="square" lIns="0" tIns="0" rIns="0" bIns="0" rtlCol="0" anchor="ctr"/>
          <a:lstStyle/>
          <a:p>
            <a:pPr marL="0" indent="0">
              <a:buNone/>
            </a:pPr>
            <a:r>
              <a:rPr lang="en-US" sz="1400" dirty="0">
                <a:solidFill>
                  <a:srgbClr val="14211F"/>
                </a:solidFill>
                <a:latin typeface="Poppins SemiBold" pitchFamily="34" charset="0"/>
                <a:ea typeface="Poppins SemiBold" pitchFamily="34" charset="-122"/>
                <a:cs typeface="Poppins SemiBold" pitchFamily="34" charset="-120"/>
              </a:rPr>
              <a:t>Merge and unlink</a:t>
            </a:r>
            <a:endParaRPr lang="en-US" sz="1400" dirty="0"/>
          </a:p>
        </p:txBody>
      </p:sp>
      <p:sp>
        <p:nvSpPr>
          <p:cNvPr id="19" name="Text 13"/>
          <p:cNvSpPr txBox="1"/>
          <p:nvPr/>
        </p:nvSpPr>
        <p:spPr>
          <a:xfrm>
            <a:off x="1325880" y="5321808"/>
            <a:ext cx="6675120" cy="603504"/>
          </a:xfrm>
          <a:prstGeom prst="rect">
            <a:avLst/>
          </a:prstGeom>
          <a:noFill/>
          <a:ln/>
        </p:spPr>
        <p:txBody>
          <a:bodyPr wrap="square" lIns="0" tIns="0" rIns="0" bIns="0" rtlCol="0" anchor="t"/>
          <a:lstStyle/>
          <a:p>
            <a:pPr marL="0" indent="0">
              <a:buNone/>
            </a:pPr>
            <a:r>
              <a:rPr lang="en-US" sz="1200" dirty="0">
                <a:solidFill>
                  <a:srgbClr val="4C5A56"/>
                </a:solidFill>
                <a:latin typeface="Poppins" pitchFamily="34" charset="0"/>
                <a:ea typeface="Poppins" pitchFamily="34" charset="-122"/>
                <a:cs typeface="Poppins" pitchFamily="34" charset="-120"/>
              </a:rPr>
              <a:t>Officers correct the matcher: merge two incidents or split a report out. Every change is logged with a reason, and the system never undoes it.</a:t>
            </a:r>
            <a:endParaRPr lang="en-US" sz="1200" dirty="0"/>
          </a:p>
        </p:txBody>
      </p:sp>
      <p:sp>
        <p:nvSpPr>
          <p:cNvPr id="20" name="frame incident-panel"/>
          <p:cNvSpPr/>
          <p:nvPr/>
        </p:nvSpPr>
        <p:spPr>
          <a:xfrm>
            <a:off x="8348472" y="1691640"/>
            <a:ext cx="3291840" cy="4480560"/>
          </a:xfrm>
          <a:prstGeom prst="roundRect">
            <a:avLst>
              <a:gd name="adj" fmla="val 2222"/>
            </a:avLst>
          </a:prstGeom>
          <a:solidFill>
            <a:srgbClr val="FFFFFF"/>
          </a:solidFill>
          <a:ln w="12700">
            <a:solidFill>
              <a:srgbClr val="C9D1CA"/>
            </a:solidFill>
            <a:prstDash val="solid"/>
          </a:ln>
          <a:effectLst>
            <a:outerShdw blurRad="177800" dist="38100" dir="5400000" algn="bl" rotWithShape="0">
              <a:srgbClr val="14211F">
                <a:alpha val="12000"/>
              </a:srgbClr>
            </a:outerShdw>
          </a:effectLst>
        </p:spPr>
      </p:sp>
      <p:sp>
        <p:nvSpPr>
          <p:cNvPr id="21" name="frame bar"/>
          <p:cNvSpPr/>
          <p:nvPr/>
        </p:nvSpPr>
        <p:spPr>
          <a:xfrm>
            <a:off x="8357616" y="1700784"/>
            <a:ext cx="3273552" cy="274320"/>
          </a:xfrm>
          <a:prstGeom prst="roundRect">
            <a:avLst>
              <a:gd name="adj" fmla="val 23333"/>
            </a:avLst>
          </a:prstGeom>
          <a:solidFill>
            <a:srgbClr val="F3F6F4"/>
          </a:solidFill>
          <a:ln w="12700">
            <a:solidFill>
              <a:srgbClr val="F3F6F4"/>
            </a:solidFill>
            <a:prstDash val="solid"/>
          </a:ln>
        </p:spPr>
      </p:sp>
      <p:sp>
        <p:nvSpPr>
          <p:cNvPr id="22" name="Shape 16"/>
          <p:cNvSpPr/>
          <p:nvPr/>
        </p:nvSpPr>
        <p:spPr>
          <a:xfrm>
            <a:off x="8494776" y="1787652"/>
            <a:ext cx="82296" cy="82296"/>
          </a:xfrm>
          <a:prstGeom prst="ellipse">
            <a:avLst/>
          </a:prstGeom>
          <a:solidFill>
            <a:srgbClr val="C9D1CA"/>
          </a:solidFill>
          <a:ln w="12700">
            <a:solidFill>
              <a:srgbClr val="C9D1CA"/>
            </a:solidFill>
            <a:prstDash val="solid"/>
          </a:ln>
        </p:spPr>
      </p:sp>
      <p:sp>
        <p:nvSpPr>
          <p:cNvPr id="23" name="Shape 17"/>
          <p:cNvSpPr/>
          <p:nvPr/>
        </p:nvSpPr>
        <p:spPr>
          <a:xfrm>
            <a:off x="8641080" y="1787652"/>
            <a:ext cx="82296" cy="82296"/>
          </a:xfrm>
          <a:prstGeom prst="ellipse">
            <a:avLst/>
          </a:prstGeom>
          <a:solidFill>
            <a:srgbClr val="C9D1CA"/>
          </a:solidFill>
          <a:ln w="12700">
            <a:solidFill>
              <a:srgbClr val="C9D1CA"/>
            </a:solidFill>
            <a:prstDash val="solid"/>
          </a:ln>
        </p:spPr>
      </p:sp>
      <p:sp>
        <p:nvSpPr>
          <p:cNvPr id="24" name="Shape 18"/>
          <p:cNvSpPr/>
          <p:nvPr/>
        </p:nvSpPr>
        <p:spPr>
          <a:xfrm>
            <a:off x="8787384" y="1787652"/>
            <a:ext cx="82296" cy="82296"/>
          </a:xfrm>
          <a:prstGeom prst="ellipse">
            <a:avLst/>
          </a:prstGeom>
          <a:solidFill>
            <a:srgbClr val="C9D1CA"/>
          </a:solidFill>
          <a:ln w="12700">
            <a:solidFill>
              <a:srgbClr val="C9D1CA"/>
            </a:solidFill>
            <a:prstDash val="solid"/>
          </a:ln>
        </p:spPr>
      </p:sp>
      <p:pic>
        <p:nvPicPr>
          <p:cNvPr id="25" name="screenshot incident-panel" descr="CivicPulse screenshot: incident-panel"/>
          <p:cNvPicPr>
            <a:picLocks noChangeAspect="1"/>
          </p:cNvPicPr>
          <p:nvPr/>
        </p:nvPicPr>
        <p:blipFill>
          <a:blip r:embed="rId7"/>
          <a:stretch>
            <a:fillRect/>
          </a:stretch>
        </p:blipFill>
        <p:spPr>
          <a:xfrm>
            <a:off x="8366760" y="1975104"/>
            <a:ext cx="3255264" cy="4178808"/>
          </a:xfrm>
          <a:prstGeom prst="rect">
            <a:avLst/>
          </a:prstGeom>
        </p:spPr>
      </p:pic>
      <p:sp>
        <p:nvSpPr>
          <p:cNvPr id="26"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B67"/>
                </a:solidFill>
                <a:latin typeface="Poppins Medium"/>
                <a:ea typeface="Poppins Medium"/>
                <a:cs typeface="Poppins Medium"/>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457200"/>
            <a:ext cx="11094415" cy="292608"/>
          </a:xfrm>
          <a:prstGeom prst="rect">
            <a:avLst/>
          </a:prstGeom>
          <a:noFill/>
          <a:ln/>
        </p:spPr>
        <p:txBody>
          <a:bodyPr wrap="square" lIns="0" tIns="0" rIns="0" bIns="0" rtlCol="0" anchor="t"/>
          <a:lstStyle/>
          <a:p>
            <a:pPr marL="0" indent="0">
              <a:buNone/>
            </a:pPr>
            <a:r>
              <a:rPr lang="en-US" sz="1100" kern="0" spc="200" dirty="0">
                <a:solidFill>
                  <a:srgbClr val="17494D"/>
                </a:solidFill>
                <a:latin typeface="Poppins SemiBold" pitchFamily="34" charset="0"/>
                <a:ea typeface="Poppins SemiBold" pitchFamily="34" charset="-122"/>
                <a:cs typeface="Poppins SemiBold" pitchFamily="34" charset="-120"/>
              </a:rPr>
              <a:t>08  OFFICER COPILOT</a:t>
            </a:r>
            <a:endParaRPr lang="en-US" sz="1100" dirty="0"/>
          </a:p>
        </p:txBody>
      </p:sp>
      <p:sp>
        <p:nvSpPr>
          <p:cNvPr id="3" name="Text 1"/>
          <p:cNvSpPr>
            <a:spLocks noGrp="1"/>
          </p:cNvSpPr>
          <p:nvPr>
            <p:ph type="title" idx="102" hasCustomPrompt="1"/>
          </p:nvPr>
        </p:nvSpPr>
        <p:spPr>
          <a:xfrm>
            <a:off x="548640" y="749808"/>
            <a:ext cx="11094415" cy="777240"/>
          </a:xfrm>
          <a:prstGeom prst="rect">
            <a:avLst/>
          </a:prstGeom>
          <a:noFill/>
          <a:ln/>
        </p:spPr>
        <p:txBody>
          <a:bodyPr wrap="square" lIns="0" tIns="0" rIns="0" bIns="0" rtlCol="0" anchor="t"/>
          <a:lstStyle/>
          <a:p>
            <a:pPr marL="0" indent="0" algn="l">
              <a:buNone/>
            </a:pPr>
            <a:r>
              <a:rPr lang="en-US" sz="3400" b="1" dirty="0">
                <a:solidFill>
                  <a:srgbClr val="14211F"/>
                </a:solidFill>
                <a:latin typeface="Playfair Display" pitchFamily="34" charset="0"/>
                <a:ea typeface="Playfair Display" pitchFamily="34" charset="-122"/>
                <a:cs typeface="Playfair Display" pitchFamily="34" charset="-120"/>
              </a:rPr>
              <a:t>Ask in plain words; every answer cites its source</a:t>
            </a:r>
            <a:endParaRPr lang="en-US" sz="3400" dirty="0"/>
          </a:p>
        </p:txBody>
      </p:sp>
      <p:sp>
        <p:nvSpPr>
          <p:cNvPr id="4" name="frame copilot"/>
          <p:cNvSpPr/>
          <p:nvPr/>
        </p:nvSpPr>
        <p:spPr>
          <a:xfrm>
            <a:off x="548640" y="1691640"/>
            <a:ext cx="3566160" cy="4526280"/>
          </a:xfrm>
          <a:prstGeom prst="roundRect">
            <a:avLst>
              <a:gd name="adj" fmla="val 2051"/>
            </a:avLst>
          </a:prstGeom>
          <a:solidFill>
            <a:srgbClr val="FFFFFF"/>
          </a:solidFill>
          <a:ln w="12700">
            <a:solidFill>
              <a:srgbClr val="C9D1CA"/>
            </a:solidFill>
            <a:prstDash val="solid"/>
          </a:ln>
          <a:effectLst>
            <a:outerShdw blurRad="177800" dist="38100" dir="5400000" algn="bl" rotWithShape="0">
              <a:srgbClr val="14211F">
                <a:alpha val="12000"/>
              </a:srgbClr>
            </a:outerShdw>
          </a:effectLst>
        </p:spPr>
      </p:sp>
      <p:sp>
        <p:nvSpPr>
          <p:cNvPr id="5" name="frame bar"/>
          <p:cNvSpPr/>
          <p:nvPr/>
        </p:nvSpPr>
        <p:spPr>
          <a:xfrm>
            <a:off x="557784" y="1700784"/>
            <a:ext cx="3547872" cy="274320"/>
          </a:xfrm>
          <a:prstGeom prst="roundRect">
            <a:avLst>
              <a:gd name="adj" fmla="val 23333"/>
            </a:avLst>
          </a:prstGeom>
          <a:solidFill>
            <a:srgbClr val="F3F6F4"/>
          </a:solidFill>
          <a:ln w="12700">
            <a:solidFill>
              <a:srgbClr val="F3F6F4"/>
            </a:solidFill>
            <a:prstDash val="solid"/>
          </a:ln>
        </p:spPr>
      </p:sp>
      <p:sp>
        <p:nvSpPr>
          <p:cNvPr id="6" name="Shape 4"/>
          <p:cNvSpPr/>
          <p:nvPr/>
        </p:nvSpPr>
        <p:spPr>
          <a:xfrm>
            <a:off x="694944" y="1787652"/>
            <a:ext cx="82296" cy="82296"/>
          </a:xfrm>
          <a:prstGeom prst="ellipse">
            <a:avLst/>
          </a:prstGeom>
          <a:solidFill>
            <a:srgbClr val="C9D1CA"/>
          </a:solidFill>
          <a:ln w="12700">
            <a:solidFill>
              <a:srgbClr val="C9D1CA"/>
            </a:solidFill>
            <a:prstDash val="solid"/>
          </a:ln>
        </p:spPr>
      </p:sp>
      <p:sp>
        <p:nvSpPr>
          <p:cNvPr id="7" name="Shape 5"/>
          <p:cNvSpPr/>
          <p:nvPr/>
        </p:nvSpPr>
        <p:spPr>
          <a:xfrm>
            <a:off x="841248" y="1787652"/>
            <a:ext cx="82296" cy="82296"/>
          </a:xfrm>
          <a:prstGeom prst="ellipse">
            <a:avLst/>
          </a:prstGeom>
          <a:solidFill>
            <a:srgbClr val="C9D1CA"/>
          </a:solidFill>
          <a:ln w="12700">
            <a:solidFill>
              <a:srgbClr val="C9D1CA"/>
            </a:solidFill>
            <a:prstDash val="solid"/>
          </a:ln>
        </p:spPr>
      </p:sp>
      <p:sp>
        <p:nvSpPr>
          <p:cNvPr id="8" name="Shape 6"/>
          <p:cNvSpPr/>
          <p:nvPr/>
        </p:nvSpPr>
        <p:spPr>
          <a:xfrm>
            <a:off x="987552" y="1787652"/>
            <a:ext cx="82296" cy="82296"/>
          </a:xfrm>
          <a:prstGeom prst="ellipse">
            <a:avLst/>
          </a:prstGeom>
          <a:solidFill>
            <a:srgbClr val="C9D1CA"/>
          </a:solidFill>
          <a:ln w="12700">
            <a:solidFill>
              <a:srgbClr val="C9D1CA"/>
            </a:solidFill>
            <a:prstDash val="solid"/>
          </a:ln>
        </p:spPr>
      </p:sp>
      <p:pic>
        <p:nvPicPr>
          <p:cNvPr id="9" name="screenshot copilot" descr="CivicPulse screenshot: copilot"/>
          <p:cNvPicPr>
            <a:picLocks noChangeAspect="1"/>
          </p:cNvPicPr>
          <p:nvPr/>
        </p:nvPicPr>
        <p:blipFill>
          <a:blip r:embed="rId3"/>
          <a:stretch>
            <a:fillRect/>
          </a:stretch>
        </p:blipFill>
        <p:spPr>
          <a:xfrm>
            <a:off x="566928" y="1975104"/>
            <a:ext cx="3529584" cy="4224528"/>
          </a:xfrm>
          <a:prstGeom prst="rect">
            <a:avLst/>
          </a:prstGeom>
        </p:spPr>
      </p:pic>
      <p:sp>
        <p:nvSpPr>
          <p:cNvPr id="10" name="copilot stat"/>
          <p:cNvSpPr/>
          <p:nvPr/>
        </p:nvSpPr>
        <p:spPr>
          <a:xfrm>
            <a:off x="4526280" y="1783080"/>
            <a:ext cx="1642034" cy="1325880"/>
          </a:xfrm>
          <a:prstGeom prst="roundRect">
            <a:avLst>
              <a:gd name="adj" fmla="val 6897"/>
            </a:avLst>
          </a:prstGeom>
          <a:solidFill>
            <a:srgbClr val="F3F6F4"/>
          </a:solidFill>
          <a:ln w="12700">
            <a:solidFill>
              <a:srgbClr val="F3F6F4"/>
            </a:solidFill>
            <a:prstDash val="solid"/>
          </a:ln>
        </p:spPr>
      </p:sp>
      <p:sp>
        <p:nvSpPr>
          <p:cNvPr id="11" name="Text 8"/>
          <p:cNvSpPr txBox="1"/>
          <p:nvPr/>
        </p:nvSpPr>
        <p:spPr>
          <a:xfrm>
            <a:off x="4663440" y="1874520"/>
            <a:ext cx="1367714" cy="640080"/>
          </a:xfrm>
          <a:prstGeom prst="rect">
            <a:avLst/>
          </a:prstGeom>
          <a:noFill/>
          <a:ln/>
        </p:spPr>
        <p:txBody>
          <a:bodyPr wrap="square" lIns="0" tIns="0" rIns="0" bIns="0" rtlCol="0" anchor="b"/>
          <a:lstStyle/>
          <a:p>
            <a:pPr marL="0" indent="0">
              <a:buNone/>
            </a:pPr>
            <a:r>
              <a:rPr lang="en-US" sz="2600" b="1" dirty="0">
                <a:solidFill>
                  <a:srgbClr val="17494D"/>
                </a:solidFill>
                <a:latin typeface="Playfair Display" pitchFamily="34" charset="0"/>
                <a:ea typeface="Playfair Display" pitchFamily="34" charset="-122"/>
                <a:cs typeface="Playfair Display" pitchFamily="34" charset="-120"/>
              </a:rPr>
              <a:t>21 / 22</a:t>
            </a:r>
            <a:endParaRPr lang="en-US" sz="2600" dirty="0"/>
          </a:p>
        </p:txBody>
      </p:sp>
      <p:sp>
        <p:nvSpPr>
          <p:cNvPr id="12" name="Text 9"/>
          <p:cNvSpPr txBox="1"/>
          <p:nvPr/>
        </p:nvSpPr>
        <p:spPr>
          <a:xfrm>
            <a:off x="4663440" y="2560320"/>
            <a:ext cx="1367714" cy="502920"/>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test questions passed</a:t>
            </a:r>
            <a:endParaRPr lang="en-US" sz="1100" dirty="0"/>
          </a:p>
        </p:txBody>
      </p:sp>
      <p:sp>
        <p:nvSpPr>
          <p:cNvPr id="13" name="copilot stat"/>
          <p:cNvSpPr/>
          <p:nvPr/>
        </p:nvSpPr>
        <p:spPr>
          <a:xfrm>
            <a:off x="6351194" y="1783080"/>
            <a:ext cx="1642034" cy="1325880"/>
          </a:xfrm>
          <a:prstGeom prst="roundRect">
            <a:avLst>
              <a:gd name="adj" fmla="val 6897"/>
            </a:avLst>
          </a:prstGeom>
          <a:solidFill>
            <a:srgbClr val="F3F6F4"/>
          </a:solidFill>
          <a:ln w="12700">
            <a:solidFill>
              <a:srgbClr val="F3F6F4"/>
            </a:solidFill>
            <a:prstDash val="solid"/>
          </a:ln>
        </p:spPr>
      </p:sp>
      <p:sp>
        <p:nvSpPr>
          <p:cNvPr id="14" name="Text 11"/>
          <p:cNvSpPr txBox="1"/>
          <p:nvPr/>
        </p:nvSpPr>
        <p:spPr>
          <a:xfrm>
            <a:off x="6488354" y="1874520"/>
            <a:ext cx="1367714" cy="640080"/>
          </a:xfrm>
          <a:prstGeom prst="rect">
            <a:avLst/>
          </a:prstGeom>
          <a:noFill/>
          <a:ln/>
        </p:spPr>
        <p:txBody>
          <a:bodyPr wrap="square" lIns="0" tIns="0" rIns="0" bIns="0" rtlCol="0" anchor="b"/>
          <a:lstStyle/>
          <a:p>
            <a:pPr marL="0" indent="0">
              <a:buNone/>
            </a:pPr>
            <a:r>
              <a:rPr lang="en-US" sz="2600" b="1" dirty="0">
                <a:solidFill>
                  <a:srgbClr val="17494D"/>
                </a:solidFill>
                <a:latin typeface="Playfair Display" pitchFamily="34" charset="0"/>
                <a:ea typeface="Playfair Display" pitchFamily="34" charset="-122"/>
                <a:cs typeface="Playfair Display" pitchFamily="34" charset="-120"/>
              </a:rPr>
              <a:t>0 of 37</a:t>
            </a:r>
            <a:endParaRPr lang="en-US" sz="2600" dirty="0"/>
          </a:p>
        </p:txBody>
      </p:sp>
      <p:sp>
        <p:nvSpPr>
          <p:cNvPr id="15" name="Text 12"/>
          <p:cNvSpPr txBox="1"/>
          <p:nvPr/>
        </p:nvSpPr>
        <p:spPr>
          <a:xfrm>
            <a:off x="6488354" y="2560320"/>
            <a:ext cx="1367714" cy="502920"/>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citations outside the data</a:t>
            </a:r>
            <a:endParaRPr lang="en-US" sz="1100" dirty="0"/>
          </a:p>
        </p:txBody>
      </p:sp>
      <p:sp>
        <p:nvSpPr>
          <p:cNvPr id="16" name="copilot stat"/>
          <p:cNvSpPr/>
          <p:nvPr/>
        </p:nvSpPr>
        <p:spPr>
          <a:xfrm>
            <a:off x="8176108" y="1783080"/>
            <a:ext cx="1642034" cy="1325880"/>
          </a:xfrm>
          <a:prstGeom prst="roundRect">
            <a:avLst>
              <a:gd name="adj" fmla="val 6897"/>
            </a:avLst>
          </a:prstGeom>
          <a:solidFill>
            <a:srgbClr val="F3F6F4"/>
          </a:solidFill>
          <a:ln w="12700">
            <a:solidFill>
              <a:srgbClr val="F3F6F4"/>
            </a:solidFill>
            <a:prstDash val="solid"/>
          </a:ln>
        </p:spPr>
      </p:sp>
      <p:sp>
        <p:nvSpPr>
          <p:cNvPr id="17" name="Text 14"/>
          <p:cNvSpPr txBox="1"/>
          <p:nvPr/>
        </p:nvSpPr>
        <p:spPr>
          <a:xfrm>
            <a:off x="8313268" y="1874520"/>
            <a:ext cx="1367714" cy="640080"/>
          </a:xfrm>
          <a:prstGeom prst="rect">
            <a:avLst/>
          </a:prstGeom>
          <a:noFill/>
          <a:ln/>
        </p:spPr>
        <p:txBody>
          <a:bodyPr wrap="square" lIns="0" tIns="0" rIns="0" bIns="0" rtlCol="0" anchor="b"/>
          <a:lstStyle/>
          <a:p>
            <a:pPr marL="0" indent="0">
              <a:buNone/>
            </a:pPr>
            <a:r>
              <a:rPr lang="en-US" sz="2600" b="1" dirty="0">
                <a:solidFill>
                  <a:srgbClr val="17494D"/>
                </a:solidFill>
                <a:latin typeface="Playfair Display" pitchFamily="34" charset="0"/>
                <a:ea typeface="Playfair Display" pitchFamily="34" charset="-122"/>
                <a:cs typeface="Playfair Display" pitchFamily="34" charset="-120"/>
              </a:rPr>
              <a:t>0 of 81</a:t>
            </a:r>
            <a:endParaRPr lang="en-US" sz="2600" dirty="0"/>
          </a:p>
        </p:txBody>
      </p:sp>
      <p:sp>
        <p:nvSpPr>
          <p:cNvPr id="18" name="Text 15"/>
          <p:cNvSpPr txBox="1"/>
          <p:nvPr/>
        </p:nvSpPr>
        <p:spPr>
          <a:xfrm>
            <a:off x="8313268" y="2560320"/>
            <a:ext cx="1367714" cy="502920"/>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numbers outside the data</a:t>
            </a:r>
            <a:endParaRPr lang="en-US" sz="1100" dirty="0"/>
          </a:p>
        </p:txBody>
      </p:sp>
      <p:sp>
        <p:nvSpPr>
          <p:cNvPr id="19" name="copilot stat"/>
          <p:cNvSpPr/>
          <p:nvPr/>
        </p:nvSpPr>
        <p:spPr>
          <a:xfrm>
            <a:off x="10001021" y="1783080"/>
            <a:ext cx="1642034" cy="1325880"/>
          </a:xfrm>
          <a:prstGeom prst="roundRect">
            <a:avLst>
              <a:gd name="adj" fmla="val 6897"/>
            </a:avLst>
          </a:prstGeom>
          <a:solidFill>
            <a:srgbClr val="F3F6F4"/>
          </a:solidFill>
          <a:ln w="12700">
            <a:solidFill>
              <a:srgbClr val="F3F6F4"/>
            </a:solidFill>
            <a:prstDash val="solid"/>
          </a:ln>
        </p:spPr>
      </p:sp>
      <p:sp>
        <p:nvSpPr>
          <p:cNvPr id="20" name="Text 17"/>
          <p:cNvSpPr txBox="1"/>
          <p:nvPr/>
        </p:nvSpPr>
        <p:spPr>
          <a:xfrm>
            <a:off x="10138181" y="1874520"/>
            <a:ext cx="1367714" cy="640080"/>
          </a:xfrm>
          <a:prstGeom prst="rect">
            <a:avLst/>
          </a:prstGeom>
          <a:noFill/>
          <a:ln/>
        </p:spPr>
        <p:txBody>
          <a:bodyPr wrap="square" lIns="0" tIns="0" rIns="0" bIns="0" rtlCol="0" anchor="b"/>
          <a:lstStyle/>
          <a:p>
            <a:pPr marL="0" indent="0">
              <a:buNone/>
            </a:pPr>
            <a:r>
              <a:rPr lang="en-US" sz="2600" b="1" dirty="0">
                <a:solidFill>
                  <a:srgbClr val="17494D"/>
                </a:solidFill>
                <a:latin typeface="Playfair Display" pitchFamily="34" charset="0"/>
                <a:ea typeface="Playfair Display" pitchFamily="34" charset="-122"/>
                <a:cs typeface="Playfair Display" pitchFamily="34" charset="-120"/>
              </a:rPr>
              <a:t>8 of 9</a:t>
            </a:r>
            <a:endParaRPr lang="en-US" sz="2600" dirty="0"/>
          </a:p>
        </p:txBody>
      </p:sp>
      <p:sp>
        <p:nvSpPr>
          <p:cNvPr id="21" name="Text 18"/>
          <p:cNvSpPr txBox="1"/>
          <p:nvPr/>
        </p:nvSpPr>
        <p:spPr>
          <a:xfrm>
            <a:off x="10138181" y="2560320"/>
            <a:ext cx="1367714" cy="502920"/>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out-of-scope questions declined</a:t>
            </a:r>
            <a:endParaRPr lang="en-US" sz="1100" dirty="0"/>
          </a:p>
        </p:txBody>
      </p:sp>
      <p:sp>
        <p:nvSpPr>
          <p:cNvPr id="22" name="icon-bg LuLayers"/>
          <p:cNvSpPr/>
          <p:nvPr/>
        </p:nvSpPr>
        <p:spPr>
          <a:xfrm>
            <a:off x="4526280" y="3383280"/>
            <a:ext cx="457200" cy="457200"/>
          </a:xfrm>
          <a:prstGeom prst="ellipse">
            <a:avLst/>
          </a:prstGeom>
          <a:solidFill>
            <a:srgbClr val="DCE8E8"/>
          </a:solidFill>
          <a:ln w="12700">
            <a:solidFill>
              <a:srgbClr val="DCE8E8"/>
            </a:solidFill>
            <a:prstDash val="solid"/>
          </a:ln>
        </p:spPr>
      </p:sp>
      <p:pic>
        <p:nvPicPr>
          <p:cNvPr id="23" name="icon LuLayers" descr="preencoded.png"/>
          <p:cNvPicPr>
            <a:picLocks noChangeAspect="1"/>
          </p:cNvPicPr>
          <p:nvPr/>
        </p:nvPicPr>
        <p:blipFill>
          <a:blip r:embed="rId4"/>
          <a:stretch>
            <a:fillRect/>
          </a:stretch>
        </p:blipFill>
        <p:spPr>
          <a:xfrm>
            <a:off x="4640580" y="3497580"/>
            <a:ext cx="228600" cy="228600"/>
          </a:xfrm>
          <a:prstGeom prst="rect">
            <a:avLst/>
          </a:prstGeom>
        </p:spPr>
      </p:pic>
      <p:sp>
        <p:nvSpPr>
          <p:cNvPr id="24" name="Text 20"/>
          <p:cNvSpPr txBox="1"/>
          <p:nvPr/>
        </p:nvSpPr>
        <p:spPr>
          <a:xfrm>
            <a:off x="5166360" y="3346704"/>
            <a:ext cx="6476695" cy="310896"/>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Answers only from CivicPulse data</a:t>
            </a:r>
            <a:endParaRPr lang="en-US" sz="1300" dirty="0"/>
          </a:p>
        </p:txBody>
      </p:sp>
      <p:sp>
        <p:nvSpPr>
          <p:cNvPr id="25" name="Text 21"/>
          <p:cNvSpPr txBox="1"/>
          <p:nvPr/>
        </p:nvSpPr>
        <p:spPr>
          <a:xfrm>
            <a:off x="5166360" y="3648456"/>
            <a:ext cx="6476695" cy="365760"/>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Spring builds a packet from the same data the officer sees. Residents’ complaint text is never sent.</a:t>
            </a:r>
            <a:endParaRPr lang="en-US" sz="1100" dirty="0"/>
          </a:p>
        </p:txBody>
      </p:sp>
      <p:sp>
        <p:nvSpPr>
          <p:cNvPr id="26" name="icon-bg LuCheck"/>
          <p:cNvSpPr/>
          <p:nvPr/>
        </p:nvSpPr>
        <p:spPr>
          <a:xfrm>
            <a:off x="4526280" y="4133088"/>
            <a:ext cx="457200" cy="457200"/>
          </a:xfrm>
          <a:prstGeom prst="ellipse">
            <a:avLst/>
          </a:prstGeom>
          <a:solidFill>
            <a:srgbClr val="DCE8E8"/>
          </a:solidFill>
          <a:ln w="12700">
            <a:solidFill>
              <a:srgbClr val="DCE8E8"/>
            </a:solidFill>
            <a:prstDash val="solid"/>
          </a:ln>
        </p:spPr>
      </p:sp>
      <p:pic>
        <p:nvPicPr>
          <p:cNvPr id="27" name="icon LuCheck" descr="preencoded.png"/>
          <p:cNvPicPr>
            <a:picLocks noChangeAspect="1"/>
          </p:cNvPicPr>
          <p:nvPr/>
        </p:nvPicPr>
        <p:blipFill>
          <a:blip r:embed="rId5"/>
          <a:stretch>
            <a:fillRect/>
          </a:stretch>
        </p:blipFill>
        <p:spPr>
          <a:xfrm>
            <a:off x="4640580" y="4247388"/>
            <a:ext cx="228600" cy="228600"/>
          </a:xfrm>
          <a:prstGeom prst="rect">
            <a:avLst/>
          </a:prstGeom>
        </p:spPr>
      </p:pic>
      <p:sp>
        <p:nvSpPr>
          <p:cNvPr id="28" name="Text 23"/>
          <p:cNvSpPr txBox="1"/>
          <p:nvPr/>
        </p:nvSpPr>
        <p:spPr>
          <a:xfrm>
            <a:off x="5166360" y="4096512"/>
            <a:ext cx="6476695" cy="310896"/>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Every claim cites an incident, ward or category</a:t>
            </a:r>
            <a:endParaRPr lang="en-US" sz="1300" dirty="0"/>
          </a:p>
        </p:txBody>
      </p:sp>
      <p:sp>
        <p:nvSpPr>
          <p:cNvPr id="29" name="Text 24"/>
          <p:cNvSpPr txBox="1"/>
          <p:nvPr/>
        </p:nvSpPr>
        <p:spPr>
          <a:xfrm>
            <a:off x="5166360" y="4398264"/>
            <a:ext cx="6476695" cy="365760"/>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Spring drops any citation that was not in the packet, and warns if none are left.</a:t>
            </a:r>
            <a:endParaRPr lang="en-US" sz="1100" dirty="0"/>
          </a:p>
        </p:txBody>
      </p:sp>
      <p:sp>
        <p:nvSpPr>
          <p:cNvPr id="30" name="icon-bg LuTriangleAlert"/>
          <p:cNvSpPr/>
          <p:nvPr/>
        </p:nvSpPr>
        <p:spPr>
          <a:xfrm>
            <a:off x="4526280" y="4882896"/>
            <a:ext cx="457200" cy="457200"/>
          </a:xfrm>
          <a:prstGeom prst="ellipse">
            <a:avLst/>
          </a:prstGeom>
          <a:solidFill>
            <a:srgbClr val="DCE8E8"/>
          </a:solidFill>
          <a:ln w="12700">
            <a:solidFill>
              <a:srgbClr val="DCE8E8"/>
            </a:solidFill>
            <a:prstDash val="solid"/>
          </a:ln>
        </p:spPr>
      </p:sp>
      <p:pic>
        <p:nvPicPr>
          <p:cNvPr id="31" name="icon LuTriangleAlert" descr="preencoded.png"/>
          <p:cNvPicPr>
            <a:picLocks noChangeAspect="1"/>
          </p:cNvPicPr>
          <p:nvPr/>
        </p:nvPicPr>
        <p:blipFill>
          <a:blip r:embed="rId6"/>
          <a:stretch>
            <a:fillRect/>
          </a:stretch>
        </p:blipFill>
        <p:spPr>
          <a:xfrm>
            <a:off x="4640580" y="4997196"/>
            <a:ext cx="228600" cy="228600"/>
          </a:xfrm>
          <a:prstGeom prst="rect">
            <a:avLst/>
          </a:prstGeom>
        </p:spPr>
      </p:pic>
      <p:sp>
        <p:nvSpPr>
          <p:cNvPr id="32" name="Text 26"/>
          <p:cNvSpPr txBox="1"/>
          <p:nvPr/>
        </p:nvSpPr>
        <p:spPr>
          <a:xfrm>
            <a:off x="5166360" y="4846320"/>
            <a:ext cx="6476695" cy="310896"/>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Says when it cannot answer</a:t>
            </a:r>
            <a:endParaRPr lang="en-US" sz="1300" dirty="0"/>
          </a:p>
        </p:txBody>
      </p:sp>
      <p:sp>
        <p:nvSpPr>
          <p:cNvPr id="33" name="Text 27"/>
          <p:cNvSpPr txBox="1"/>
          <p:nvPr/>
        </p:nvSpPr>
        <p:spPr>
          <a:xfrm>
            <a:off x="5166360" y="5148072"/>
            <a:ext cx="6476695" cy="365760"/>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Weather, the mayor, a resident’s phone number, “ignore your instructions”: all declined.</a:t>
            </a:r>
            <a:endParaRPr lang="en-US" sz="1100" dirty="0"/>
          </a:p>
        </p:txBody>
      </p:sp>
      <p:sp>
        <p:nvSpPr>
          <p:cNvPr id="34" name="Text 28"/>
          <p:cNvSpPr txBox="1"/>
          <p:nvPr/>
        </p:nvSpPr>
        <p:spPr>
          <a:xfrm>
            <a:off x="4526280" y="5715000"/>
            <a:ext cx="7116775" cy="457200"/>
          </a:xfrm>
          <a:prstGeom prst="rect">
            <a:avLst/>
          </a:prstGeom>
          <a:noFill/>
          <a:ln/>
        </p:spPr>
        <p:txBody>
          <a:bodyPr wrap="square" lIns="0" tIns="0" rIns="0" bIns="0" rtlCol="0" anchor="t"/>
          <a:lstStyle/>
          <a:p>
            <a:pPr marL="0" indent="0">
              <a:buNone/>
            </a:pPr>
            <a:r>
              <a:rPr lang="en-US" sz="1100" i="1" dirty="0">
                <a:solidFill>
                  <a:srgbClr val="4C5A56"/>
                </a:solidFill>
                <a:latin typeface="Poppins" pitchFamily="34" charset="0"/>
                <a:ea typeface="Poppins" pitchFamily="34" charset="-122"/>
                <a:cs typeface="Poppins" pitchFamily="34" charset="-120"/>
              </a:rPr>
              <a:t>The one miss: asked for hotspots, it named the busiest wards, because hotspots are not in its data yet. Eval on Gemini, 24 Oct 2026; median answer 4.3 s.</a:t>
            </a:r>
            <a:endParaRPr lang="en-US" sz="1100" dirty="0"/>
          </a:p>
        </p:txBody>
      </p:sp>
      <p:sp>
        <p:nvSpPr>
          <p:cNvPr id="3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B67"/>
                </a:solidFill>
                <a:latin typeface="Poppins Medium"/>
                <a:ea typeface="Poppins Medium"/>
                <a:cs typeface="Poppins Medium"/>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457200"/>
            <a:ext cx="11094415" cy="292608"/>
          </a:xfrm>
          <a:prstGeom prst="rect">
            <a:avLst/>
          </a:prstGeom>
          <a:noFill/>
          <a:ln/>
        </p:spPr>
        <p:txBody>
          <a:bodyPr wrap="square" lIns="0" tIns="0" rIns="0" bIns="0" rtlCol="0" anchor="t"/>
          <a:lstStyle/>
          <a:p>
            <a:pPr marL="0" indent="0">
              <a:buNone/>
            </a:pPr>
            <a:r>
              <a:rPr lang="en-US" sz="1100" kern="0" spc="200" dirty="0">
                <a:solidFill>
                  <a:srgbClr val="17494D"/>
                </a:solidFill>
                <a:latin typeface="Poppins SemiBold" pitchFamily="34" charset="0"/>
                <a:ea typeface="Poppins SemiBold" pitchFamily="34" charset="-122"/>
                <a:cs typeface="Poppins SemiBold" pitchFamily="34" charset="-120"/>
              </a:rPr>
              <a:t>09  RESULTS</a:t>
            </a:r>
            <a:endParaRPr lang="en-US" sz="1100" dirty="0"/>
          </a:p>
        </p:txBody>
      </p:sp>
      <p:sp>
        <p:nvSpPr>
          <p:cNvPr id="3" name="Text 1"/>
          <p:cNvSpPr>
            <a:spLocks noGrp="1"/>
          </p:cNvSpPr>
          <p:nvPr>
            <p:ph type="title" idx="102" hasCustomPrompt="1"/>
          </p:nvPr>
        </p:nvSpPr>
        <p:spPr>
          <a:xfrm>
            <a:off x="548640" y="749808"/>
            <a:ext cx="11094415" cy="777240"/>
          </a:xfrm>
          <a:prstGeom prst="rect">
            <a:avLst/>
          </a:prstGeom>
          <a:noFill/>
          <a:ln/>
        </p:spPr>
        <p:txBody>
          <a:bodyPr wrap="square" lIns="0" tIns="0" rIns="0" bIns="0" rtlCol="0" anchor="t"/>
          <a:lstStyle/>
          <a:p>
            <a:pPr marL="0" indent="0" algn="l">
              <a:buNone/>
            </a:pPr>
            <a:r>
              <a:rPr lang="en-US" sz="3400" b="1" dirty="0">
                <a:solidFill>
                  <a:srgbClr val="14211F"/>
                </a:solidFill>
                <a:latin typeface="Playfair Display" pitchFamily="34" charset="0"/>
                <a:ea typeface="Playfair Display" pitchFamily="34" charset="-122"/>
                <a:cs typeface="Playfair Display" pitchFamily="34" charset="-120"/>
              </a:rPr>
              <a:t>We measured it instead of assuming it</a:t>
            </a:r>
            <a:endParaRPr lang="en-US" sz="3400" dirty="0"/>
          </a:p>
        </p:txBody>
      </p:sp>
      <p:sp>
        <p:nvSpPr>
          <p:cNvPr id="4" name="Text 2"/>
          <p:cNvSpPr txBox="1"/>
          <p:nvPr/>
        </p:nvSpPr>
        <p:spPr>
          <a:xfrm>
            <a:off x="548640" y="1783080"/>
            <a:ext cx="4023360" cy="777240"/>
          </a:xfrm>
          <a:prstGeom prst="rect">
            <a:avLst/>
          </a:prstGeom>
          <a:noFill/>
          <a:ln/>
        </p:spPr>
        <p:txBody>
          <a:bodyPr wrap="square" lIns="0" tIns="0" rIns="0" bIns="0" rtlCol="0" anchor="b"/>
          <a:lstStyle/>
          <a:p>
            <a:pPr marL="0" indent="0">
              <a:buNone/>
            </a:pPr>
            <a:r>
              <a:rPr lang="en-US" sz="4400" b="1" dirty="0">
                <a:solidFill>
                  <a:srgbClr val="17494D"/>
                </a:solidFill>
                <a:latin typeface="Playfair Display" pitchFamily="34" charset="0"/>
                <a:ea typeface="Playfair Display" pitchFamily="34" charset="-122"/>
                <a:cs typeface="Playfair Display" pitchFamily="34" charset="-120"/>
              </a:rPr>
              <a:t>95%</a:t>
            </a:r>
            <a:endParaRPr lang="en-US" sz="4400" dirty="0"/>
          </a:p>
        </p:txBody>
      </p:sp>
      <p:sp>
        <p:nvSpPr>
          <p:cNvPr id="5" name="Text 3"/>
          <p:cNvSpPr txBox="1"/>
          <p:nvPr/>
        </p:nvSpPr>
        <p:spPr>
          <a:xfrm>
            <a:off x="548640" y="2587752"/>
            <a:ext cx="4114800" cy="502920"/>
          </a:xfrm>
          <a:prstGeom prst="rect">
            <a:avLst/>
          </a:prstGeom>
          <a:noFill/>
          <a:ln/>
        </p:spPr>
        <p:txBody>
          <a:bodyPr wrap="square" lIns="0" tIns="0" rIns="0" bIns="0" rtlCol="0" anchor="t"/>
          <a:lstStyle/>
          <a:p>
            <a:pPr marL="0" indent="0">
              <a:buNone/>
            </a:pPr>
            <a:r>
              <a:rPr lang="en-US" sz="1200" dirty="0">
                <a:solidFill>
                  <a:srgbClr val="4C5A56"/>
                </a:solidFill>
                <a:latin typeface="Poppins" pitchFamily="34" charset="0"/>
                <a:ea typeface="Poppins" pitchFamily="34" charset="-122"/>
                <a:cs typeface="Poppins" pitchFamily="34" charset="-120"/>
              </a:rPr>
              <a:t>of real grouping decisions correct (was 55%)</a:t>
            </a:r>
            <a:endParaRPr lang="en-US" sz="1200" dirty="0"/>
          </a:p>
        </p:txBody>
      </p:sp>
      <p:sp>
        <p:nvSpPr>
          <p:cNvPr id="6" name="Text 4"/>
          <p:cNvSpPr txBox="1"/>
          <p:nvPr/>
        </p:nvSpPr>
        <p:spPr>
          <a:xfrm>
            <a:off x="548640" y="3246120"/>
            <a:ext cx="4023360" cy="777240"/>
          </a:xfrm>
          <a:prstGeom prst="rect">
            <a:avLst/>
          </a:prstGeom>
          <a:noFill/>
          <a:ln/>
        </p:spPr>
        <p:txBody>
          <a:bodyPr wrap="square" lIns="0" tIns="0" rIns="0" bIns="0" rtlCol="0" anchor="b"/>
          <a:lstStyle/>
          <a:p>
            <a:pPr marL="0" indent="0">
              <a:buNone/>
            </a:pPr>
            <a:r>
              <a:rPr lang="en-US" sz="4400" b="1" dirty="0">
                <a:solidFill>
                  <a:srgbClr val="17494D"/>
                </a:solidFill>
                <a:latin typeface="Playfair Display" pitchFamily="34" charset="0"/>
                <a:ea typeface="Playfair Display" pitchFamily="34" charset="-122"/>
                <a:cs typeface="Playfair Display" pitchFamily="34" charset="-120"/>
              </a:rPr>
              <a:t>3 of 3</a:t>
            </a:r>
            <a:endParaRPr lang="en-US" sz="4400" dirty="0"/>
          </a:p>
        </p:txBody>
      </p:sp>
      <p:sp>
        <p:nvSpPr>
          <p:cNvPr id="7" name="Text 5"/>
          <p:cNvSpPr txBox="1"/>
          <p:nvPr/>
        </p:nvSpPr>
        <p:spPr>
          <a:xfrm>
            <a:off x="548640" y="4050792"/>
            <a:ext cx="4114800" cy="502920"/>
          </a:xfrm>
          <a:prstGeom prst="rect">
            <a:avLst/>
          </a:prstGeom>
          <a:noFill/>
          <a:ln/>
        </p:spPr>
        <p:txBody>
          <a:bodyPr wrap="square" lIns="0" tIns="0" rIns="0" bIns="0" rtlCol="0" anchor="t"/>
          <a:lstStyle/>
          <a:p>
            <a:pPr marL="0" indent="0">
              <a:buNone/>
            </a:pPr>
            <a:r>
              <a:rPr lang="en-US" sz="1200" dirty="0">
                <a:solidFill>
                  <a:srgbClr val="4C5A56"/>
                </a:solidFill>
                <a:latin typeface="Poppins" pitchFamily="34" charset="0"/>
                <a:ea typeface="Poppins" pitchFamily="34" charset="-122"/>
                <a:cs typeface="Poppins" pitchFamily="34" charset="-120"/>
              </a:rPr>
              <a:t>ranking runs where the formula beat the "most reports first" baseline</a:t>
            </a:r>
            <a:endParaRPr lang="en-US" sz="1200" dirty="0"/>
          </a:p>
        </p:txBody>
      </p:sp>
      <p:sp>
        <p:nvSpPr>
          <p:cNvPr id="8" name="Text 6"/>
          <p:cNvSpPr txBox="1"/>
          <p:nvPr/>
        </p:nvSpPr>
        <p:spPr>
          <a:xfrm>
            <a:off x="548640" y="4709160"/>
            <a:ext cx="4023360" cy="777240"/>
          </a:xfrm>
          <a:prstGeom prst="rect">
            <a:avLst/>
          </a:prstGeom>
          <a:noFill/>
          <a:ln/>
        </p:spPr>
        <p:txBody>
          <a:bodyPr wrap="square" lIns="0" tIns="0" rIns="0" bIns="0" rtlCol="0" anchor="b"/>
          <a:lstStyle/>
          <a:p>
            <a:pPr marL="0" indent="0">
              <a:buNone/>
            </a:pPr>
            <a:r>
              <a:rPr lang="en-US" sz="4400" b="1" dirty="0">
                <a:solidFill>
                  <a:srgbClr val="17494D"/>
                </a:solidFill>
                <a:latin typeface="Playfair Display" pitchFamily="34" charset="0"/>
                <a:ea typeface="Playfair Display" pitchFamily="34" charset="-122"/>
                <a:cs typeface="Playfair Display" pitchFamily="34" charset="-120"/>
              </a:rPr>
              <a:t>243</a:t>
            </a:r>
            <a:endParaRPr lang="en-US" sz="4400" dirty="0"/>
          </a:p>
        </p:txBody>
      </p:sp>
      <p:sp>
        <p:nvSpPr>
          <p:cNvPr id="9" name="Text 7"/>
          <p:cNvSpPr txBox="1"/>
          <p:nvPr/>
        </p:nvSpPr>
        <p:spPr>
          <a:xfrm>
            <a:off x="548640" y="5513832"/>
            <a:ext cx="4114800" cy="502920"/>
          </a:xfrm>
          <a:prstGeom prst="rect">
            <a:avLst/>
          </a:prstGeom>
          <a:noFill/>
          <a:ln/>
        </p:spPr>
        <p:txBody>
          <a:bodyPr wrap="square" lIns="0" tIns="0" rIns="0" bIns="0" rtlCol="0" anchor="t"/>
          <a:lstStyle/>
          <a:p>
            <a:pPr marL="0" indent="0">
              <a:buNone/>
            </a:pPr>
            <a:r>
              <a:rPr lang="en-US" sz="1200" dirty="0">
                <a:solidFill>
                  <a:srgbClr val="4C5A56"/>
                </a:solidFill>
                <a:latin typeface="Poppins" pitchFamily="34" charset="0"/>
                <a:ea typeface="Poppins" pitchFamily="34" charset="-122"/>
                <a:cs typeface="Poppins" pitchFamily="34" charset="-120"/>
              </a:rPr>
              <a:t>real BBMP ward boundaries, matched with PostGIS</a:t>
            </a:r>
            <a:endParaRPr lang="en-US" sz="1200" dirty="0"/>
          </a:p>
        </p:txBody>
      </p:sp>
      <p:graphicFrame>
        <p:nvGraphicFramePr>
          <p:cNvPr id="10" name="Chart 0"/>
          <p:cNvGraphicFramePr/>
          <p:nvPr/>
        </p:nvGraphicFramePr>
        <p:xfrm>
          <a:off x="4846320" y="1691640"/>
          <a:ext cx="681228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txBox="1"/>
          <p:nvPr/>
        </p:nvSpPr>
        <p:spPr>
          <a:xfrm>
            <a:off x="5029200" y="5715000"/>
            <a:ext cx="6583680" cy="457200"/>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Ranker: Gemini, briefed as a ward engineer and never shown the formula. A human officer ranking is the next check.</a:t>
            </a:r>
            <a:endParaRPr lang="en-US" sz="11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B67"/>
                </a:solidFill>
                <a:latin typeface="Poppins Medium"/>
                <a:ea typeface="Poppins Medium"/>
                <a:cs typeface="Poppins Medium"/>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457200"/>
            <a:ext cx="11094415" cy="292608"/>
          </a:xfrm>
          <a:prstGeom prst="rect">
            <a:avLst/>
          </a:prstGeom>
          <a:noFill/>
          <a:ln/>
        </p:spPr>
        <p:txBody>
          <a:bodyPr wrap="square" lIns="0" tIns="0" rIns="0" bIns="0" rtlCol="0" anchor="t"/>
          <a:lstStyle/>
          <a:p>
            <a:pPr marL="0" indent="0">
              <a:buNone/>
            </a:pPr>
            <a:r>
              <a:rPr lang="en-US" sz="1100" kern="0" spc="200" dirty="0">
                <a:solidFill>
                  <a:srgbClr val="17494D"/>
                </a:solidFill>
                <a:latin typeface="Poppins SemiBold" pitchFamily="34" charset="0"/>
                <a:ea typeface="Poppins SemiBold" pitchFamily="34" charset="-122"/>
                <a:cs typeface="Poppins SemiBold" pitchFamily="34" charset="-120"/>
              </a:rPr>
              <a:t>10  WHERE WE ARE</a:t>
            </a:r>
            <a:endParaRPr lang="en-US" sz="1100" dirty="0"/>
          </a:p>
        </p:txBody>
      </p:sp>
      <p:sp>
        <p:nvSpPr>
          <p:cNvPr id="3" name="Text 1"/>
          <p:cNvSpPr>
            <a:spLocks noGrp="1"/>
          </p:cNvSpPr>
          <p:nvPr>
            <p:ph type="title" idx="102" hasCustomPrompt="1"/>
          </p:nvPr>
        </p:nvSpPr>
        <p:spPr>
          <a:xfrm>
            <a:off x="548640" y="749808"/>
            <a:ext cx="11094415" cy="777240"/>
          </a:xfrm>
          <a:prstGeom prst="rect">
            <a:avLst/>
          </a:prstGeom>
          <a:noFill/>
          <a:ln/>
        </p:spPr>
        <p:txBody>
          <a:bodyPr wrap="square" lIns="0" tIns="0" rIns="0" bIns="0" rtlCol="0" anchor="t"/>
          <a:lstStyle/>
          <a:p>
            <a:pPr marL="0" indent="0" algn="l">
              <a:buNone/>
            </a:pPr>
            <a:r>
              <a:rPr lang="en-US" sz="3400" b="1" dirty="0">
                <a:solidFill>
                  <a:srgbClr val="14211F"/>
                </a:solidFill>
                <a:latin typeface="Playfair Display" pitchFamily="34" charset="0"/>
                <a:ea typeface="Playfair Display" pitchFamily="34" charset="-122"/>
                <a:cs typeface="Playfair Display" pitchFamily="34" charset="-120"/>
              </a:rPr>
              <a:t>Built, tested and live</a:t>
            </a:r>
            <a:endParaRPr lang="en-US" sz="3400" dirty="0"/>
          </a:p>
        </p:txBody>
      </p:sp>
      <p:sp>
        <p:nvSpPr>
          <p:cNvPr id="4" name="done Complaint intake"/>
          <p:cNvSpPr/>
          <p:nvPr/>
        </p:nvSpPr>
        <p:spPr>
          <a:xfrm>
            <a:off x="548640" y="1783080"/>
            <a:ext cx="3246120" cy="896112"/>
          </a:xfrm>
          <a:prstGeom prst="roundRect">
            <a:avLst>
              <a:gd name="adj" fmla="val 10204"/>
            </a:avLst>
          </a:prstGeom>
          <a:solidFill>
            <a:srgbClr val="F3F6F4"/>
          </a:solidFill>
          <a:ln w="9525">
            <a:solidFill>
              <a:srgbClr val="C9D1CA"/>
            </a:solidFill>
            <a:prstDash val="solid"/>
          </a:ln>
        </p:spPr>
      </p:sp>
      <p:pic>
        <p:nvPicPr>
          <p:cNvPr id="5" name="Image 0" descr="preencoded.png"/>
          <p:cNvPicPr>
            <a:picLocks noChangeAspect="1"/>
          </p:cNvPicPr>
          <p:nvPr/>
        </p:nvPicPr>
        <p:blipFill>
          <a:blip r:embed="rId3"/>
          <a:stretch>
            <a:fillRect/>
          </a:stretch>
        </p:blipFill>
        <p:spPr>
          <a:xfrm>
            <a:off x="749808" y="1965960"/>
            <a:ext cx="237744" cy="237744"/>
          </a:xfrm>
          <a:prstGeom prst="rect">
            <a:avLst/>
          </a:prstGeom>
        </p:spPr>
      </p:pic>
      <p:sp>
        <p:nvSpPr>
          <p:cNvPr id="6" name="Text 3"/>
          <p:cNvSpPr txBox="1"/>
          <p:nvPr/>
        </p:nvSpPr>
        <p:spPr>
          <a:xfrm>
            <a:off x="1097280" y="1892808"/>
            <a:ext cx="2560320" cy="347472"/>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Complaint intake</a:t>
            </a:r>
            <a:endParaRPr lang="en-US" sz="1300" dirty="0"/>
          </a:p>
        </p:txBody>
      </p:sp>
      <p:sp>
        <p:nvSpPr>
          <p:cNvPr id="7" name="Text 4"/>
          <p:cNvSpPr txBox="1"/>
          <p:nvPr/>
        </p:nvSpPr>
        <p:spPr>
          <a:xfrm>
            <a:off x="1097280" y="2258568"/>
            <a:ext cx="2560320" cy="310896"/>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243 real wards, no account needed</a:t>
            </a:r>
            <a:endParaRPr lang="en-US" sz="1100" dirty="0"/>
          </a:p>
        </p:txBody>
      </p:sp>
      <p:sp>
        <p:nvSpPr>
          <p:cNvPr id="8" name="done Semantic matching"/>
          <p:cNvSpPr/>
          <p:nvPr/>
        </p:nvSpPr>
        <p:spPr>
          <a:xfrm>
            <a:off x="4023360" y="1783080"/>
            <a:ext cx="3246120" cy="896112"/>
          </a:xfrm>
          <a:prstGeom prst="roundRect">
            <a:avLst>
              <a:gd name="adj" fmla="val 10204"/>
            </a:avLst>
          </a:prstGeom>
          <a:solidFill>
            <a:srgbClr val="F3F6F4"/>
          </a:solidFill>
          <a:ln w="9525">
            <a:solidFill>
              <a:srgbClr val="C9D1CA"/>
            </a:solidFill>
            <a:prstDash val="solid"/>
          </a:ln>
        </p:spPr>
      </p:sp>
      <p:pic>
        <p:nvPicPr>
          <p:cNvPr id="9" name="Image 1" descr="preencoded.png"/>
          <p:cNvPicPr>
            <a:picLocks noChangeAspect="1"/>
          </p:cNvPicPr>
          <p:nvPr/>
        </p:nvPicPr>
        <p:blipFill>
          <a:blip r:embed="rId3"/>
          <a:stretch>
            <a:fillRect/>
          </a:stretch>
        </p:blipFill>
        <p:spPr>
          <a:xfrm>
            <a:off x="4224528" y="1965960"/>
            <a:ext cx="237744" cy="237744"/>
          </a:xfrm>
          <a:prstGeom prst="rect">
            <a:avLst/>
          </a:prstGeom>
        </p:spPr>
      </p:pic>
      <p:sp>
        <p:nvSpPr>
          <p:cNvPr id="10" name="Text 6"/>
          <p:cNvSpPr txBox="1"/>
          <p:nvPr/>
        </p:nvSpPr>
        <p:spPr>
          <a:xfrm>
            <a:off x="4572000" y="1892808"/>
            <a:ext cx="2560320" cy="347472"/>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Semantic matching</a:t>
            </a:r>
            <a:endParaRPr lang="en-US" sz="1300" dirty="0"/>
          </a:p>
        </p:txBody>
      </p:sp>
      <p:sp>
        <p:nvSpPr>
          <p:cNvPr id="11" name="Text 7"/>
          <p:cNvSpPr txBox="1"/>
          <p:nvPr/>
        </p:nvSpPr>
        <p:spPr>
          <a:xfrm>
            <a:off x="4572000" y="2258568"/>
            <a:ext cx="2560320" cy="310896"/>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0.84 threshold + 500 m check</a:t>
            </a:r>
            <a:endParaRPr lang="en-US" sz="1100" dirty="0"/>
          </a:p>
        </p:txBody>
      </p:sp>
      <p:sp>
        <p:nvSpPr>
          <p:cNvPr id="12" name="done Explainable priority"/>
          <p:cNvSpPr/>
          <p:nvPr/>
        </p:nvSpPr>
        <p:spPr>
          <a:xfrm>
            <a:off x="548640" y="2834640"/>
            <a:ext cx="3246120" cy="896112"/>
          </a:xfrm>
          <a:prstGeom prst="roundRect">
            <a:avLst>
              <a:gd name="adj" fmla="val 10204"/>
            </a:avLst>
          </a:prstGeom>
          <a:solidFill>
            <a:srgbClr val="F3F6F4"/>
          </a:solidFill>
          <a:ln w="9525">
            <a:solidFill>
              <a:srgbClr val="C9D1CA"/>
            </a:solidFill>
            <a:prstDash val="solid"/>
          </a:ln>
        </p:spPr>
      </p:sp>
      <p:pic>
        <p:nvPicPr>
          <p:cNvPr id="13" name="Image 2" descr="preencoded.png"/>
          <p:cNvPicPr>
            <a:picLocks noChangeAspect="1"/>
          </p:cNvPicPr>
          <p:nvPr/>
        </p:nvPicPr>
        <p:blipFill>
          <a:blip r:embed="rId3"/>
          <a:stretch>
            <a:fillRect/>
          </a:stretch>
        </p:blipFill>
        <p:spPr>
          <a:xfrm>
            <a:off x="749808" y="3017520"/>
            <a:ext cx="237744" cy="237744"/>
          </a:xfrm>
          <a:prstGeom prst="rect">
            <a:avLst/>
          </a:prstGeom>
        </p:spPr>
      </p:pic>
      <p:sp>
        <p:nvSpPr>
          <p:cNvPr id="14" name="Text 9"/>
          <p:cNvSpPr txBox="1"/>
          <p:nvPr/>
        </p:nvSpPr>
        <p:spPr>
          <a:xfrm>
            <a:off x="1097280" y="2944368"/>
            <a:ext cx="2560320" cy="347472"/>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Explainable priority</a:t>
            </a:r>
            <a:endParaRPr lang="en-US" sz="1300" dirty="0"/>
          </a:p>
        </p:txBody>
      </p:sp>
      <p:sp>
        <p:nvSpPr>
          <p:cNvPr id="15" name="Text 10"/>
          <p:cNvSpPr txBox="1"/>
          <p:nvPr/>
        </p:nvSpPr>
        <p:spPr>
          <a:xfrm>
            <a:off x="1097280" y="3310128"/>
            <a:ext cx="2560320" cy="310896"/>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Four terms, stored reasons</a:t>
            </a:r>
            <a:endParaRPr lang="en-US" sz="1100" dirty="0"/>
          </a:p>
        </p:txBody>
      </p:sp>
      <p:sp>
        <p:nvSpPr>
          <p:cNvPr id="16" name="done Officer console"/>
          <p:cNvSpPr/>
          <p:nvPr/>
        </p:nvSpPr>
        <p:spPr>
          <a:xfrm>
            <a:off x="4023360" y="2834640"/>
            <a:ext cx="3246120" cy="896112"/>
          </a:xfrm>
          <a:prstGeom prst="roundRect">
            <a:avLst>
              <a:gd name="adj" fmla="val 10204"/>
            </a:avLst>
          </a:prstGeom>
          <a:solidFill>
            <a:srgbClr val="F3F6F4"/>
          </a:solidFill>
          <a:ln w="9525">
            <a:solidFill>
              <a:srgbClr val="C9D1CA"/>
            </a:solidFill>
            <a:prstDash val="solid"/>
          </a:ln>
        </p:spPr>
      </p:sp>
      <p:pic>
        <p:nvPicPr>
          <p:cNvPr id="17" name="Image 3" descr="preencoded.png"/>
          <p:cNvPicPr>
            <a:picLocks noChangeAspect="1"/>
          </p:cNvPicPr>
          <p:nvPr/>
        </p:nvPicPr>
        <p:blipFill>
          <a:blip r:embed="rId3"/>
          <a:stretch>
            <a:fillRect/>
          </a:stretch>
        </p:blipFill>
        <p:spPr>
          <a:xfrm>
            <a:off x="4224528" y="3017520"/>
            <a:ext cx="237744" cy="237744"/>
          </a:xfrm>
          <a:prstGeom prst="rect">
            <a:avLst/>
          </a:prstGeom>
        </p:spPr>
      </p:pic>
      <p:sp>
        <p:nvSpPr>
          <p:cNvPr id="18" name="Text 12"/>
          <p:cNvSpPr txBox="1"/>
          <p:nvPr/>
        </p:nvSpPr>
        <p:spPr>
          <a:xfrm>
            <a:off x="4572000" y="2944368"/>
            <a:ext cx="2560320" cy="347472"/>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Officer console</a:t>
            </a:r>
            <a:endParaRPr lang="en-US" sz="1300" dirty="0"/>
          </a:p>
        </p:txBody>
      </p:sp>
      <p:sp>
        <p:nvSpPr>
          <p:cNvPr id="19" name="Text 13"/>
          <p:cNvSpPr txBox="1"/>
          <p:nvPr/>
        </p:nvSpPr>
        <p:spPr>
          <a:xfrm>
            <a:off x="4572000" y="3310128"/>
            <a:ext cx="2560320" cy="310896"/>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Queue, map, wards, categories</a:t>
            </a:r>
            <a:endParaRPr lang="en-US" sz="1100" dirty="0"/>
          </a:p>
        </p:txBody>
      </p:sp>
      <p:sp>
        <p:nvSpPr>
          <p:cNvPr id="20" name="done Hotspots and attention"/>
          <p:cNvSpPr/>
          <p:nvPr/>
        </p:nvSpPr>
        <p:spPr>
          <a:xfrm>
            <a:off x="548640" y="3886200"/>
            <a:ext cx="3246120" cy="896112"/>
          </a:xfrm>
          <a:prstGeom prst="roundRect">
            <a:avLst>
              <a:gd name="adj" fmla="val 10204"/>
            </a:avLst>
          </a:prstGeom>
          <a:solidFill>
            <a:srgbClr val="F3F6F4"/>
          </a:solidFill>
          <a:ln w="9525">
            <a:solidFill>
              <a:srgbClr val="C9D1CA"/>
            </a:solidFill>
            <a:prstDash val="solid"/>
          </a:ln>
        </p:spPr>
      </p:sp>
      <p:pic>
        <p:nvPicPr>
          <p:cNvPr id="21" name="Image 4" descr="preencoded.png"/>
          <p:cNvPicPr>
            <a:picLocks noChangeAspect="1"/>
          </p:cNvPicPr>
          <p:nvPr/>
        </p:nvPicPr>
        <p:blipFill>
          <a:blip r:embed="rId3"/>
          <a:stretch>
            <a:fillRect/>
          </a:stretch>
        </p:blipFill>
        <p:spPr>
          <a:xfrm>
            <a:off x="749808" y="4069080"/>
            <a:ext cx="237744" cy="237744"/>
          </a:xfrm>
          <a:prstGeom prst="rect">
            <a:avLst/>
          </a:prstGeom>
        </p:spPr>
      </p:pic>
      <p:sp>
        <p:nvSpPr>
          <p:cNvPr id="22" name="Text 15"/>
          <p:cNvSpPr txBox="1"/>
          <p:nvPr/>
        </p:nvSpPr>
        <p:spPr>
          <a:xfrm>
            <a:off x="1097280" y="3995928"/>
            <a:ext cx="2560320" cy="347472"/>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Hotspots and attention</a:t>
            </a:r>
            <a:endParaRPr lang="en-US" sz="1300" dirty="0"/>
          </a:p>
        </p:txBody>
      </p:sp>
      <p:sp>
        <p:nvSpPr>
          <p:cNvPr id="23" name="Text 16"/>
          <p:cNvSpPr txBox="1"/>
          <p:nvPr/>
        </p:nvSpPr>
        <p:spPr>
          <a:xfrm>
            <a:off x="1097280" y="4361688"/>
            <a:ext cx="2560320" cy="310896"/>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Clusters, hazards, spikes</a:t>
            </a:r>
            <a:endParaRPr lang="en-US" sz="1100" dirty="0"/>
          </a:p>
        </p:txBody>
      </p:sp>
      <p:sp>
        <p:nvSpPr>
          <p:cNvPr id="24" name="done Decision support"/>
          <p:cNvSpPr/>
          <p:nvPr/>
        </p:nvSpPr>
        <p:spPr>
          <a:xfrm>
            <a:off x="4023360" y="3886200"/>
            <a:ext cx="3246120" cy="896112"/>
          </a:xfrm>
          <a:prstGeom prst="roundRect">
            <a:avLst>
              <a:gd name="adj" fmla="val 10204"/>
            </a:avLst>
          </a:prstGeom>
          <a:solidFill>
            <a:srgbClr val="F3F6F4"/>
          </a:solidFill>
          <a:ln w="9525">
            <a:solidFill>
              <a:srgbClr val="C9D1CA"/>
            </a:solidFill>
            <a:prstDash val="solid"/>
          </a:ln>
        </p:spPr>
      </p:sp>
      <p:pic>
        <p:nvPicPr>
          <p:cNvPr id="25" name="Image 5" descr="preencoded.png"/>
          <p:cNvPicPr>
            <a:picLocks noChangeAspect="1"/>
          </p:cNvPicPr>
          <p:nvPr/>
        </p:nvPicPr>
        <p:blipFill>
          <a:blip r:embed="rId3"/>
          <a:stretch>
            <a:fillRect/>
          </a:stretch>
        </p:blipFill>
        <p:spPr>
          <a:xfrm>
            <a:off x="4224528" y="4069080"/>
            <a:ext cx="237744" cy="237744"/>
          </a:xfrm>
          <a:prstGeom prst="rect">
            <a:avLst/>
          </a:prstGeom>
        </p:spPr>
      </p:pic>
      <p:sp>
        <p:nvSpPr>
          <p:cNvPr id="26" name="Text 18"/>
          <p:cNvSpPr txBox="1"/>
          <p:nvPr/>
        </p:nvSpPr>
        <p:spPr>
          <a:xfrm>
            <a:off x="4572000" y="3995928"/>
            <a:ext cx="2560320" cy="347472"/>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Decision support</a:t>
            </a:r>
            <a:endParaRPr lang="en-US" sz="1300" dirty="0"/>
          </a:p>
        </p:txBody>
      </p:sp>
      <p:sp>
        <p:nvSpPr>
          <p:cNvPr id="27" name="Text 19"/>
          <p:cNvSpPr txBox="1"/>
          <p:nvPr/>
        </p:nvSpPr>
        <p:spPr>
          <a:xfrm>
            <a:off x="4572000" y="4361688"/>
            <a:ext cx="2560320" cy="310896"/>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Next step, agree or disagree</a:t>
            </a:r>
            <a:endParaRPr lang="en-US" sz="1100" dirty="0"/>
          </a:p>
        </p:txBody>
      </p:sp>
      <p:sp>
        <p:nvSpPr>
          <p:cNvPr id="28" name="done Officer controls"/>
          <p:cNvSpPr/>
          <p:nvPr/>
        </p:nvSpPr>
        <p:spPr>
          <a:xfrm>
            <a:off x="548640" y="4937760"/>
            <a:ext cx="3246120" cy="896112"/>
          </a:xfrm>
          <a:prstGeom prst="roundRect">
            <a:avLst>
              <a:gd name="adj" fmla="val 10204"/>
            </a:avLst>
          </a:prstGeom>
          <a:solidFill>
            <a:srgbClr val="F3F6F4"/>
          </a:solidFill>
          <a:ln w="9525">
            <a:solidFill>
              <a:srgbClr val="C9D1CA"/>
            </a:solidFill>
            <a:prstDash val="solid"/>
          </a:ln>
        </p:spPr>
      </p:sp>
      <p:pic>
        <p:nvPicPr>
          <p:cNvPr id="29" name="Image 6" descr="preencoded.png"/>
          <p:cNvPicPr>
            <a:picLocks noChangeAspect="1"/>
          </p:cNvPicPr>
          <p:nvPr/>
        </p:nvPicPr>
        <p:blipFill>
          <a:blip r:embed="rId3"/>
          <a:stretch>
            <a:fillRect/>
          </a:stretch>
        </p:blipFill>
        <p:spPr>
          <a:xfrm>
            <a:off x="749808" y="5120640"/>
            <a:ext cx="237744" cy="237744"/>
          </a:xfrm>
          <a:prstGeom prst="rect">
            <a:avLst/>
          </a:prstGeom>
        </p:spPr>
      </p:pic>
      <p:sp>
        <p:nvSpPr>
          <p:cNvPr id="30" name="Text 21"/>
          <p:cNvSpPr txBox="1"/>
          <p:nvPr/>
        </p:nvSpPr>
        <p:spPr>
          <a:xfrm>
            <a:off x="1097280" y="5047488"/>
            <a:ext cx="2560320" cy="347472"/>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Officer controls</a:t>
            </a:r>
            <a:endParaRPr lang="en-US" sz="1300" dirty="0"/>
          </a:p>
        </p:txBody>
      </p:sp>
      <p:sp>
        <p:nvSpPr>
          <p:cNvPr id="31" name="Text 22"/>
          <p:cNvSpPr txBox="1"/>
          <p:nvPr/>
        </p:nvSpPr>
        <p:spPr>
          <a:xfrm>
            <a:off x="1097280" y="5413248"/>
            <a:ext cx="2560320" cy="310896"/>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Life-safety, merge and unlink</a:t>
            </a:r>
            <a:endParaRPr lang="en-US" sz="1100" dirty="0"/>
          </a:p>
        </p:txBody>
      </p:sp>
      <p:sp>
        <p:nvSpPr>
          <p:cNvPr id="32" name="done Officer Copilot"/>
          <p:cNvSpPr/>
          <p:nvPr/>
        </p:nvSpPr>
        <p:spPr>
          <a:xfrm>
            <a:off x="4023360" y="4937760"/>
            <a:ext cx="3246120" cy="896112"/>
          </a:xfrm>
          <a:prstGeom prst="roundRect">
            <a:avLst>
              <a:gd name="adj" fmla="val 10204"/>
            </a:avLst>
          </a:prstGeom>
          <a:solidFill>
            <a:srgbClr val="F3F6F4"/>
          </a:solidFill>
          <a:ln w="9525">
            <a:solidFill>
              <a:srgbClr val="C9D1CA"/>
            </a:solidFill>
            <a:prstDash val="solid"/>
          </a:ln>
        </p:spPr>
      </p:sp>
      <p:pic>
        <p:nvPicPr>
          <p:cNvPr id="33" name="Image 7" descr="preencoded.png"/>
          <p:cNvPicPr>
            <a:picLocks noChangeAspect="1"/>
          </p:cNvPicPr>
          <p:nvPr/>
        </p:nvPicPr>
        <p:blipFill>
          <a:blip r:embed="rId3"/>
          <a:stretch>
            <a:fillRect/>
          </a:stretch>
        </p:blipFill>
        <p:spPr>
          <a:xfrm>
            <a:off x="4224528" y="5120640"/>
            <a:ext cx="237744" cy="237744"/>
          </a:xfrm>
          <a:prstGeom prst="rect">
            <a:avLst/>
          </a:prstGeom>
        </p:spPr>
      </p:pic>
      <p:sp>
        <p:nvSpPr>
          <p:cNvPr id="34" name="Text 24"/>
          <p:cNvSpPr txBox="1"/>
          <p:nvPr/>
        </p:nvSpPr>
        <p:spPr>
          <a:xfrm>
            <a:off x="4572000" y="5047488"/>
            <a:ext cx="2560320" cy="347472"/>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Officer Copilot</a:t>
            </a:r>
            <a:endParaRPr lang="en-US" sz="1300" dirty="0"/>
          </a:p>
        </p:txBody>
      </p:sp>
      <p:sp>
        <p:nvSpPr>
          <p:cNvPr id="35" name="Text 25"/>
          <p:cNvSpPr txBox="1"/>
          <p:nvPr/>
        </p:nvSpPr>
        <p:spPr>
          <a:xfrm>
            <a:off x="4572000" y="5413248"/>
            <a:ext cx="2560320" cy="310896"/>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Grounded answers, 21/22 in eval</a:t>
            </a:r>
            <a:endParaRPr lang="en-US" sz="1100" dirty="0"/>
          </a:p>
        </p:txBody>
      </p:sp>
      <p:sp>
        <p:nvSpPr>
          <p:cNvPr id="36" name="Text 26"/>
          <p:cNvSpPr txBox="1"/>
          <p:nvPr/>
        </p:nvSpPr>
        <p:spPr>
          <a:xfrm>
            <a:off x="7635240" y="1737360"/>
            <a:ext cx="4007815" cy="457200"/>
          </a:xfrm>
          <a:prstGeom prst="rect">
            <a:avLst/>
          </a:prstGeom>
          <a:noFill/>
          <a:ln/>
        </p:spPr>
        <p:txBody>
          <a:bodyPr wrap="square" lIns="0" tIns="0" rIns="0" bIns="0" rtlCol="0" anchor="ctr"/>
          <a:lstStyle/>
          <a:p>
            <a:pPr marL="0" indent="0">
              <a:buNone/>
            </a:pPr>
            <a:r>
              <a:rPr lang="en-US" sz="2400" b="1" dirty="0">
                <a:solidFill>
                  <a:srgbClr val="14211F"/>
                </a:solidFill>
                <a:latin typeface="Playfair Display" pitchFamily="34" charset="0"/>
                <a:ea typeface="Playfair Display" pitchFamily="34" charset="-122"/>
                <a:cs typeface="Playfair Display" pitchFamily="34" charset="-120"/>
              </a:rPr>
              <a:t>Next</a:t>
            </a:r>
            <a:endParaRPr lang="en-US" sz="2400" dirty="0"/>
          </a:p>
        </p:txBody>
      </p:sp>
      <p:sp>
        <p:nvSpPr>
          <p:cNvPr id="37" name="icon-bg LuBot"/>
          <p:cNvSpPr/>
          <p:nvPr/>
        </p:nvSpPr>
        <p:spPr>
          <a:xfrm>
            <a:off x="7635240" y="2377440"/>
            <a:ext cx="457200" cy="457200"/>
          </a:xfrm>
          <a:prstGeom prst="ellipse">
            <a:avLst/>
          </a:prstGeom>
          <a:solidFill>
            <a:srgbClr val="DCE8E8"/>
          </a:solidFill>
          <a:ln w="12700">
            <a:solidFill>
              <a:srgbClr val="DCE8E8"/>
            </a:solidFill>
            <a:prstDash val="solid"/>
          </a:ln>
        </p:spPr>
      </p:sp>
      <p:pic>
        <p:nvPicPr>
          <p:cNvPr id="38" name="icon LuBot" descr="preencoded.png"/>
          <p:cNvPicPr>
            <a:picLocks noChangeAspect="1"/>
          </p:cNvPicPr>
          <p:nvPr/>
        </p:nvPicPr>
        <p:blipFill>
          <a:blip r:embed="rId4"/>
          <a:stretch>
            <a:fillRect/>
          </a:stretch>
        </p:blipFill>
        <p:spPr>
          <a:xfrm>
            <a:off x="7749540" y="2491740"/>
            <a:ext cx="228600" cy="228600"/>
          </a:xfrm>
          <a:prstGeom prst="rect">
            <a:avLst/>
          </a:prstGeom>
        </p:spPr>
      </p:pic>
      <p:sp>
        <p:nvSpPr>
          <p:cNvPr id="39" name="Text 28"/>
          <p:cNvSpPr txBox="1"/>
          <p:nvPr/>
        </p:nvSpPr>
        <p:spPr>
          <a:xfrm>
            <a:off x="8275320" y="2340864"/>
            <a:ext cx="3367735" cy="310896"/>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Copilot knows hotspots</a:t>
            </a:r>
            <a:endParaRPr lang="en-US" sz="1300" dirty="0"/>
          </a:p>
        </p:txBody>
      </p:sp>
      <p:sp>
        <p:nvSpPr>
          <p:cNvPr id="40" name="Text 29"/>
          <p:cNvSpPr txBox="1"/>
          <p:nvPr/>
        </p:nvSpPr>
        <p:spPr>
          <a:xfrm>
            <a:off x="8275320" y="2642616"/>
            <a:ext cx="3367735" cy="566928"/>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Add hotspots and life-safety flags to its data: the one miss in the eval.</a:t>
            </a:r>
            <a:endParaRPr lang="en-US" sz="1100" dirty="0"/>
          </a:p>
        </p:txBody>
      </p:sp>
      <p:sp>
        <p:nvSpPr>
          <p:cNvPr id="41" name="icon-bg LuGauge"/>
          <p:cNvSpPr/>
          <p:nvPr/>
        </p:nvSpPr>
        <p:spPr>
          <a:xfrm>
            <a:off x="7635240" y="3337560"/>
            <a:ext cx="457200" cy="457200"/>
          </a:xfrm>
          <a:prstGeom prst="ellipse">
            <a:avLst/>
          </a:prstGeom>
          <a:solidFill>
            <a:srgbClr val="DCE8E8"/>
          </a:solidFill>
          <a:ln w="12700">
            <a:solidFill>
              <a:srgbClr val="DCE8E8"/>
            </a:solidFill>
            <a:prstDash val="solid"/>
          </a:ln>
        </p:spPr>
      </p:sp>
      <p:pic>
        <p:nvPicPr>
          <p:cNvPr id="42" name="icon LuGauge" descr="preencoded.png"/>
          <p:cNvPicPr>
            <a:picLocks noChangeAspect="1"/>
          </p:cNvPicPr>
          <p:nvPr/>
        </p:nvPicPr>
        <p:blipFill>
          <a:blip r:embed="rId5"/>
          <a:stretch>
            <a:fillRect/>
          </a:stretch>
        </p:blipFill>
        <p:spPr>
          <a:xfrm>
            <a:off x="7749540" y="3451860"/>
            <a:ext cx="228600" cy="228600"/>
          </a:xfrm>
          <a:prstGeom prst="rect">
            <a:avLst/>
          </a:prstGeom>
        </p:spPr>
      </p:pic>
      <p:sp>
        <p:nvSpPr>
          <p:cNvPr id="43" name="Text 31"/>
          <p:cNvSpPr txBox="1"/>
          <p:nvPr/>
        </p:nvSpPr>
        <p:spPr>
          <a:xfrm>
            <a:off x="8275320" y="3300984"/>
            <a:ext cx="3367735" cy="310896"/>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A real officer ranking</a:t>
            </a:r>
            <a:endParaRPr lang="en-US" sz="1300" dirty="0"/>
          </a:p>
        </p:txBody>
      </p:sp>
      <p:sp>
        <p:nvSpPr>
          <p:cNvPr id="44" name="Text 32"/>
          <p:cNvSpPr txBox="1"/>
          <p:nvPr/>
        </p:nvSpPr>
        <p:spPr>
          <a:xfrm>
            <a:off x="8275320" y="3602736"/>
            <a:ext cx="3367735" cy="566928"/>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Confirm the priority calibration with a human, not a proxy.</a:t>
            </a:r>
            <a:endParaRPr lang="en-US" sz="1100" dirty="0"/>
          </a:p>
        </p:txBody>
      </p:sp>
      <p:sp>
        <p:nvSpPr>
          <p:cNvPr id="45" name="icon-bg LuMapPin"/>
          <p:cNvSpPr/>
          <p:nvPr/>
        </p:nvSpPr>
        <p:spPr>
          <a:xfrm>
            <a:off x="7635240" y="4297680"/>
            <a:ext cx="457200" cy="457200"/>
          </a:xfrm>
          <a:prstGeom prst="ellipse">
            <a:avLst/>
          </a:prstGeom>
          <a:solidFill>
            <a:srgbClr val="DCE8E8"/>
          </a:solidFill>
          <a:ln w="12700">
            <a:solidFill>
              <a:srgbClr val="DCE8E8"/>
            </a:solidFill>
            <a:prstDash val="solid"/>
          </a:ln>
        </p:spPr>
      </p:sp>
      <p:pic>
        <p:nvPicPr>
          <p:cNvPr id="46" name="icon LuMapPin" descr="preencoded.png"/>
          <p:cNvPicPr>
            <a:picLocks noChangeAspect="1"/>
          </p:cNvPicPr>
          <p:nvPr/>
        </p:nvPicPr>
        <p:blipFill>
          <a:blip r:embed="rId6"/>
          <a:stretch>
            <a:fillRect/>
          </a:stretch>
        </p:blipFill>
        <p:spPr>
          <a:xfrm>
            <a:off x="7749540" y="4411980"/>
            <a:ext cx="228600" cy="228600"/>
          </a:xfrm>
          <a:prstGeom prst="rect">
            <a:avLst/>
          </a:prstGeom>
        </p:spPr>
      </p:pic>
      <p:sp>
        <p:nvSpPr>
          <p:cNvPr id="47" name="Text 34"/>
          <p:cNvSpPr txBox="1"/>
          <p:nvPr/>
        </p:nvSpPr>
        <p:spPr>
          <a:xfrm>
            <a:off x="8275320" y="4261104"/>
            <a:ext cx="3367735" cy="310896"/>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A real data feed</a:t>
            </a:r>
            <a:endParaRPr lang="en-US" sz="1300" dirty="0"/>
          </a:p>
        </p:txBody>
      </p:sp>
      <p:sp>
        <p:nvSpPr>
          <p:cNvPr id="48" name="Text 35"/>
          <p:cNvSpPr txBox="1"/>
          <p:nvPr/>
        </p:nvSpPr>
        <p:spPr>
          <a:xfrm>
            <a:off x="8275320" y="4562856"/>
            <a:ext cx="3367735" cy="566928"/>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Through the ingestion gate, then re-run the matching eval.</a:t>
            </a:r>
            <a:endParaRPr lang="en-US" sz="1100" dirty="0"/>
          </a:p>
        </p:txBody>
      </p:sp>
      <p:sp>
        <p:nvSpPr>
          <p:cNvPr id="49" name="icon-bg LuCamera"/>
          <p:cNvSpPr/>
          <p:nvPr/>
        </p:nvSpPr>
        <p:spPr>
          <a:xfrm>
            <a:off x="7635240" y="5257800"/>
            <a:ext cx="457200" cy="457200"/>
          </a:xfrm>
          <a:prstGeom prst="ellipse">
            <a:avLst/>
          </a:prstGeom>
          <a:solidFill>
            <a:srgbClr val="DCE8E8"/>
          </a:solidFill>
          <a:ln w="12700">
            <a:solidFill>
              <a:srgbClr val="DCE8E8"/>
            </a:solidFill>
            <a:prstDash val="solid"/>
          </a:ln>
        </p:spPr>
      </p:sp>
      <p:pic>
        <p:nvPicPr>
          <p:cNvPr id="50" name="icon LuCamera" descr="preencoded.png"/>
          <p:cNvPicPr>
            <a:picLocks noChangeAspect="1"/>
          </p:cNvPicPr>
          <p:nvPr/>
        </p:nvPicPr>
        <p:blipFill>
          <a:blip r:embed="rId7"/>
          <a:stretch>
            <a:fillRect/>
          </a:stretch>
        </p:blipFill>
        <p:spPr>
          <a:xfrm>
            <a:off x="7749540" y="5372100"/>
            <a:ext cx="228600" cy="228600"/>
          </a:xfrm>
          <a:prstGeom prst="rect">
            <a:avLst/>
          </a:prstGeom>
        </p:spPr>
      </p:pic>
      <p:sp>
        <p:nvSpPr>
          <p:cNvPr id="51" name="Text 37"/>
          <p:cNvSpPr txBox="1"/>
          <p:nvPr/>
        </p:nvSpPr>
        <p:spPr>
          <a:xfrm>
            <a:off x="8275320" y="5221224"/>
            <a:ext cx="3367735" cy="310896"/>
          </a:xfrm>
          <a:prstGeom prst="rect">
            <a:avLst/>
          </a:prstGeom>
          <a:noFill/>
          <a:ln/>
        </p:spPr>
        <p:txBody>
          <a:bodyPr wrap="square" lIns="0" tIns="0" rIns="0" bIns="0" rtlCol="0" anchor="ctr"/>
          <a:lstStyle/>
          <a:p>
            <a:pPr marL="0" indent="0">
              <a:buNone/>
            </a:pPr>
            <a:r>
              <a:rPr lang="en-US" sz="1300" dirty="0">
                <a:solidFill>
                  <a:srgbClr val="14211F"/>
                </a:solidFill>
                <a:latin typeface="Poppins SemiBold" pitchFamily="34" charset="0"/>
                <a:ea typeface="Poppins SemiBold" pitchFamily="34" charset="-122"/>
                <a:cs typeface="Poppins SemiBold" pitchFamily="34" charset="-120"/>
              </a:rPr>
              <a:t>Photo upload</a:t>
            </a:r>
            <a:endParaRPr lang="en-US" sz="1300" dirty="0"/>
          </a:p>
        </p:txBody>
      </p:sp>
      <p:sp>
        <p:nvSpPr>
          <p:cNvPr id="52" name="Text 38"/>
          <p:cNvSpPr txBox="1"/>
          <p:nvPr/>
        </p:nvSpPr>
        <p:spPr>
          <a:xfrm>
            <a:off x="8275320" y="5522976"/>
            <a:ext cx="3367735" cy="566928"/>
          </a:xfrm>
          <a:prstGeom prst="rect">
            <a:avLst/>
          </a:prstGeom>
          <a:noFill/>
          <a:ln/>
        </p:spPr>
        <p:txBody>
          <a:bodyPr wrap="square" lIns="0" tIns="0" rIns="0" bIns="0" rtlCol="0" anchor="t"/>
          <a:lstStyle/>
          <a:p>
            <a:pPr marL="0" indent="0">
              <a:buNone/>
            </a:pPr>
            <a:r>
              <a:rPr lang="en-US" sz="1100" dirty="0">
                <a:solidFill>
                  <a:srgbClr val="4C5A56"/>
                </a:solidFill>
                <a:latin typeface="Poppins" pitchFamily="34" charset="0"/>
                <a:ea typeface="Poppins" pitchFamily="34" charset="-122"/>
                <a:cs typeface="Poppins" pitchFamily="34" charset="-120"/>
              </a:rPr>
              <a:t>Contract approved, not built.</a:t>
            </a:r>
            <a:endParaRPr lang="en-US" sz="1100" dirty="0"/>
          </a:p>
        </p:txBody>
      </p:sp>
      <p:sp>
        <p:nvSpPr>
          <p:cNvPr id="53"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B67"/>
                </a:solidFill>
                <a:latin typeface="Poppins Medium"/>
                <a:ea typeface="Poppins Medium"/>
                <a:cs typeface="Poppins Medium"/>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1828800"/>
            <a:ext cx="5669280" cy="1188720"/>
          </a:xfrm>
          <a:prstGeom prst="rect">
            <a:avLst/>
          </a:prstGeom>
          <a:noFill/>
          <a:ln/>
        </p:spPr>
        <p:txBody>
          <a:bodyPr wrap="square" lIns="0" tIns="0" rIns="0" bIns="0" rtlCol="0" anchor="ctr"/>
          <a:lstStyle/>
          <a:p>
            <a:pPr marL="0" indent="0">
              <a:buNone/>
            </a:pPr>
            <a:r>
              <a:rPr lang="en-US" sz="6600" b="1" dirty="0">
                <a:solidFill>
                  <a:srgbClr val="14211F"/>
                </a:solidFill>
                <a:latin typeface="Playfair Display" pitchFamily="34" charset="0"/>
                <a:ea typeface="Playfair Display" pitchFamily="34" charset="-122"/>
                <a:cs typeface="Playfair Display" pitchFamily="34" charset="-120"/>
              </a:rPr>
              <a:t>Thank you</a:t>
            </a:r>
            <a:endParaRPr lang="en-US" sz="6600" dirty="0"/>
          </a:p>
        </p:txBody>
      </p:sp>
      <p:sp>
        <p:nvSpPr>
          <p:cNvPr id="3" name="Text 1"/>
          <p:cNvSpPr txBox="1"/>
          <p:nvPr/>
        </p:nvSpPr>
        <p:spPr>
          <a:xfrm>
            <a:off x="640080" y="3017520"/>
            <a:ext cx="5486400" cy="548640"/>
          </a:xfrm>
          <a:prstGeom prst="rect">
            <a:avLst/>
          </a:prstGeom>
          <a:noFill/>
          <a:ln/>
        </p:spPr>
        <p:txBody>
          <a:bodyPr wrap="square" lIns="0" tIns="0" rIns="0" bIns="0" rtlCol="0" anchor="ctr"/>
          <a:lstStyle/>
          <a:p>
            <a:pPr marL="0" indent="0">
              <a:buNone/>
            </a:pPr>
            <a:r>
              <a:rPr lang="en-US" sz="2400" i="1" dirty="0">
                <a:solidFill>
                  <a:srgbClr val="4C5A56"/>
                </a:solidFill>
                <a:latin typeface="Playfair Display" pitchFamily="34" charset="0"/>
                <a:ea typeface="Playfair Display" pitchFamily="34" charset="-122"/>
                <a:cs typeface="Playfair Display" pitchFamily="34" charset="-120"/>
              </a:rPr>
              <a:t>Questions welcome</a:t>
            </a:r>
            <a:endParaRPr lang="en-US" sz="2400" dirty="0"/>
          </a:p>
        </p:txBody>
      </p:sp>
      <p:sp>
        <p:nvSpPr>
          <p:cNvPr id="4" name="Text 2"/>
          <p:cNvSpPr txBox="1"/>
          <p:nvPr/>
        </p:nvSpPr>
        <p:spPr>
          <a:xfrm>
            <a:off x="640080" y="4069080"/>
            <a:ext cx="5486400" cy="1554480"/>
          </a:xfrm>
          <a:prstGeom prst="rect">
            <a:avLst/>
          </a:prstGeom>
          <a:noFill/>
          <a:ln/>
        </p:spPr>
        <p:txBody>
          <a:bodyPr wrap="square" lIns="0" tIns="0" rIns="0" bIns="0" rtlCol="0" anchor="t"/>
          <a:lstStyle/>
          <a:p>
            <a:pPr marL="0" indent="0">
              <a:buNone/>
            </a:pPr>
            <a:r>
              <a:rPr lang="en-US" sz="1400" dirty="0">
                <a:solidFill>
                  <a:srgbClr val="17494D"/>
                </a:solidFill>
                <a:latin typeface="Poppins SemiBold" pitchFamily="34" charset="0"/>
                <a:ea typeface="Poppins SemiBold" pitchFamily="34" charset="-122"/>
                <a:cs typeface="Poppins SemiBold" pitchFamily="34" charset="-120"/>
              </a:rPr>
              <a:t>Try it live</a:t>
            </a:r>
            <a:endParaRPr lang="en-US" sz="1400" dirty="0"/>
          </a:p>
          <a:p>
            <a:pPr marL="0" indent="0">
              <a:buNone/>
            </a:pPr>
            <a:r>
              <a:rPr lang="en-US" sz="1400" u="sng" dirty="0">
                <a:solidFill>
                  <a:srgbClr val="14211F"/>
                </a:solidFill>
                <a:latin typeface="Poppins" pitchFamily="34" charset="0"/>
                <a:ea typeface="Poppins" pitchFamily="34" charset="-122"/>
                <a:cs typeface="Poppins" pitchFamily="34" charset="-120"/>
                <a:hlinkClick r:id="rId3">
                  <a:extLst>
                    <a:ext uri="{A12FA001-AC4F-418D-AE19-62706E023703}">
                      <ahyp:hlinkClr xmlns:ahyp="http://schemas.microsoft.com/office/drawing/2018/hyperlinkcolor" val="tx"/>
                    </a:ext>
                  </a:extLst>
                </a:hlinkClick>
              </a:rPr>
              <a:t>civic-pulse-gamma-ivory.vercel.app</a:t>
            </a:r>
            <a:endParaRPr lang="en-US" sz="1400" dirty="0"/>
          </a:p>
          <a:p>
            <a:pPr marL="0" indent="0">
              <a:buNone/>
            </a:pPr>
            <a:r>
              <a:rPr lang="en-US" sz="800" dirty="0">
                <a:solidFill>
                  <a:srgbClr val="000000"/>
                </a:solidFill>
                <a:latin typeface="Poppins" pitchFamily="34" charset="0"/>
                <a:ea typeface="Poppins" pitchFamily="34" charset="-122"/>
                <a:cs typeface="Poppins" pitchFamily="34" charset="-120"/>
              </a:rPr>
              <a:t> </a:t>
            </a:r>
            <a:endParaRPr lang="en-US" sz="1400" dirty="0"/>
          </a:p>
          <a:p>
            <a:pPr marL="0" indent="0">
              <a:buNone/>
            </a:pPr>
            <a:r>
              <a:rPr lang="en-US" sz="1400" dirty="0">
                <a:solidFill>
                  <a:srgbClr val="17494D"/>
                </a:solidFill>
                <a:latin typeface="Poppins SemiBold" pitchFamily="34" charset="0"/>
                <a:ea typeface="Poppins SemiBold" pitchFamily="34" charset="-122"/>
                <a:cs typeface="Poppins SemiBold" pitchFamily="34" charset="-120"/>
              </a:rPr>
              <a:t>Source</a:t>
            </a:r>
            <a:endParaRPr lang="en-US" sz="1400" dirty="0"/>
          </a:p>
          <a:p>
            <a:pPr marL="0" indent="0">
              <a:buNone/>
            </a:pPr>
            <a:r>
              <a:rPr lang="en-US" sz="1400" u="sng" dirty="0">
                <a:solidFill>
                  <a:srgbClr val="14211F"/>
                </a:solidFill>
                <a:latin typeface="Poppins" pitchFamily="34" charset="0"/>
                <a:ea typeface="Poppins" pitchFamily="34" charset="-122"/>
                <a:cs typeface="Poppins" pitchFamily="34" charset="-120"/>
                <a:hlinkClick r:id="rId4">
                  <a:extLst>
                    <a:ext uri="{A12FA001-AC4F-418D-AE19-62706E023703}">
                      <ahyp:hlinkClr xmlns:ahyp="http://schemas.microsoft.com/office/drawing/2018/hyperlinkcolor" val="tx"/>
                    </a:ext>
                  </a:extLst>
                </a:hlinkClick>
              </a:rPr>
              <a:t>github.com/Proj-CivicPulse/CivicPulse</a:t>
            </a:r>
            <a:endParaRPr lang="en-US" sz="1400" dirty="0"/>
          </a:p>
        </p:txBody>
      </p:sp>
      <p:sp>
        <p:nvSpPr>
          <p:cNvPr id="5" name="frame wards"/>
          <p:cNvSpPr/>
          <p:nvPr/>
        </p:nvSpPr>
        <p:spPr>
          <a:xfrm>
            <a:off x="7360920" y="1097280"/>
            <a:ext cx="4279392" cy="4663440"/>
          </a:xfrm>
          <a:prstGeom prst="roundRect">
            <a:avLst>
              <a:gd name="adj" fmla="val 1709"/>
            </a:avLst>
          </a:prstGeom>
          <a:solidFill>
            <a:srgbClr val="FFFFFF"/>
          </a:solidFill>
          <a:ln w="12700">
            <a:solidFill>
              <a:srgbClr val="C9D1CA"/>
            </a:solidFill>
            <a:prstDash val="solid"/>
          </a:ln>
          <a:effectLst>
            <a:outerShdw blurRad="177800" dist="38100" dir="5400000" algn="bl" rotWithShape="0">
              <a:srgbClr val="14211F">
                <a:alpha val="12000"/>
              </a:srgbClr>
            </a:outerShdw>
          </a:effectLst>
        </p:spPr>
      </p:sp>
      <p:sp>
        <p:nvSpPr>
          <p:cNvPr id="6" name="frame bar"/>
          <p:cNvSpPr/>
          <p:nvPr/>
        </p:nvSpPr>
        <p:spPr>
          <a:xfrm>
            <a:off x="7370064" y="1106424"/>
            <a:ext cx="4261104" cy="274320"/>
          </a:xfrm>
          <a:prstGeom prst="roundRect">
            <a:avLst>
              <a:gd name="adj" fmla="val 23333"/>
            </a:avLst>
          </a:prstGeom>
          <a:solidFill>
            <a:srgbClr val="F3F6F4"/>
          </a:solidFill>
          <a:ln w="12700">
            <a:solidFill>
              <a:srgbClr val="F3F6F4"/>
            </a:solidFill>
            <a:prstDash val="solid"/>
          </a:ln>
        </p:spPr>
      </p:sp>
      <p:sp>
        <p:nvSpPr>
          <p:cNvPr id="7" name="Shape 5"/>
          <p:cNvSpPr/>
          <p:nvPr/>
        </p:nvSpPr>
        <p:spPr>
          <a:xfrm>
            <a:off x="7507224" y="1193292"/>
            <a:ext cx="82296" cy="82296"/>
          </a:xfrm>
          <a:prstGeom prst="ellipse">
            <a:avLst/>
          </a:prstGeom>
          <a:solidFill>
            <a:srgbClr val="C9D1CA"/>
          </a:solidFill>
          <a:ln w="12700">
            <a:solidFill>
              <a:srgbClr val="C9D1CA"/>
            </a:solidFill>
            <a:prstDash val="solid"/>
          </a:ln>
        </p:spPr>
      </p:sp>
      <p:sp>
        <p:nvSpPr>
          <p:cNvPr id="8" name="Shape 6"/>
          <p:cNvSpPr/>
          <p:nvPr/>
        </p:nvSpPr>
        <p:spPr>
          <a:xfrm>
            <a:off x="7653528" y="1193292"/>
            <a:ext cx="82296" cy="82296"/>
          </a:xfrm>
          <a:prstGeom prst="ellipse">
            <a:avLst/>
          </a:prstGeom>
          <a:solidFill>
            <a:srgbClr val="C9D1CA"/>
          </a:solidFill>
          <a:ln w="12700">
            <a:solidFill>
              <a:srgbClr val="C9D1CA"/>
            </a:solidFill>
            <a:prstDash val="solid"/>
          </a:ln>
        </p:spPr>
      </p:sp>
      <p:sp>
        <p:nvSpPr>
          <p:cNvPr id="9" name="Shape 7"/>
          <p:cNvSpPr/>
          <p:nvPr/>
        </p:nvSpPr>
        <p:spPr>
          <a:xfrm>
            <a:off x="7799832" y="1193292"/>
            <a:ext cx="82296" cy="82296"/>
          </a:xfrm>
          <a:prstGeom prst="ellipse">
            <a:avLst/>
          </a:prstGeom>
          <a:solidFill>
            <a:srgbClr val="C9D1CA"/>
          </a:solidFill>
          <a:ln w="12700">
            <a:solidFill>
              <a:srgbClr val="C9D1CA"/>
            </a:solidFill>
            <a:prstDash val="solid"/>
          </a:ln>
        </p:spPr>
      </p:sp>
      <p:pic>
        <p:nvPicPr>
          <p:cNvPr id="10" name="screenshot wards" descr="CivicPulse screenshot: wards"/>
          <p:cNvPicPr>
            <a:picLocks noChangeAspect="1"/>
          </p:cNvPicPr>
          <p:nvPr/>
        </p:nvPicPr>
        <p:blipFill>
          <a:blip r:embed="rId5"/>
          <a:stretch>
            <a:fillRect/>
          </a:stretch>
        </p:blipFill>
        <p:spPr>
          <a:xfrm>
            <a:off x="7379208" y="1380744"/>
            <a:ext cx="4242816" cy="4361688"/>
          </a:xfrm>
          <a:prstGeom prst="rect">
            <a:avLst/>
          </a:prstGeom>
        </p:spPr>
      </p:pic>
    </p:spTree>
  </p:cSld>
  <p:clrMapOvr>
    <a:masterClrMapping/>
  </p:clrMapOvr>
</p:sld>
</file>

<file path=ppt/theme/theme1.xml><?xml version="1.0" encoding="utf-8"?>
<a:theme xmlns:a="http://schemas.openxmlformats.org/drawingml/2006/main" name="CivicPulse">
  <a:themeElements>
    <a:clrScheme name="CivicPulse">
      <a:dk1>
        <a:srgbClr val="14211F"/>
      </a:dk1>
      <a:lt1>
        <a:srgbClr val="FFFFFF"/>
      </a:lt1>
      <a:dk2>
        <a:srgbClr val="17494D"/>
      </a:dk2>
      <a:lt2>
        <a:srgbClr val="F3F6F4"/>
      </a:lt2>
      <a:accent1>
        <a:srgbClr val="17494D"/>
      </a:accent1>
      <a:accent2>
        <a:srgbClr val="C0562A"/>
      </a:accent2>
      <a:accent3>
        <a:srgbClr val="B8862B"/>
      </a:accent3>
      <a:accent4>
        <a:srgbClr val="7C9A92"/>
      </a:accent4>
      <a:accent5>
        <a:srgbClr val="8E1F16"/>
      </a:accent5>
      <a:accent6>
        <a:srgbClr val="4A7A5C"/>
      </a:accent6>
      <a:hlink>
        <a:srgbClr val="17494D"/>
      </a:hlink>
      <a:folHlink>
        <a:srgbClr val="4C5A56"/>
      </a:folHlink>
    </a:clrScheme>
    <a:fontScheme name="CivicPulse">
      <a:majorFont>
        <a:latin typeface="Playfai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2905</Words>
  <Application>Microsoft Office PowerPoint</Application>
  <PresentationFormat>Widescreen</PresentationFormat>
  <Paragraphs>209</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Poppins Medium</vt:lpstr>
      <vt:lpstr>Arial</vt:lpstr>
      <vt:lpstr>Poppins</vt:lpstr>
      <vt:lpstr>Poppins SemiBold</vt:lpstr>
      <vt:lpstr>Playfair Display</vt:lpstr>
      <vt:lpstr>CivicPulse</vt:lpstr>
      <vt:lpstr>PowerPoint Presentation</vt:lpstr>
      <vt:lpstr>One pothole, reported five different ways</vt:lpstr>
      <vt:lpstr>Report once. Group by meaning. Fix what matters first</vt:lpstr>
      <vt:lpstr>Three services, one writer</vt:lpstr>
      <vt:lpstr>Grouped by meaning, checked by distance</vt:lpstr>
      <vt:lpstr>A score that shows its working</vt:lpstr>
      <vt:lpstr>Everything an officer needs on one screen</vt:lpstr>
      <vt:lpstr>The system suggests; the officer decides</vt:lpstr>
      <vt:lpstr>Ask in plain words; every answer cites its source</vt:lpstr>
      <vt:lpstr>We measured it instead of assuming it</vt:lpstr>
      <vt:lpstr>Built, tested and live</vt:lpstr>
      <vt:lpstr>PowerPoint Presentation</vt:lpstr>
    </vt:vector>
  </TitlesOfParts>
  <Company>CivicPulse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CivicPulse</dc:title>
  <dc:subject>From scattered complaints to prioritised incidents</dc:subject>
  <dc:creator>CivicPulse team</dc:creator>
  <cp:lastModifiedBy>Abhishek Ghosh</cp:lastModifiedBy>
  <cp:revision>2</cp:revision>
  <dcterms:created xsi:type="dcterms:W3CDTF">2026-10-24T18:31:08Z</dcterms:created>
  <dcterms:modified xsi:type="dcterms:W3CDTF">2026-10-24T18:31:15Z</dcterms:modified>
</cp:coreProperties>
</file>